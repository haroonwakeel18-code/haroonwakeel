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72" r:id="rId7"/>
    <p:sldId id="273" r:id="rId8"/>
    <p:sldId id="274" r:id="rId9"/>
    <p:sldId id="275" r:id="rId10"/>
    <p:sldId id="267" r:id="rId11"/>
    <p:sldId id="268" r:id="rId12"/>
    <p:sldId id="269" r:id="rId13"/>
    <p:sldId id="270" r:id="rId14"/>
    <p:sldId id="271" r:id="rId15"/>
    <p:sldId id="276" r:id="rId16"/>
    <p:sldId id="277" r:id="rId17"/>
    <p:sldId id="278" r:id="rId18"/>
    <p:sldId id="279" r:id="rId19"/>
    <p:sldId id="280" r:id="rId20"/>
    <p:sldId id="281" r:id="rId21"/>
    <p:sldId id="28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1" d="100"/>
          <a:sy n="91" d="100"/>
        </p:scale>
        <p:origin x="53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4/28/2025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4/28/2025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4/28/2025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4/28/2025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4/28/2025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techtarget.com/searchsecurity/definition/What-is-risk-appetit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IT project management</a:t>
            </a:r>
            <a:endParaRPr lang="en-US" dirty="0"/>
          </a:p>
        </p:txBody>
      </p:sp>
      <p:sp>
        <p:nvSpPr>
          <p:cNvPr id="3" name="Subtitle 2"/>
          <p:cNvSpPr>
            <a:spLocks noGrp="1"/>
          </p:cNvSpPr>
          <p:nvPr>
            <p:ph type="subTitle" idx="1"/>
          </p:nvPr>
        </p:nvSpPr>
        <p:spPr/>
        <p:txBody>
          <a:bodyPr>
            <a:normAutofit/>
          </a:bodyPr>
          <a:lstStyle/>
          <a:p>
            <a:pPr algn="ctr"/>
            <a:r>
              <a:rPr lang="en-US" sz="2400" dirty="0" smtClean="0"/>
              <a:t>Cost management</a:t>
            </a:r>
            <a:endParaRPr lang="en-US" sz="2400" dirty="0"/>
          </a:p>
        </p:txBody>
      </p:sp>
    </p:spTree>
    <p:extLst>
      <p:ext uri="{BB962C8B-B14F-4D97-AF65-F5344CB8AC3E}">
        <p14:creationId xmlns:p14="http://schemas.microsoft.com/office/powerpoint/2010/main" val="180419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Project Cost </a:t>
            </a:r>
            <a:r>
              <a:rPr lang="en-US" dirty="0" smtClean="0"/>
              <a:t>management </a:t>
            </a:r>
            <a:endParaRPr lang="en-US" dirty="0"/>
          </a:p>
        </p:txBody>
      </p:sp>
      <p:sp>
        <p:nvSpPr>
          <p:cNvPr id="3" name="Content Placeholder 2"/>
          <p:cNvSpPr>
            <a:spLocks noGrp="1"/>
          </p:cNvSpPr>
          <p:nvPr>
            <p:ph idx="1"/>
          </p:nvPr>
        </p:nvSpPr>
        <p:spPr/>
        <p:txBody>
          <a:bodyPr/>
          <a:lstStyle/>
          <a:p>
            <a:pPr marL="0" indent="0" algn="just" fontAlgn="base">
              <a:buNone/>
            </a:pPr>
            <a:r>
              <a:rPr lang="en-US" dirty="0" smtClean="0"/>
              <a:t>Cost </a:t>
            </a:r>
            <a:r>
              <a:rPr lang="en-US" dirty="0"/>
              <a:t>management is the process of planning and controlling a business budget. A good cost management system helps an organization estimate and allocate its </a:t>
            </a:r>
            <a:r>
              <a:rPr lang="en-US" dirty="0" smtClean="0"/>
              <a:t>budget</a:t>
            </a:r>
          </a:p>
          <a:p>
            <a:pPr marL="0" indent="0" algn="just" fontAlgn="base">
              <a:buNone/>
            </a:pPr>
            <a:r>
              <a:rPr lang="en-US" dirty="0" smtClean="0"/>
              <a:t>For </a:t>
            </a:r>
            <a:r>
              <a:rPr lang="en-US" dirty="0"/>
              <a:t>a project to be considered a success, it’s necessary </a:t>
            </a:r>
            <a:r>
              <a:rPr lang="en-US" dirty="0" smtClean="0"/>
              <a:t>that:</a:t>
            </a:r>
            <a:endParaRPr lang="en-US" dirty="0"/>
          </a:p>
          <a:p>
            <a:pPr algn="just" fontAlgn="base"/>
            <a:r>
              <a:rPr lang="en-US" dirty="0"/>
              <a:t>I</a:t>
            </a:r>
            <a:r>
              <a:rPr lang="en-US" dirty="0" smtClean="0"/>
              <a:t>t </a:t>
            </a:r>
            <a:r>
              <a:rPr lang="en-US" dirty="0"/>
              <a:t>delivers on the requirements and </a:t>
            </a:r>
            <a:r>
              <a:rPr lang="en-US" dirty="0" smtClean="0"/>
              <a:t>scope</a:t>
            </a:r>
            <a:endParaRPr lang="en-US" dirty="0"/>
          </a:p>
          <a:p>
            <a:pPr algn="just" fontAlgn="base"/>
            <a:r>
              <a:rPr lang="en-US" dirty="0"/>
              <a:t>I</a:t>
            </a:r>
            <a:r>
              <a:rPr lang="en-US" dirty="0" smtClean="0"/>
              <a:t>ts </a:t>
            </a:r>
            <a:r>
              <a:rPr lang="en-US" dirty="0"/>
              <a:t>execution quality is of a high </a:t>
            </a:r>
            <a:r>
              <a:rPr lang="en-US" dirty="0" smtClean="0"/>
              <a:t>standard</a:t>
            </a:r>
            <a:endParaRPr lang="en-US" dirty="0"/>
          </a:p>
          <a:p>
            <a:pPr algn="just" fontAlgn="base"/>
            <a:r>
              <a:rPr lang="en-US" dirty="0"/>
              <a:t>I</a:t>
            </a:r>
            <a:r>
              <a:rPr lang="en-US" dirty="0" smtClean="0"/>
              <a:t>t’s </a:t>
            </a:r>
            <a:r>
              <a:rPr lang="en-US" dirty="0"/>
              <a:t>completed within </a:t>
            </a:r>
            <a:r>
              <a:rPr lang="en-US" dirty="0" smtClean="0"/>
              <a:t>schedule</a:t>
            </a:r>
            <a:endParaRPr lang="en-US" dirty="0"/>
          </a:p>
          <a:p>
            <a:pPr algn="just" fontAlgn="base"/>
            <a:r>
              <a:rPr lang="en-US" dirty="0"/>
              <a:t>I</a:t>
            </a:r>
            <a:r>
              <a:rPr lang="en-US" dirty="0" smtClean="0"/>
              <a:t>t’s </a:t>
            </a:r>
            <a:r>
              <a:rPr lang="en-US" dirty="0"/>
              <a:t>completed within budget. </a:t>
            </a:r>
          </a:p>
          <a:p>
            <a:endParaRPr lang="en-US" dirty="0"/>
          </a:p>
        </p:txBody>
      </p:sp>
    </p:spTree>
    <p:extLst>
      <p:ext uri="{BB962C8B-B14F-4D97-AF65-F5344CB8AC3E}">
        <p14:creationId xmlns:p14="http://schemas.microsoft.com/office/powerpoint/2010/main" val="2866235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Importance of project cost management</a:t>
            </a:r>
            <a:endParaRPr lang="en-US" dirty="0"/>
          </a:p>
        </p:txBody>
      </p:sp>
      <p:sp>
        <p:nvSpPr>
          <p:cNvPr id="3" name="Content Placeholder 2"/>
          <p:cNvSpPr>
            <a:spLocks noGrp="1"/>
          </p:cNvSpPr>
          <p:nvPr>
            <p:ph idx="1"/>
          </p:nvPr>
        </p:nvSpPr>
        <p:spPr/>
        <p:txBody>
          <a:bodyPr/>
          <a:lstStyle/>
          <a:p>
            <a:pPr marL="0" indent="0" algn="just" fontAlgn="base">
              <a:buNone/>
            </a:pPr>
            <a:r>
              <a:rPr lang="en-US" dirty="0"/>
              <a:t>The importance of cost management is easy to understand. To take a simple, real-life example, if you decide to build a house, the first thing to do is set the budget. When you have a sense of how much to spend on the project, the next step is to divide the high-level budget into expenses for sub-tasks and smaller line items. </a:t>
            </a:r>
          </a:p>
          <a:p>
            <a:pPr marL="0" indent="0" fontAlgn="base">
              <a:buNone/>
            </a:pPr>
            <a:endParaRPr lang="en-US" dirty="0"/>
          </a:p>
          <a:p>
            <a:endParaRPr lang="en-US" dirty="0"/>
          </a:p>
        </p:txBody>
      </p:sp>
    </p:spTree>
    <p:extLst>
      <p:ext uri="{BB962C8B-B14F-4D97-AF65-F5344CB8AC3E}">
        <p14:creationId xmlns:p14="http://schemas.microsoft.com/office/powerpoint/2010/main" val="1967558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Importance of project cost management</a:t>
            </a:r>
          </a:p>
        </p:txBody>
      </p:sp>
      <p:sp>
        <p:nvSpPr>
          <p:cNvPr id="3" name="Content Placeholder 2"/>
          <p:cNvSpPr>
            <a:spLocks noGrp="1"/>
          </p:cNvSpPr>
          <p:nvPr>
            <p:ph idx="1"/>
          </p:nvPr>
        </p:nvSpPr>
        <p:spPr/>
        <p:txBody>
          <a:bodyPr/>
          <a:lstStyle/>
          <a:p>
            <a:pPr marL="0" indent="0">
              <a:buNone/>
            </a:pPr>
            <a:r>
              <a:rPr lang="en-US" dirty="0"/>
              <a:t>The budget will determine critical decision points such as: </a:t>
            </a:r>
            <a:endParaRPr lang="en-US" dirty="0" smtClean="0"/>
          </a:p>
          <a:p>
            <a:r>
              <a:rPr lang="en-US" dirty="0"/>
              <a:t>W</a:t>
            </a:r>
            <a:r>
              <a:rPr lang="en-US" dirty="0" smtClean="0"/>
              <a:t>hich </a:t>
            </a:r>
            <a:r>
              <a:rPr lang="en-US" dirty="0"/>
              <a:t>architect to </a:t>
            </a:r>
            <a:r>
              <a:rPr lang="en-US" dirty="0" smtClean="0"/>
              <a:t>hire.</a:t>
            </a:r>
          </a:p>
          <a:p>
            <a:r>
              <a:rPr lang="en-US" dirty="0"/>
              <a:t>S</a:t>
            </a:r>
            <a:r>
              <a:rPr lang="en-US" dirty="0" smtClean="0"/>
              <a:t>omeone </a:t>
            </a:r>
            <a:r>
              <a:rPr lang="en-US" dirty="0"/>
              <a:t>who will </a:t>
            </a:r>
            <a:r>
              <a:rPr lang="en-US" dirty="0" smtClean="0"/>
              <a:t>construct </a:t>
            </a:r>
            <a:r>
              <a:rPr lang="en-US" dirty="0"/>
              <a:t>and deliver the project </a:t>
            </a:r>
            <a:r>
              <a:rPr lang="en-US" dirty="0" smtClean="0"/>
              <a:t>end-to-end.</a:t>
            </a:r>
          </a:p>
          <a:p>
            <a:r>
              <a:rPr lang="en-US" dirty="0"/>
              <a:t>S</a:t>
            </a:r>
            <a:r>
              <a:rPr lang="en-US" dirty="0" smtClean="0"/>
              <a:t>omeone </a:t>
            </a:r>
            <a:r>
              <a:rPr lang="en-US" dirty="0"/>
              <a:t>who can help with a few elements and be able to work for a smaller budget</a:t>
            </a:r>
            <a:r>
              <a:rPr lang="en-US" dirty="0" smtClean="0"/>
              <a:t>?</a:t>
            </a:r>
          </a:p>
          <a:p>
            <a:r>
              <a:rPr lang="en-US" dirty="0" smtClean="0"/>
              <a:t>How </a:t>
            </a:r>
            <a:r>
              <a:rPr lang="en-US" dirty="0"/>
              <a:t>many stories should the structure have</a:t>
            </a:r>
            <a:r>
              <a:rPr lang="en-US" dirty="0" smtClean="0"/>
              <a:t>?</a:t>
            </a:r>
          </a:p>
          <a:p>
            <a:r>
              <a:rPr lang="en-US" dirty="0" smtClean="0"/>
              <a:t> </a:t>
            </a:r>
            <a:r>
              <a:rPr lang="en-US" dirty="0"/>
              <a:t>What quality of materials should be </a:t>
            </a:r>
            <a:r>
              <a:rPr lang="en-US" dirty="0" smtClean="0"/>
              <a:t>used.</a:t>
            </a:r>
            <a:endParaRPr lang="en-US" dirty="0"/>
          </a:p>
        </p:txBody>
      </p:sp>
    </p:spTree>
    <p:extLst>
      <p:ext uri="{BB962C8B-B14F-4D97-AF65-F5344CB8AC3E}">
        <p14:creationId xmlns:p14="http://schemas.microsoft.com/office/powerpoint/2010/main" val="2890946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Steps of cost management</a:t>
            </a:r>
            <a:endParaRPr lang="en-US" dirty="0"/>
          </a:p>
        </p:txBody>
      </p:sp>
      <p:sp>
        <p:nvSpPr>
          <p:cNvPr id="3" name="Content Placeholder 2"/>
          <p:cNvSpPr>
            <a:spLocks noGrp="1"/>
          </p:cNvSpPr>
          <p:nvPr>
            <p:ph idx="1"/>
          </p:nvPr>
        </p:nvSpPr>
        <p:spPr>
          <a:xfrm>
            <a:off x="581193" y="2180496"/>
            <a:ext cx="5159478" cy="3678303"/>
          </a:xfrm>
        </p:spPr>
        <p:txBody>
          <a:bodyPr/>
          <a:lstStyle/>
          <a:p>
            <a:pPr marL="0" indent="0" algn="just">
              <a:buNone/>
            </a:pPr>
            <a:r>
              <a:rPr lang="en-US" dirty="0"/>
              <a:t>Cost management strategies are developed alongside the project plan as an integral part of project planning and management. Here are the four main steps</a:t>
            </a:r>
            <a:r>
              <a:rPr lang="en-US" dirty="0" smtClean="0"/>
              <a:t>:</a:t>
            </a:r>
          </a:p>
          <a:p>
            <a:pPr algn="just">
              <a:buFont typeface="Wingdings" panose="05000000000000000000" pitchFamily="2" charset="2"/>
              <a:buChar char="§"/>
            </a:pPr>
            <a:r>
              <a:rPr lang="en-US" dirty="0"/>
              <a:t>S</a:t>
            </a:r>
            <a:r>
              <a:rPr lang="en-US" dirty="0" smtClean="0"/>
              <a:t>etup</a:t>
            </a:r>
          </a:p>
          <a:p>
            <a:pPr>
              <a:buFont typeface="Wingdings" panose="05000000000000000000" pitchFamily="2" charset="2"/>
              <a:buChar char="§"/>
            </a:pPr>
            <a:r>
              <a:rPr lang="en-US" dirty="0" smtClean="0"/>
              <a:t>Project </a:t>
            </a:r>
            <a:r>
              <a:rPr lang="en-US" dirty="0" smtClean="0"/>
              <a:t>resource planning</a:t>
            </a:r>
          </a:p>
          <a:p>
            <a:pPr>
              <a:buFont typeface="Wingdings" panose="05000000000000000000" pitchFamily="2" charset="2"/>
              <a:buChar char="§"/>
            </a:pPr>
            <a:r>
              <a:rPr lang="en-US" dirty="0"/>
              <a:t>Budgeting and c</a:t>
            </a:r>
            <a:r>
              <a:rPr lang="en-US" dirty="0" smtClean="0"/>
              <a:t>ost </a:t>
            </a:r>
            <a:r>
              <a:rPr lang="en-US" dirty="0"/>
              <a:t>estimation </a:t>
            </a:r>
            <a:endParaRPr lang="en-US" dirty="0" smtClean="0"/>
          </a:p>
          <a:p>
            <a:pPr>
              <a:buFont typeface="Wingdings" panose="05000000000000000000" pitchFamily="2" charset="2"/>
              <a:buChar char="§"/>
            </a:pPr>
            <a:r>
              <a:rPr lang="en-US" dirty="0" smtClean="0"/>
              <a:t>Cost control </a:t>
            </a:r>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9435" t="1238" r="8898" b="12158"/>
          <a:stretch/>
        </p:blipFill>
        <p:spPr>
          <a:xfrm>
            <a:off x="5740671" y="3321271"/>
            <a:ext cx="4370282" cy="2207173"/>
          </a:xfrm>
          <a:prstGeom prst="rect">
            <a:avLst/>
          </a:prstGeom>
          <a:ln>
            <a:noFill/>
          </a:ln>
          <a:effectLst>
            <a:softEdge rad="112500"/>
          </a:effectLst>
        </p:spPr>
      </p:pic>
    </p:spTree>
    <p:extLst>
      <p:ext uri="{BB962C8B-B14F-4D97-AF65-F5344CB8AC3E}">
        <p14:creationId xmlns:p14="http://schemas.microsoft.com/office/powerpoint/2010/main" val="4051411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Set up</a:t>
            </a:r>
            <a:endParaRPr lang="en-US" dirty="0"/>
          </a:p>
        </p:txBody>
      </p:sp>
      <p:sp>
        <p:nvSpPr>
          <p:cNvPr id="3" name="Content Placeholder 2"/>
          <p:cNvSpPr>
            <a:spLocks noGrp="1"/>
          </p:cNvSpPr>
          <p:nvPr>
            <p:ph idx="1"/>
          </p:nvPr>
        </p:nvSpPr>
        <p:spPr/>
        <p:txBody>
          <a:bodyPr/>
          <a:lstStyle/>
          <a:p>
            <a:pPr algn="just"/>
            <a:r>
              <a:rPr lang="en-US" dirty="0"/>
              <a:t>The setup phase determines what's included in the plan. It identifies who the stakeholders are, the tools used to manage costs and the data structure needed to track them. Key performance indicators (KPIs) should be defined at this stage to measure cost management effectiveness throughout the </a:t>
            </a:r>
            <a:r>
              <a:rPr lang="en-US" dirty="0" smtClean="0"/>
              <a:t>project.</a:t>
            </a:r>
            <a:endParaRPr lang="en-US" dirty="0"/>
          </a:p>
        </p:txBody>
      </p:sp>
    </p:spTree>
    <p:extLst>
      <p:ext uri="{BB962C8B-B14F-4D97-AF65-F5344CB8AC3E}">
        <p14:creationId xmlns:p14="http://schemas.microsoft.com/office/powerpoint/2010/main" val="3166369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Resource planning</a:t>
            </a:r>
            <a:endParaRPr lang="en-US" dirty="0"/>
          </a:p>
        </p:txBody>
      </p:sp>
      <p:sp>
        <p:nvSpPr>
          <p:cNvPr id="3" name="Content Placeholder 2"/>
          <p:cNvSpPr>
            <a:spLocks noGrp="1"/>
          </p:cNvSpPr>
          <p:nvPr>
            <p:ph idx="1"/>
          </p:nvPr>
        </p:nvSpPr>
        <p:spPr/>
        <p:txBody>
          <a:bodyPr/>
          <a:lstStyle/>
          <a:p>
            <a:r>
              <a:rPr lang="en-US" dirty="0"/>
              <a:t>This planning phase identifies the resources needed to complete the project. These could be physical materials, information assets, staff and cloud computing resources. </a:t>
            </a:r>
            <a:endParaRPr lang="en-US" dirty="0" smtClean="0"/>
          </a:p>
          <a:p>
            <a:r>
              <a:rPr lang="en-US" dirty="0" smtClean="0"/>
              <a:t>Resource planning determines </a:t>
            </a:r>
            <a:r>
              <a:rPr lang="en-US" dirty="0"/>
              <a:t>resource allocation, including how much of a resource is needed, for how long and how it will be allocated. </a:t>
            </a:r>
            <a:endParaRPr lang="en-US" dirty="0" smtClean="0"/>
          </a:p>
          <a:p>
            <a:r>
              <a:rPr lang="en-US" dirty="0" smtClean="0"/>
              <a:t>Advanced </a:t>
            </a:r>
            <a:r>
              <a:rPr lang="en-US" dirty="0"/>
              <a:t>resource planning tools integrated with cost management software can streamline this process and provide real-time updates on resource availability and cost impact.</a:t>
            </a:r>
            <a:endParaRPr lang="en-US" dirty="0"/>
          </a:p>
        </p:txBody>
      </p:sp>
    </p:spTree>
    <p:extLst>
      <p:ext uri="{BB962C8B-B14F-4D97-AF65-F5344CB8AC3E}">
        <p14:creationId xmlns:p14="http://schemas.microsoft.com/office/powerpoint/2010/main" val="3900675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Budgeting and cost estimation</a:t>
            </a:r>
            <a:endParaRPr lang="en-US" dirty="0"/>
          </a:p>
        </p:txBody>
      </p:sp>
      <p:sp>
        <p:nvSpPr>
          <p:cNvPr id="3" name="Content Placeholder 2"/>
          <p:cNvSpPr>
            <a:spLocks noGrp="1"/>
          </p:cNvSpPr>
          <p:nvPr>
            <p:ph idx="1"/>
          </p:nvPr>
        </p:nvSpPr>
        <p:spPr/>
        <p:txBody>
          <a:bodyPr/>
          <a:lstStyle/>
          <a:p>
            <a:pPr algn="just"/>
            <a:r>
              <a:rPr lang="en-US" dirty="0"/>
              <a:t>In this stage, project teams develop a project budget. Budgeted cost estimates become more specific as the project scope is refined. As resources are allocated, a picture of the full project costs emerges</a:t>
            </a:r>
            <a:r>
              <a:rPr lang="en-US" dirty="0" smtClean="0"/>
              <a:t>.</a:t>
            </a:r>
          </a:p>
          <a:p>
            <a:pPr algn="just"/>
            <a:r>
              <a:rPr lang="en-US" dirty="0"/>
              <a:t>To gain insight, project managers compare the current project to earlier ones. They can use top-down and bottom-up estimation methods. </a:t>
            </a:r>
            <a:endParaRPr lang="en-US" dirty="0" smtClean="0"/>
          </a:p>
          <a:p>
            <a:pPr algn="just"/>
            <a:r>
              <a:rPr lang="en-US" b="1" dirty="0" smtClean="0"/>
              <a:t>In </a:t>
            </a:r>
            <a:r>
              <a:rPr lang="en-US" b="1" dirty="0"/>
              <a:t>the top-down approach</a:t>
            </a:r>
            <a:r>
              <a:rPr lang="en-US" dirty="0"/>
              <a:t>, upper management determines the project duration, tasks, activities and estimated costs for </a:t>
            </a:r>
            <a:r>
              <a:rPr lang="en-US" dirty="0" smtClean="0"/>
              <a:t>each. </a:t>
            </a:r>
            <a:r>
              <a:rPr lang="en-US" b="1" dirty="0"/>
              <a:t>In a bottom-up approach</a:t>
            </a:r>
            <a:r>
              <a:rPr lang="en-US" dirty="0"/>
              <a:t>, each team estimates the duration and allocated budget for their individual tasks.</a:t>
            </a:r>
            <a:endParaRPr lang="en-US" dirty="0" smtClean="0"/>
          </a:p>
        </p:txBody>
      </p:sp>
    </p:spTree>
    <p:extLst>
      <p:ext uri="{BB962C8B-B14F-4D97-AF65-F5344CB8AC3E}">
        <p14:creationId xmlns:p14="http://schemas.microsoft.com/office/powerpoint/2010/main" val="2485195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Cost control</a:t>
            </a:r>
            <a:endParaRPr lang="en-US" dirty="0"/>
          </a:p>
        </p:txBody>
      </p:sp>
      <p:sp>
        <p:nvSpPr>
          <p:cNvPr id="3" name="Content Placeholder 2"/>
          <p:cNvSpPr>
            <a:spLocks noGrp="1"/>
          </p:cNvSpPr>
          <p:nvPr>
            <p:ph idx="1"/>
          </p:nvPr>
        </p:nvSpPr>
        <p:spPr/>
        <p:txBody>
          <a:bodyPr/>
          <a:lstStyle/>
          <a:p>
            <a:r>
              <a:rPr lang="en-US" dirty="0"/>
              <a:t>This phase involves monitoring and controlling costs using data from different project teams. Managers track how costs differ from the estimated budget and take action to accommodate </a:t>
            </a:r>
            <a:r>
              <a:rPr lang="en-US" dirty="0" smtClean="0"/>
              <a:t>cost </a:t>
            </a:r>
            <a:r>
              <a:rPr lang="en-US" dirty="0"/>
              <a:t>overruns, reduce budget variances and cap the budget when necessary. Effective cost management processes require accurate cost reporting. This involves access to real-time data and insight, ideally leveraging data </a:t>
            </a:r>
            <a:r>
              <a:rPr lang="en-US" dirty="0" smtClean="0"/>
              <a:t>visualization.</a:t>
            </a:r>
            <a:endParaRPr lang="en-US" dirty="0"/>
          </a:p>
        </p:txBody>
      </p:sp>
    </p:spTree>
    <p:extLst>
      <p:ext uri="{BB962C8B-B14F-4D97-AF65-F5344CB8AC3E}">
        <p14:creationId xmlns:p14="http://schemas.microsoft.com/office/powerpoint/2010/main" val="23465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Common cost management problems</a:t>
            </a:r>
            <a:endParaRPr lang="en-US" dirty="0"/>
          </a:p>
        </p:txBody>
      </p:sp>
      <p:sp>
        <p:nvSpPr>
          <p:cNvPr id="3" name="Content Placeholder 2"/>
          <p:cNvSpPr>
            <a:spLocks noGrp="1"/>
          </p:cNvSpPr>
          <p:nvPr>
            <p:ph idx="1"/>
          </p:nvPr>
        </p:nvSpPr>
        <p:spPr/>
        <p:txBody>
          <a:bodyPr/>
          <a:lstStyle/>
          <a:p>
            <a:pPr algn="just"/>
            <a:r>
              <a:rPr lang="en-US" dirty="0" smtClean="0"/>
              <a:t>Budget is too small.</a:t>
            </a:r>
          </a:p>
          <a:p>
            <a:pPr algn="just"/>
            <a:r>
              <a:rPr lang="en-US" dirty="0" smtClean="0"/>
              <a:t>Cost estimates are </a:t>
            </a:r>
            <a:r>
              <a:rPr lang="en-US" dirty="0" smtClean="0"/>
              <a:t>inaccurate.</a:t>
            </a:r>
            <a:endParaRPr lang="en-US" dirty="0" smtClean="0"/>
          </a:p>
          <a:p>
            <a:pPr algn="just"/>
            <a:r>
              <a:rPr lang="en-US" dirty="0" smtClean="0"/>
              <a:t>Team request unplanned </a:t>
            </a:r>
            <a:r>
              <a:rPr lang="en-US" dirty="0" smtClean="0"/>
              <a:t>resources.</a:t>
            </a:r>
            <a:endParaRPr lang="en-US" dirty="0" smtClean="0"/>
          </a:p>
          <a:p>
            <a:pPr algn="just"/>
            <a:r>
              <a:rPr lang="en-US" dirty="0" smtClean="0"/>
              <a:t>Project is behind schedule, which will increase costs if not </a:t>
            </a:r>
            <a:r>
              <a:rPr lang="en-US" dirty="0" smtClean="0"/>
              <a:t>corrected.</a:t>
            </a:r>
            <a:endParaRPr lang="en-US" dirty="0" smtClean="0"/>
          </a:p>
          <a:p>
            <a:pPr algn="just"/>
            <a:r>
              <a:rPr lang="en-US" dirty="0" smtClean="0"/>
              <a:t>Clients keep adding request and features to project specs, which drives up cost.</a:t>
            </a:r>
          </a:p>
        </p:txBody>
      </p:sp>
    </p:spTree>
    <p:extLst>
      <p:ext uri="{BB962C8B-B14F-4D97-AF65-F5344CB8AC3E}">
        <p14:creationId xmlns:p14="http://schemas.microsoft.com/office/powerpoint/2010/main" val="3016407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How to avoid problems</a:t>
            </a:r>
            <a:endParaRPr lang="en-US" dirty="0"/>
          </a:p>
        </p:txBody>
      </p:sp>
      <p:sp>
        <p:nvSpPr>
          <p:cNvPr id="3" name="Content Placeholder 2"/>
          <p:cNvSpPr>
            <a:spLocks noGrp="1"/>
          </p:cNvSpPr>
          <p:nvPr>
            <p:ph idx="1"/>
          </p:nvPr>
        </p:nvSpPr>
        <p:spPr/>
        <p:txBody>
          <a:bodyPr/>
          <a:lstStyle/>
          <a:p>
            <a:pPr algn="just"/>
            <a:r>
              <a:rPr lang="en-US" dirty="0" smtClean="0"/>
              <a:t>Make sure your budget is realistic at project start.</a:t>
            </a:r>
          </a:p>
          <a:p>
            <a:pPr algn="just"/>
            <a:r>
              <a:rPr lang="en-US" dirty="0" smtClean="0"/>
              <a:t>Gather as much real pricing data as possible from authoritative sources.</a:t>
            </a:r>
          </a:p>
          <a:p>
            <a:pPr algn="just"/>
            <a:r>
              <a:rPr lang="en-US" dirty="0" smtClean="0"/>
              <a:t>Talk directly with teams during the resource planning stage and enforce budget limits once the project begin.</a:t>
            </a:r>
          </a:p>
          <a:p>
            <a:pPr algn="just"/>
            <a:r>
              <a:rPr lang="en-US" dirty="0" smtClean="0"/>
              <a:t>Communicate clearly with team leads and project managers and make sure all stakeholders understands that delays will increase cost.</a:t>
            </a:r>
          </a:p>
          <a:p>
            <a:endParaRPr lang="en-US" dirty="0"/>
          </a:p>
        </p:txBody>
      </p:sp>
    </p:spTree>
    <p:extLst>
      <p:ext uri="{BB962C8B-B14F-4D97-AF65-F5344CB8AC3E}">
        <p14:creationId xmlns:p14="http://schemas.microsoft.com/office/powerpoint/2010/main" val="2613803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Benefits of cost management</a:t>
            </a:r>
            <a:endParaRPr lang="en-US" dirty="0"/>
          </a:p>
        </p:txBody>
      </p:sp>
      <p:sp>
        <p:nvSpPr>
          <p:cNvPr id="3" name="Content Placeholder 2"/>
          <p:cNvSpPr>
            <a:spLocks noGrp="1"/>
          </p:cNvSpPr>
          <p:nvPr>
            <p:ph idx="1"/>
          </p:nvPr>
        </p:nvSpPr>
        <p:spPr/>
        <p:txBody>
          <a:bodyPr/>
          <a:lstStyle/>
          <a:p>
            <a:pPr algn="just"/>
            <a:r>
              <a:rPr lang="en-US" dirty="0"/>
              <a:t>Cost management benefits include:</a:t>
            </a:r>
          </a:p>
          <a:p>
            <a:pPr algn="just"/>
            <a:r>
              <a:rPr lang="en-US" b="1" dirty="0"/>
              <a:t>Lowers the risk of </a:t>
            </a:r>
            <a:r>
              <a:rPr lang="en-US" b="1" dirty="0" smtClean="0"/>
              <a:t>overspending: </a:t>
            </a:r>
            <a:r>
              <a:rPr lang="en-US" dirty="0" smtClean="0"/>
              <a:t>Cost </a:t>
            </a:r>
            <a:r>
              <a:rPr lang="en-US" dirty="0"/>
              <a:t>controls help project managers keep their budgets on track and costs in control.</a:t>
            </a:r>
          </a:p>
          <a:p>
            <a:pPr algn="just"/>
            <a:r>
              <a:rPr lang="en-US" b="1" dirty="0"/>
              <a:t>Encourages </a:t>
            </a:r>
            <a:r>
              <a:rPr lang="en-US" b="1" dirty="0" smtClean="0"/>
              <a:t>planning: </a:t>
            </a:r>
            <a:r>
              <a:rPr lang="en-US" dirty="0" smtClean="0"/>
              <a:t>Cost </a:t>
            </a:r>
            <a:r>
              <a:rPr lang="en-US" dirty="0"/>
              <a:t>management helps identify what is or isn't working. It provides insight into resources and processes that helps managers make faster, better decisions.</a:t>
            </a:r>
          </a:p>
          <a:p>
            <a:endParaRPr lang="en-US" dirty="0"/>
          </a:p>
        </p:txBody>
      </p:sp>
    </p:spTree>
    <p:extLst>
      <p:ext uri="{BB962C8B-B14F-4D97-AF65-F5344CB8AC3E}">
        <p14:creationId xmlns:p14="http://schemas.microsoft.com/office/powerpoint/2010/main" val="1829608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Benefits of cost management</a:t>
            </a:r>
          </a:p>
        </p:txBody>
      </p:sp>
      <p:sp>
        <p:nvSpPr>
          <p:cNvPr id="3" name="Content Placeholder 2"/>
          <p:cNvSpPr>
            <a:spLocks noGrp="1"/>
          </p:cNvSpPr>
          <p:nvPr>
            <p:ph idx="1"/>
          </p:nvPr>
        </p:nvSpPr>
        <p:spPr/>
        <p:txBody>
          <a:bodyPr/>
          <a:lstStyle/>
          <a:p>
            <a:pPr algn="just"/>
            <a:r>
              <a:rPr lang="en-US" b="1" dirty="0"/>
              <a:t>Facilitates financial </a:t>
            </a:r>
            <a:r>
              <a:rPr lang="en-US" b="1" dirty="0" smtClean="0"/>
              <a:t>health:</a:t>
            </a:r>
            <a:r>
              <a:rPr lang="en-US" dirty="0"/>
              <a:t> Continuous monitoring, cost control and cost reporting contribute to a company's long-term financial health. </a:t>
            </a:r>
            <a:endParaRPr lang="en-US" dirty="0" smtClean="0"/>
          </a:p>
          <a:p>
            <a:pPr algn="just"/>
            <a:r>
              <a:rPr lang="en-US" b="1" dirty="0" smtClean="0"/>
              <a:t>Mitigates risk: </a:t>
            </a:r>
            <a:r>
              <a:rPr lang="en-US" dirty="0" smtClean="0"/>
              <a:t>Cost </a:t>
            </a:r>
            <a:r>
              <a:rPr lang="en-US" dirty="0"/>
              <a:t>management typically involves setting a </a:t>
            </a:r>
            <a:r>
              <a:rPr lang="en-US" u="sng" dirty="0">
                <a:hlinkClick r:id="rId2"/>
              </a:rPr>
              <a:t>risk allowance</a:t>
            </a:r>
            <a:r>
              <a:rPr lang="en-US" dirty="0"/>
              <a:t> for unforeseen costs, a useful step to prevent overspending.</a:t>
            </a:r>
          </a:p>
          <a:p>
            <a:pPr algn="just"/>
            <a:r>
              <a:rPr lang="en-US" b="1" dirty="0"/>
              <a:t>Supports </a:t>
            </a:r>
            <a:r>
              <a:rPr lang="en-US" b="1" dirty="0" smtClean="0"/>
              <a:t>standards: </a:t>
            </a:r>
            <a:r>
              <a:rPr lang="en-US" dirty="0" smtClean="0"/>
              <a:t>Consistent </a:t>
            </a:r>
            <a:r>
              <a:rPr lang="en-US" dirty="0"/>
              <a:t>cost control, analysis and reporting help organizations adopt standards for assessing future cost data and productivity </a:t>
            </a:r>
            <a:r>
              <a:rPr lang="en-US" dirty="0" smtClean="0"/>
              <a:t>levels.</a:t>
            </a:r>
            <a:endParaRPr lang="en-US" dirty="0"/>
          </a:p>
          <a:p>
            <a:endParaRPr lang="en-US" dirty="0"/>
          </a:p>
        </p:txBody>
      </p:sp>
    </p:spTree>
    <p:extLst>
      <p:ext uri="{BB962C8B-B14F-4D97-AF65-F5344CB8AC3E}">
        <p14:creationId xmlns:p14="http://schemas.microsoft.com/office/powerpoint/2010/main" val="101151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Challenges of cost management</a:t>
            </a:r>
            <a:endParaRPr lang="en-US" dirty="0"/>
          </a:p>
        </p:txBody>
      </p:sp>
      <p:sp>
        <p:nvSpPr>
          <p:cNvPr id="3" name="Content Placeholder 2"/>
          <p:cNvSpPr>
            <a:spLocks noGrp="1"/>
          </p:cNvSpPr>
          <p:nvPr>
            <p:ph idx="1"/>
          </p:nvPr>
        </p:nvSpPr>
        <p:spPr/>
        <p:txBody>
          <a:bodyPr/>
          <a:lstStyle/>
          <a:p>
            <a:pPr marL="0" indent="0">
              <a:buNone/>
            </a:pPr>
            <a:r>
              <a:rPr lang="en-US" dirty="0"/>
              <a:t>Common challenges of cost management include:</a:t>
            </a:r>
          </a:p>
          <a:p>
            <a:r>
              <a:rPr lang="en-US" b="1" dirty="0"/>
              <a:t>Change </a:t>
            </a:r>
            <a:r>
              <a:rPr lang="en-US" b="1" dirty="0" smtClean="0"/>
              <a:t>management: </a:t>
            </a:r>
            <a:r>
              <a:rPr lang="en-US" dirty="0" smtClean="0"/>
              <a:t>Project </a:t>
            </a:r>
            <a:r>
              <a:rPr lang="en-US" dirty="0"/>
              <a:t>changes are inevitable. Teams must be able to adapt to changing circumstances and manage the budget accordingly through change </a:t>
            </a:r>
            <a:r>
              <a:rPr lang="en-US" dirty="0" smtClean="0"/>
              <a:t>management.</a:t>
            </a:r>
            <a:endParaRPr lang="en-US" dirty="0"/>
          </a:p>
          <a:p>
            <a:r>
              <a:rPr lang="en-US" b="1" dirty="0"/>
              <a:t>Effective </a:t>
            </a:r>
            <a:r>
              <a:rPr lang="en-US" b="1" dirty="0" smtClean="0"/>
              <a:t>communication: </a:t>
            </a:r>
            <a:r>
              <a:rPr lang="en-US" dirty="0" smtClean="0"/>
              <a:t>Diverse </a:t>
            </a:r>
            <a:r>
              <a:rPr lang="en-US" dirty="0"/>
              <a:t>stakeholders can interpret reports in different ways. A project manager might view results differently than some of these </a:t>
            </a:r>
            <a:r>
              <a:rPr lang="en-US" dirty="0" smtClean="0"/>
              <a:t>stakeholders.</a:t>
            </a:r>
            <a:endParaRPr lang="en-US" dirty="0"/>
          </a:p>
          <a:p>
            <a:endParaRPr lang="en-US" dirty="0"/>
          </a:p>
        </p:txBody>
      </p:sp>
    </p:spTree>
    <p:extLst>
      <p:ext uri="{BB962C8B-B14F-4D97-AF65-F5344CB8AC3E}">
        <p14:creationId xmlns:p14="http://schemas.microsoft.com/office/powerpoint/2010/main" val="3476521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Challenges of cost management</a:t>
            </a:r>
          </a:p>
        </p:txBody>
      </p:sp>
      <p:sp>
        <p:nvSpPr>
          <p:cNvPr id="3" name="Content Placeholder 2"/>
          <p:cNvSpPr>
            <a:spLocks noGrp="1"/>
          </p:cNvSpPr>
          <p:nvPr>
            <p:ph idx="1"/>
          </p:nvPr>
        </p:nvSpPr>
        <p:spPr/>
        <p:txBody>
          <a:bodyPr/>
          <a:lstStyle/>
          <a:p>
            <a:r>
              <a:rPr lang="en-US" b="1" dirty="0"/>
              <a:t>Tool </a:t>
            </a:r>
            <a:r>
              <a:rPr lang="en-US" b="1" dirty="0" smtClean="0"/>
              <a:t>sprawl: </a:t>
            </a:r>
            <a:r>
              <a:rPr lang="en-US" dirty="0" smtClean="0"/>
              <a:t>Managing </a:t>
            </a:r>
            <a:r>
              <a:rPr lang="en-US" dirty="0"/>
              <a:t>costs using multiple </a:t>
            </a:r>
            <a:r>
              <a:rPr lang="en-US" dirty="0" smtClean="0"/>
              <a:t>tools might </a:t>
            </a:r>
            <a:r>
              <a:rPr lang="en-US" dirty="0"/>
              <a:t>be necessary and that is difficult. If data integrity issues emerge, reporting and visualization capabilities can become compromised.</a:t>
            </a:r>
          </a:p>
          <a:p>
            <a:r>
              <a:rPr lang="en-US" b="1" dirty="0"/>
              <a:t>Project scope and budget </a:t>
            </a:r>
            <a:r>
              <a:rPr lang="en-US" b="1" dirty="0" smtClean="0"/>
              <a:t>accuracy: </a:t>
            </a:r>
            <a:r>
              <a:rPr lang="en-US" dirty="0" smtClean="0"/>
              <a:t>Poorly </a:t>
            </a:r>
            <a:r>
              <a:rPr lang="en-US" dirty="0"/>
              <a:t>defined project scopes can lead to cost overruns due to inaccurate estimates. If a project manager underestimates costs, the result is typically a lack of resources and project delays</a:t>
            </a:r>
          </a:p>
          <a:p>
            <a:pPr marL="0" indent="0">
              <a:buNone/>
            </a:pPr>
            <a:endParaRPr lang="en-US" dirty="0"/>
          </a:p>
        </p:txBody>
      </p:sp>
    </p:spTree>
    <p:extLst>
      <p:ext uri="{BB962C8B-B14F-4D97-AF65-F5344CB8AC3E}">
        <p14:creationId xmlns:p14="http://schemas.microsoft.com/office/powerpoint/2010/main" val="3452330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Role of  technology in cost management</a:t>
            </a:r>
            <a:endParaRPr lang="en-US" dirty="0"/>
          </a:p>
        </p:txBody>
      </p:sp>
      <p:sp>
        <p:nvSpPr>
          <p:cNvPr id="3" name="Content Placeholder 2"/>
          <p:cNvSpPr>
            <a:spLocks noGrp="1"/>
          </p:cNvSpPr>
          <p:nvPr>
            <p:ph idx="1"/>
          </p:nvPr>
        </p:nvSpPr>
        <p:spPr/>
        <p:txBody>
          <a:bodyPr/>
          <a:lstStyle/>
          <a:p>
            <a:pPr marL="0" indent="0" algn="just">
              <a:buNone/>
            </a:pPr>
            <a:r>
              <a:rPr lang="en-US" dirty="0"/>
              <a:t>Technology plays a pivotal role in modern cost management by streamlining processes, enhancing </a:t>
            </a:r>
            <a:r>
              <a:rPr lang="en-US" dirty="0" smtClean="0"/>
              <a:t>accuracy. Here </a:t>
            </a:r>
            <a:r>
              <a:rPr lang="en-US" dirty="0"/>
              <a:t>are some enabling technologies:</a:t>
            </a:r>
          </a:p>
          <a:p>
            <a:pPr algn="just"/>
            <a:r>
              <a:rPr lang="en-US" b="1" dirty="0"/>
              <a:t>Artificial </a:t>
            </a:r>
            <a:r>
              <a:rPr lang="en-US" b="1" dirty="0" smtClean="0"/>
              <a:t>Intelligence and </a:t>
            </a:r>
            <a:r>
              <a:rPr lang="en-US" b="1" dirty="0"/>
              <a:t>machine </a:t>
            </a:r>
            <a:r>
              <a:rPr lang="en-US" b="1" dirty="0" smtClean="0"/>
              <a:t>learning: </a:t>
            </a:r>
            <a:r>
              <a:rPr lang="en-US" dirty="0" smtClean="0"/>
              <a:t>AI-driven </a:t>
            </a:r>
            <a:r>
              <a:rPr lang="en-US" dirty="0"/>
              <a:t>tools can forecast costs based on historical data and provide recommendations to optimize resource allocation. ML algorithms help identify inefficiencies and cost-saving opportunities in real time.</a:t>
            </a:r>
          </a:p>
          <a:p>
            <a:pPr algn="just"/>
            <a:r>
              <a:rPr lang="en-US" b="1" dirty="0"/>
              <a:t>Cloud-based </a:t>
            </a:r>
            <a:r>
              <a:rPr lang="en-US" b="1" dirty="0" smtClean="0"/>
              <a:t>solutions: </a:t>
            </a:r>
            <a:r>
              <a:rPr lang="en-US" dirty="0" smtClean="0"/>
              <a:t>Cloud </a:t>
            </a:r>
            <a:r>
              <a:rPr lang="en-US" dirty="0"/>
              <a:t>platforms like </a:t>
            </a:r>
            <a:r>
              <a:rPr lang="en-US" dirty="0" smtClean="0"/>
              <a:t>AWS</a:t>
            </a:r>
            <a:r>
              <a:rPr lang="en-US" dirty="0"/>
              <a:t> </a:t>
            </a:r>
            <a:r>
              <a:rPr lang="en-US" dirty="0" smtClean="0"/>
              <a:t>and</a:t>
            </a:r>
            <a:r>
              <a:rPr lang="en-US" dirty="0"/>
              <a:t> Azure offer integrated cost management tools that provide detailed insights into usage and spending. These tools can help organizations avoid unnecessary expenses and optimize resource utilization.</a:t>
            </a:r>
          </a:p>
          <a:p>
            <a:pPr marL="0" indent="0">
              <a:buNone/>
            </a:pPr>
            <a:endParaRPr lang="en-US" dirty="0"/>
          </a:p>
        </p:txBody>
      </p:sp>
    </p:spTree>
    <p:extLst>
      <p:ext uri="{BB962C8B-B14F-4D97-AF65-F5344CB8AC3E}">
        <p14:creationId xmlns:p14="http://schemas.microsoft.com/office/powerpoint/2010/main" val="2151979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Role of  technology in cost management</a:t>
            </a:r>
          </a:p>
        </p:txBody>
      </p:sp>
      <p:sp>
        <p:nvSpPr>
          <p:cNvPr id="3" name="Content Placeholder 2"/>
          <p:cNvSpPr>
            <a:spLocks noGrp="1"/>
          </p:cNvSpPr>
          <p:nvPr>
            <p:ph idx="1"/>
          </p:nvPr>
        </p:nvSpPr>
        <p:spPr/>
        <p:txBody>
          <a:bodyPr/>
          <a:lstStyle/>
          <a:p>
            <a:pPr algn="just"/>
            <a:r>
              <a:rPr lang="en-US" b="1" dirty="0"/>
              <a:t>Data visualization </a:t>
            </a:r>
            <a:r>
              <a:rPr lang="en-US" b="1" dirty="0" smtClean="0"/>
              <a:t>tools: </a:t>
            </a:r>
            <a:r>
              <a:rPr lang="en-US" dirty="0" smtClean="0"/>
              <a:t>Tableau</a:t>
            </a:r>
            <a:r>
              <a:rPr lang="en-US" dirty="0"/>
              <a:t>, Microsoft Power BI and similar software help project managers visualize cost trends and variances, </a:t>
            </a:r>
            <a:r>
              <a:rPr lang="en-US" dirty="0" smtClean="0"/>
              <a:t>simplifying </a:t>
            </a:r>
            <a:r>
              <a:rPr lang="en-US" dirty="0"/>
              <a:t>decision-making.</a:t>
            </a:r>
          </a:p>
          <a:p>
            <a:pPr algn="just"/>
            <a:r>
              <a:rPr lang="en-US" b="1" dirty="0"/>
              <a:t>Integration </a:t>
            </a:r>
            <a:r>
              <a:rPr lang="en-US" b="1" dirty="0" smtClean="0"/>
              <a:t>with </a:t>
            </a:r>
            <a:r>
              <a:rPr lang="en-US" b="1" dirty="0"/>
              <a:t>project management </a:t>
            </a:r>
            <a:r>
              <a:rPr lang="en-US" b="1" dirty="0" smtClean="0"/>
              <a:t>tools: </a:t>
            </a:r>
            <a:r>
              <a:rPr lang="en-US" dirty="0" smtClean="0"/>
              <a:t>Cost </a:t>
            </a:r>
            <a:r>
              <a:rPr lang="en-US" dirty="0"/>
              <a:t>management software now seamlessly integrates with platforms like Jira and Asana, allowing teams to monitor costs and have cohesive visibility into task progress and </a:t>
            </a:r>
            <a:r>
              <a:rPr lang="en-US" dirty="0" smtClean="0"/>
              <a:t>deadlines.</a:t>
            </a:r>
            <a:endParaRPr lang="en-US" dirty="0"/>
          </a:p>
          <a:p>
            <a:endParaRPr lang="en-US" dirty="0"/>
          </a:p>
        </p:txBody>
      </p:sp>
    </p:spTree>
    <p:extLst>
      <p:ext uri="{BB962C8B-B14F-4D97-AF65-F5344CB8AC3E}">
        <p14:creationId xmlns:p14="http://schemas.microsoft.com/office/powerpoint/2010/main" val="2162223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Project cost management tools</a:t>
            </a:r>
            <a:endParaRPr lang="en-US" dirty="0"/>
          </a:p>
        </p:txBody>
      </p:sp>
      <p:sp>
        <p:nvSpPr>
          <p:cNvPr id="3" name="Content Placeholder 2"/>
          <p:cNvSpPr>
            <a:spLocks noGrp="1"/>
          </p:cNvSpPr>
          <p:nvPr>
            <p:ph idx="1"/>
          </p:nvPr>
        </p:nvSpPr>
        <p:spPr/>
        <p:txBody>
          <a:bodyPr/>
          <a:lstStyle/>
          <a:p>
            <a:pPr marL="0" indent="0" algn="just">
              <a:buNone/>
            </a:pPr>
            <a:r>
              <a:rPr lang="en-US" dirty="0"/>
              <a:t>While cost management software is useful, it's not imperative for executing a cost management plan. Core functions these tools address include the following:</a:t>
            </a:r>
          </a:p>
          <a:p>
            <a:pPr algn="just"/>
            <a:r>
              <a:rPr lang="en-US" dirty="0"/>
              <a:t>Budgeting.</a:t>
            </a:r>
          </a:p>
          <a:p>
            <a:pPr algn="just"/>
            <a:r>
              <a:rPr lang="en-US" dirty="0"/>
              <a:t>Time tracking.</a:t>
            </a:r>
          </a:p>
          <a:p>
            <a:pPr algn="just"/>
            <a:r>
              <a:rPr lang="en-US" dirty="0"/>
              <a:t>Reporting.</a:t>
            </a:r>
          </a:p>
          <a:p>
            <a:pPr algn="just"/>
            <a:r>
              <a:rPr lang="en-US" dirty="0"/>
              <a:t>Analytics</a:t>
            </a:r>
          </a:p>
          <a:p>
            <a:endParaRPr lang="en-US" dirty="0"/>
          </a:p>
        </p:txBody>
      </p:sp>
    </p:spTree>
    <p:extLst>
      <p:ext uri="{BB962C8B-B14F-4D97-AF65-F5344CB8AC3E}">
        <p14:creationId xmlns:p14="http://schemas.microsoft.com/office/powerpoint/2010/main" val="722019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cost management tools</a:t>
            </a:r>
          </a:p>
        </p:txBody>
      </p:sp>
      <p:sp>
        <p:nvSpPr>
          <p:cNvPr id="3" name="Content Placeholder 2"/>
          <p:cNvSpPr>
            <a:spLocks noGrp="1"/>
          </p:cNvSpPr>
          <p:nvPr>
            <p:ph idx="1"/>
          </p:nvPr>
        </p:nvSpPr>
        <p:spPr/>
        <p:txBody>
          <a:bodyPr/>
          <a:lstStyle/>
          <a:p>
            <a:pPr marL="0" indent="0" algn="just">
              <a:buNone/>
            </a:pPr>
            <a:r>
              <a:rPr lang="en-US" dirty="0"/>
              <a:t>Several </a:t>
            </a:r>
            <a:r>
              <a:rPr lang="en-US" b="1" dirty="0"/>
              <a:t>business intelligence </a:t>
            </a:r>
            <a:r>
              <a:rPr lang="en-US" dirty="0"/>
              <a:t>programs offer cost management software to help organizations monitor costs and increase profitability. Examples include the following:</a:t>
            </a:r>
          </a:p>
          <a:p>
            <a:pPr algn="just"/>
            <a:r>
              <a:rPr lang="en-US" dirty="0"/>
              <a:t>Google Looker offers strong analytics for monitoring costs and generating actionable insights.</a:t>
            </a:r>
          </a:p>
          <a:p>
            <a:pPr algn="just"/>
            <a:r>
              <a:rPr lang="en-US" dirty="0"/>
              <a:t>Microsoft Power BI visualizes cost trends and integrates with project management tools</a:t>
            </a:r>
            <a:r>
              <a:rPr lang="en-US" dirty="0" smtClean="0"/>
              <a:t>.</a:t>
            </a:r>
            <a:endParaRPr lang="en-US" dirty="0"/>
          </a:p>
        </p:txBody>
      </p:sp>
    </p:spTree>
    <p:extLst>
      <p:ext uri="{BB962C8B-B14F-4D97-AF65-F5344CB8AC3E}">
        <p14:creationId xmlns:p14="http://schemas.microsoft.com/office/powerpoint/2010/main" val="10319508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cost management tools</a:t>
            </a:r>
          </a:p>
        </p:txBody>
      </p:sp>
      <p:sp>
        <p:nvSpPr>
          <p:cNvPr id="3" name="Content Placeholder 2"/>
          <p:cNvSpPr>
            <a:spLocks noGrp="1"/>
          </p:cNvSpPr>
          <p:nvPr>
            <p:ph idx="1"/>
          </p:nvPr>
        </p:nvSpPr>
        <p:spPr/>
        <p:txBody>
          <a:bodyPr/>
          <a:lstStyle/>
          <a:p>
            <a:pPr algn="just"/>
            <a:r>
              <a:rPr lang="en-US" dirty="0"/>
              <a:t>Azure Cost Management is part of a cloud computing service that includes a pricing calculator, alerts and dashboards that let Azure users optimize their spending and monitor use clearly. The tool also integrates with third-party tools, such as VMware Aria Cost.</a:t>
            </a:r>
          </a:p>
          <a:p>
            <a:pPr algn="just"/>
            <a:r>
              <a:rPr lang="en-US" dirty="0"/>
              <a:t>AWS Cost Management is a tool set that provides dashboards and billing reports that help users track AWS cloud use and set budget </a:t>
            </a:r>
            <a:r>
              <a:rPr lang="en-US" dirty="0" smtClean="0"/>
              <a:t>goals.</a:t>
            </a:r>
          </a:p>
        </p:txBody>
      </p:sp>
    </p:spTree>
    <p:extLst>
      <p:ext uri="{BB962C8B-B14F-4D97-AF65-F5344CB8AC3E}">
        <p14:creationId xmlns:p14="http://schemas.microsoft.com/office/powerpoint/2010/main" val="23392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997" y="3388775"/>
            <a:ext cx="11029616" cy="988332"/>
          </a:xfrm>
        </p:spPr>
        <p:txBody>
          <a:bodyPr>
            <a:normAutofit/>
          </a:bodyPr>
          <a:lstStyle/>
          <a:p>
            <a:pPr algn="ctr"/>
            <a:r>
              <a:rPr lang="en-US" sz="3200" b="1" dirty="0" smtClean="0">
                <a:solidFill>
                  <a:schemeClr val="tx1"/>
                </a:solidFill>
              </a:rPr>
              <a:t>Any questions</a:t>
            </a:r>
            <a:endParaRPr lang="en-US" sz="3200" b="1" dirty="0">
              <a:solidFill>
                <a:schemeClr val="tx1"/>
              </a:solidFill>
            </a:endParaRPr>
          </a:p>
        </p:txBody>
      </p:sp>
    </p:spTree>
    <p:extLst>
      <p:ext uri="{BB962C8B-B14F-4D97-AF65-F5344CB8AC3E}">
        <p14:creationId xmlns:p14="http://schemas.microsoft.com/office/powerpoint/2010/main" val="2399306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Dividend</Template>
  <TotalTime>138</TotalTime>
  <Words>788</Words>
  <Application>Microsoft Office PowerPoint</Application>
  <PresentationFormat>Widescreen</PresentationFormat>
  <Paragraphs>83</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Gill Sans MT</vt:lpstr>
      <vt:lpstr>Wingdings</vt:lpstr>
      <vt:lpstr>Wingdings 2</vt:lpstr>
      <vt:lpstr>Dividend</vt:lpstr>
      <vt:lpstr>IT project management</vt:lpstr>
      <vt:lpstr>Project Cost management </vt:lpstr>
      <vt:lpstr>Importance of project cost management</vt:lpstr>
      <vt:lpstr>Importance of project cost management</vt:lpstr>
      <vt:lpstr>Steps of cost management</vt:lpstr>
      <vt:lpstr>Set up</vt:lpstr>
      <vt:lpstr>Resource planning</vt:lpstr>
      <vt:lpstr>Budgeting and cost estimation</vt:lpstr>
      <vt:lpstr>Cost control</vt:lpstr>
      <vt:lpstr>Common cost management problems</vt:lpstr>
      <vt:lpstr>How to avoid problems</vt:lpstr>
      <vt:lpstr>Benefits of cost management</vt:lpstr>
      <vt:lpstr>Benefits of cost management</vt:lpstr>
      <vt:lpstr>Challenges of cost management</vt:lpstr>
      <vt:lpstr>Challenges of cost management</vt:lpstr>
      <vt:lpstr>Role of  technology in cost management</vt:lpstr>
      <vt:lpstr>Role of  technology in cost management</vt:lpstr>
      <vt:lpstr>Project cost management tools</vt:lpstr>
      <vt:lpstr>Project cost management tools</vt:lpstr>
      <vt:lpstr>Project cost management tools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project management</dc:title>
  <dc:creator>DELL</dc:creator>
  <cp:lastModifiedBy>DELL</cp:lastModifiedBy>
  <cp:revision>17</cp:revision>
  <dcterms:created xsi:type="dcterms:W3CDTF">2025-04-28T12:00:34Z</dcterms:created>
  <dcterms:modified xsi:type="dcterms:W3CDTF">2025-04-28T16:29:24Z</dcterms:modified>
</cp:coreProperties>
</file>