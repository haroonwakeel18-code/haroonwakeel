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0" r:id="rId3"/>
    <p:sldId id="296" r:id="rId4"/>
    <p:sldId id="262" r:id="rId5"/>
    <p:sldId id="263" r:id="rId6"/>
    <p:sldId id="261" r:id="rId7"/>
    <p:sldId id="265" r:id="rId8"/>
    <p:sldId id="267" r:id="rId9"/>
    <p:sldId id="269" r:id="rId10"/>
    <p:sldId id="270" r:id="rId11"/>
    <p:sldId id="271" r:id="rId12"/>
    <p:sldId id="272" r:id="rId13"/>
    <p:sldId id="273" r:id="rId14"/>
    <p:sldId id="278" r:id="rId15"/>
    <p:sldId id="279" r:id="rId16"/>
    <p:sldId id="281" r:id="rId17"/>
    <p:sldId id="320" r:id="rId18"/>
    <p:sldId id="282" r:id="rId19"/>
    <p:sldId id="283" r:id="rId20"/>
    <p:sldId id="321" r:id="rId21"/>
    <p:sldId id="284" r:id="rId22"/>
    <p:sldId id="286" r:id="rId23"/>
    <p:sldId id="287" r:id="rId24"/>
    <p:sldId id="288" r:id="rId25"/>
    <p:sldId id="297" r:id="rId26"/>
    <p:sldId id="298" r:id="rId27"/>
    <p:sldId id="299" r:id="rId28"/>
    <p:sldId id="300" r:id="rId29"/>
    <p:sldId id="301" r:id="rId30"/>
    <p:sldId id="307" r:id="rId31"/>
    <p:sldId id="308" r:id="rId32"/>
    <p:sldId id="309" r:id="rId33"/>
    <p:sldId id="310" r:id="rId34"/>
    <p:sldId id="311" r:id="rId35"/>
    <p:sldId id="312" r:id="rId36"/>
    <p:sldId id="313" r:id="rId37"/>
    <p:sldId id="314" r:id="rId38"/>
    <p:sldId id="315" r:id="rId39"/>
    <p:sldId id="316" r:id="rId40"/>
    <p:sldId id="318" r:id="rId41"/>
    <p:sldId id="317" r:id="rId42"/>
    <p:sldId id="319" r:id="rId43"/>
    <p:sldId id="302" r:id="rId44"/>
    <p:sldId id="303" r:id="rId45"/>
    <p:sldId id="304" r:id="rId46"/>
    <p:sldId id="305" r:id="rId47"/>
    <p:sldId id="306" r:id="rId48"/>
  </p:sldIdLst>
  <p:sldSz cx="12192000" cy="6858000"/>
  <p:notesSz cx="12192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5" autoAdjust="0"/>
    <p:restoredTop sz="94660"/>
  </p:normalViewPr>
  <p:slideViewPr>
    <p:cSldViewPr>
      <p:cViewPr>
        <p:scale>
          <a:sx n="66" d="100"/>
          <a:sy n="66" d="100"/>
        </p:scale>
        <p:origin x="-876" y="-1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677108"/>
          </a:xfrm>
          <a:prstGeom prst="rect">
            <a:avLst/>
          </a:prstGeom>
        </p:spPr>
        <p:txBody>
          <a:bodyPr wrap="square" lIns="0" tIns="0" rIns="0" bIns="0">
            <a:spAutoFit/>
          </a:bodyPr>
          <a:lstStyle>
            <a:lvl1pPr>
              <a:defRPr sz="4400" b="1" i="0">
                <a:solidFill>
                  <a:schemeClr val="tx1"/>
                </a:solidFill>
                <a:latin typeface="Times New Roman"/>
                <a:cs typeface="Times New Roman"/>
              </a:defRPr>
            </a:lvl1pPr>
          </a:lstStyle>
          <a:p>
            <a:r>
              <a:rPr lang="en-US" smtClean="0"/>
              <a:t>Click to edit Master title style</a:t>
            </a:r>
            <a:endParaRPr/>
          </a:p>
        </p:txBody>
      </p:sp>
      <p:sp>
        <p:nvSpPr>
          <p:cNvPr id="3" name="Holder 3"/>
          <p:cNvSpPr>
            <a:spLocks noGrp="1"/>
          </p:cNvSpPr>
          <p:nvPr>
            <p:ph type="subTitle" idx="4"/>
          </p:nvPr>
        </p:nvSpPr>
        <p:spPr>
          <a:xfrm>
            <a:off x="1828800" y="3840487"/>
            <a:ext cx="8534400" cy="430887"/>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r>
              <a:rPr lang="en-US" smtClean="0"/>
              <a:t>Click to edit Master subtitle style</a:t>
            </a:r>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9/30/2025</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r>
              <a:rPr lang="en-US" smtClean="0"/>
              <a:t>Click to edit Master title style</a:t>
            </a:r>
            <a:endParaRPr/>
          </a:p>
        </p:txBody>
      </p:sp>
      <p:sp>
        <p:nvSpPr>
          <p:cNvPr id="3" name="Holder 3"/>
          <p:cNvSpPr>
            <a:spLocks noGrp="1"/>
          </p:cNvSpPr>
          <p:nvPr>
            <p:ph type="body" idx="1"/>
          </p:nvPr>
        </p:nvSpPr>
        <p:spPr/>
        <p:txBody>
          <a:bodyPr lIns="0" tIns="0" rIns="0" bIns="0"/>
          <a:lstStyle>
            <a:lvl1pPr>
              <a:defRPr sz="2800" b="0" i="0">
                <a:solidFill>
                  <a:schemeClr val="tx1"/>
                </a:solidFill>
                <a:latin typeface="Times New Roman"/>
                <a:cs typeface="Times New Roman"/>
              </a:defRPr>
            </a:lvl1pPr>
          </a:lstStyle>
          <a:p>
            <a:pPr lvl="0"/>
            <a:r>
              <a:rPr lang="en-US" smtClean="0"/>
              <a:t>Click to edit Master text styles</a:t>
            </a: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9/30/2025</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r>
              <a:rPr lang="en-US" smtClean="0"/>
              <a:t>Click to edit Master title style</a:t>
            </a:r>
            <a:endParaRPr/>
          </a:p>
        </p:txBody>
      </p:sp>
      <p:sp>
        <p:nvSpPr>
          <p:cNvPr id="3" name="Holder 3"/>
          <p:cNvSpPr>
            <a:spLocks noGrp="1"/>
          </p:cNvSpPr>
          <p:nvPr>
            <p:ph sz="half" idx="2"/>
          </p:nvPr>
        </p:nvSpPr>
        <p:spPr>
          <a:xfrm>
            <a:off x="609600" y="1577340"/>
            <a:ext cx="5303520" cy="430887"/>
          </a:xfrm>
          <a:prstGeom prst="rect">
            <a:avLst/>
          </a:prstGeom>
        </p:spPr>
        <p:txBody>
          <a:bodyPr wrap="square" lIns="0" tIns="0" rIns="0" bIns="0">
            <a:spAutoFit/>
          </a:bodyPr>
          <a:lstStyle>
            <a:lvl1pPr>
              <a:defRPr/>
            </a:lvl1pPr>
          </a:lstStyle>
          <a:p>
            <a:pPr lvl="0"/>
            <a:r>
              <a:rPr lang="en-US" smtClean="0"/>
              <a:t>Click to edit Master text styles</a:t>
            </a:r>
          </a:p>
        </p:txBody>
      </p:sp>
      <p:sp>
        <p:nvSpPr>
          <p:cNvPr id="4" name="Holder 4"/>
          <p:cNvSpPr>
            <a:spLocks noGrp="1"/>
          </p:cNvSpPr>
          <p:nvPr>
            <p:ph sz="half" idx="3"/>
          </p:nvPr>
        </p:nvSpPr>
        <p:spPr>
          <a:xfrm>
            <a:off x="6278880" y="1577340"/>
            <a:ext cx="5303520" cy="430887"/>
          </a:xfrm>
          <a:prstGeom prst="rect">
            <a:avLst/>
          </a:prstGeom>
        </p:spPr>
        <p:txBody>
          <a:bodyPr wrap="square" lIns="0" tIns="0" rIns="0" bIns="0">
            <a:spAutoFit/>
          </a:bodyPr>
          <a:lstStyle>
            <a:lvl1pPr>
              <a:defRPr/>
            </a:lvl1pPr>
          </a:lstStyle>
          <a:p>
            <a:pPr lvl="0"/>
            <a:r>
              <a:rPr lang="en-US" smtClean="0"/>
              <a:t>Click to edit Master text styles</a:t>
            </a:r>
          </a:p>
        </p:txBody>
      </p:sp>
      <p:sp>
        <p:nvSpPr>
          <p:cNvPr id="5" name="Holder 5"/>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9/30/2025</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r>
              <a:rPr lang="en-US" smtClean="0"/>
              <a:t>Click to edit Master title style</a:t>
            </a:r>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9/30/2025</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9/30/2025</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2000" cy="6858000"/>
          </a:xfrm>
          <a:prstGeom prst="rect">
            <a:avLst/>
          </a:prstGeom>
        </p:spPr>
      </p:pic>
      <p:sp>
        <p:nvSpPr>
          <p:cNvPr id="2" name="Holder 2"/>
          <p:cNvSpPr>
            <a:spLocks noGrp="1"/>
          </p:cNvSpPr>
          <p:nvPr>
            <p:ph type="title"/>
          </p:nvPr>
        </p:nvSpPr>
        <p:spPr>
          <a:xfrm>
            <a:off x="916939" y="324994"/>
            <a:ext cx="10358120" cy="677108"/>
          </a:xfrm>
          <a:prstGeom prst="rect">
            <a:avLst/>
          </a:prstGeom>
        </p:spPr>
        <p:txBody>
          <a:bodyPr wrap="square" lIns="0" tIns="0" rIns="0" bIns="0">
            <a:spAutoFit/>
          </a:bodyPr>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916945" y="1761490"/>
            <a:ext cx="10280015" cy="430887"/>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923286" y="6464684"/>
            <a:ext cx="2343151" cy="153888"/>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5" name="Holder 5"/>
          <p:cNvSpPr>
            <a:spLocks noGrp="1"/>
          </p:cNvSpPr>
          <p:nvPr>
            <p:ph type="dt" sz="half" idx="6"/>
          </p:nvPr>
        </p:nvSpPr>
        <p:spPr>
          <a:xfrm>
            <a:off x="609600" y="6377947"/>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9/30/2025</a:t>
            </a:fld>
            <a:endParaRPr lang="en-US" dirty="0"/>
          </a:p>
        </p:txBody>
      </p:sp>
      <p:sp>
        <p:nvSpPr>
          <p:cNvPr id="6" name="Holder 6"/>
          <p:cNvSpPr>
            <a:spLocks noGrp="1"/>
          </p:cNvSpPr>
          <p:nvPr>
            <p:ph type="sldNum" sz="quarter" idx="7"/>
          </p:nvPr>
        </p:nvSpPr>
        <p:spPr>
          <a:xfrm>
            <a:off x="8778240" y="6377947"/>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eaLnBrk="1" hangingPunct="1">
        <a:defRPr>
          <a:latin typeface="+mj-lt"/>
          <a:ea typeface="+mj-ea"/>
          <a:cs typeface="+mj-cs"/>
        </a:defRPr>
      </a:lvl1pPr>
    </p:titleStyle>
    <p:body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5" Type="http://schemas.openxmlformats.org/officeDocument/2006/relationships/image" Target="../media/image10.jp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066800"/>
            <a:ext cx="10363200" cy="2031325"/>
          </a:xfrm>
        </p:spPr>
        <p:txBody>
          <a:bodyPr/>
          <a:lstStyle/>
          <a:p>
            <a:pPr algn="ctr"/>
            <a:r>
              <a:rPr lang="en-US" dirty="0"/>
              <a:t>Cyber Security</a:t>
            </a:r>
            <a:br>
              <a:rPr lang="en-US" dirty="0"/>
            </a:br>
            <a:r>
              <a:rPr lang="en-US" dirty="0"/>
              <a:t> IT-601 </a:t>
            </a:r>
            <a:br>
              <a:rPr lang="en-US" dirty="0"/>
            </a:br>
            <a:r>
              <a:rPr lang="en-US" dirty="0" smtClean="0"/>
              <a:t>Lecture </a:t>
            </a:r>
            <a:r>
              <a:rPr lang="en-US" dirty="0" smtClean="0"/>
              <a:t>03-04</a:t>
            </a:r>
            <a:endParaRPr lang="en-US" dirty="0"/>
          </a:p>
        </p:txBody>
      </p:sp>
      <p:sp>
        <p:nvSpPr>
          <p:cNvPr id="3" name="Subtitle 2"/>
          <p:cNvSpPr>
            <a:spLocks noGrp="1"/>
          </p:cNvSpPr>
          <p:nvPr>
            <p:ph type="subTitle" idx="4"/>
          </p:nvPr>
        </p:nvSpPr>
        <p:spPr>
          <a:xfrm>
            <a:off x="0" y="4343400"/>
            <a:ext cx="10363200" cy="677108"/>
          </a:xfrm>
        </p:spPr>
        <p:txBody>
          <a:bodyPr/>
          <a:lstStyle/>
          <a:p>
            <a:pPr algn="ctr"/>
            <a:r>
              <a:rPr lang="en-US" sz="4400" b="1" dirty="0" smtClean="0"/>
              <a:t>Course Instructor: Ms. Sadia Perveen</a:t>
            </a:r>
            <a:endParaRPr lang="en-US" sz="4400" b="1" dirty="0"/>
          </a:p>
        </p:txBody>
      </p:sp>
      <p:sp>
        <p:nvSpPr>
          <p:cNvPr id="8" name="object 4"/>
          <p:cNvSpPr txBox="1">
            <a:spLocks noGrp="1"/>
          </p:cNvSpPr>
          <p:nvPr>
            <p:ph type="ftr" sz="quarter" idx="5"/>
          </p:nvPr>
        </p:nvSpPr>
        <p:spPr>
          <a:xfrm>
            <a:off x="4923286" y="6464684"/>
            <a:ext cx="2343151" cy="153888"/>
          </a:xfrm>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Tree>
    <p:extLst>
      <p:ext uri="{BB962C8B-B14F-4D97-AF65-F5344CB8AC3E}">
        <p14:creationId xmlns:p14="http://schemas.microsoft.com/office/powerpoint/2010/main" val="7602313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Quick </a:t>
            </a:r>
            <a:r>
              <a:rPr lang="en-US" dirty="0"/>
              <a:t>Recap – CIA Triad</a:t>
            </a:r>
          </a:p>
        </p:txBody>
      </p:sp>
      <p:sp>
        <p:nvSpPr>
          <p:cNvPr id="3" name="Text Placeholder 2"/>
          <p:cNvSpPr>
            <a:spLocks noGrp="1"/>
          </p:cNvSpPr>
          <p:nvPr>
            <p:ph type="body" idx="1"/>
          </p:nvPr>
        </p:nvSpPr>
        <p:spPr>
          <a:xfrm>
            <a:off x="916945" y="1761490"/>
            <a:ext cx="10280015" cy="3447098"/>
          </a:xfrm>
        </p:spPr>
        <p:txBody>
          <a:bodyPr/>
          <a:lstStyle/>
          <a:p>
            <a:pPr marL="457200" indent="-457200" algn="just">
              <a:buFont typeface="Arial" pitchFamily="34" charset="0"/>
              <a:buChar char="•"/>
            </a:pPr>
            <a:r>
              <a:rPr lang="en-US" dirty="0" smtClean="0"/>
              <a:t>Confidentiality </a:t>
            </a:r>
            <a:r>
              <a:rPr lang="en-US" dirty="0"/>
              <a:t>→ Only authorized users can access the </a:t>
            </a:r>
            <a:r>
              <a:rPr lang="en-US" dirty="0" smtClean="0"/>
              <a:t>data.</a:t>
            </a:r>
          </a:p>
          <a:p>
            <a:pPr marL="457200" indent="-457200" algn="just">
              <a:buFont typeface="Arial" pitchFamily="34" charset="0"/>
              <a:buChar char="•"/>
            </a:pPr>
            <a:r>
              <a:rPr lang="en-US" dirty="0" smtClean="0"/>
              <a:t>Integrity </a:t>
            </a:r>
            <a:r>
              <a:rPr lang="en-US" dirty="0"/>
              <a:t>→ Data must remain accurate and unchanged</a:t>
            </a:r>
            <a:r>
              <a:rPr lang="en-US" dirty="0" smtClean="0"/>
              <a:t>.</a:t>
            </a:r>
          </a:p>
          <a:p>
            <a:pPr marL="457200" indent="-457200" algn="just">
              <a:buFont typeface="Arial" pitchFamily="34" charset="0"/>
              <a:buChar char="•"/>
            </a:pPr>
            <a:r>
              <a:rPr lang="en-US" dirty="0" smtClean="0"/>
              <a:t>Availability </a:t>
            </a:r>
            <a:r>
              <a:rPr lang="en-US" dirty="0"/>
              <a:t>→ Systems must be accessible when needed</a:t>
            </a:r>
            <a:r>
              <a:rPr lang="en-US" dirty="0" smtClean="0"/>
              <a:t>.</a:t>
            </a:r>
          </a:p>
          <a:p>
            <a:pPr marL="457200" indent="-457200" algn="just">
              <a:buFont typeface="Arial" pitchFamily="34" charset="0"/>
              <a:buChar char="•"/>
            </a:pPr>
            <a:r>
              <a:rPr lang="en-US" dirty="0" smtClean="0"/>
              <a:t>Example: </a:t>
            </a:r>
          </a:p>
          <a:p>
            <a:pPr marL="457200" indent="-457200" algn="just">
              <a:buFont typeface="Arial" pitchFamily="34" charset="0"/>
              <a:buChar char="•"/>
            </a:pPr>
            <a:r>
              <a:rPr lang="en-US" dirty="0" smtClean="0"/>
              <a:t>ATM </a:t>
            </a:r>
            <a:r>
              <a:rPr lang="en-US" dirty="0"/>
              <a:t>services </a:t>
            </a:r>
            <a:endParaRPr lang="en-US" dirty="0" smtClean="0"/>
          </a:p>
          <a:p>
            <a:pPr marL="457200" indent="-457200" algn="just">
              <a:buFont typeface="Arial" pitchFamily="34" charset="0"/>
              <a:buChar char="•"/>
            </a:pPr>
            <a:r>
              <a:rPr lang="en-US" dirty="0"/>
              <a:t>Bank account passwords </a:t>
            </a:r>
          </a:p>
          <a:p>
            <a:pPr marL="457200" indent="-457200" algn="just">
              <a:buFont typeface="Arial" pitchFamily="34" charset="0"/>
              <a:buChar char="•"/>
            </a:pPr>
            <a:r>
              <a:rPr lang="en-US"/>
              <a:t>Online transactions </a:t>
            </a:r>
          </a:p>
          <a:p>
            <a:pPr algn="just"/>
            <a:endParaRPr lang="en-US" dirty="0"/>
          </a:p>
        </p:txBody>
      </p:sp>
      <p:sp>
        <p:nvSpPr>
          <p:cNvPr id="6" name="object 4"/>
          <p:cNvSpPr txBox="1">
            <a:spLocks noGrp="1"/>
          </p:cNvSpPr>
          <p:nvPr>
            <p:ph type="ftr" sz="quarter" idx="5"/>
          </p:nvPr>
        </p:nvSpPr>
        <p:spPr>
          <a:xfrm>
            <a:off x="4923286" y="6464684"/>
            <a:ext cx="2343151" cy="153888"/>
          </a:xfrm>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Tree>
    <p:extLst>
      <p:ext uri="{BB962C8B-B14F-4D97-AF65-F5344CB8AC3E}">
        <p14:creationId xmlns:p14="http://schemas.microsoft.com/office/powerpoint/2010/main" val="2512782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Quick </a:t>
            </a:r>
            <a:r>
              <a:rPr lang="en-US" dirty="0" smtClean="0"/>
              <a:t>Recap</a:t>
            </a:r>
            <a:endParaRPr lang="en-US" dirty="0"/>
          </a:p>
        </p:txBody>
      </p:sp>
      <p:sp>
        <p:nvSpPr>
          <p:cNvPr id="3" name="Text Placeholder 2"/>
          <p:cNvSpPr>
            <a:spLocks noGrp="1"/>
          </p:cNvSpPr>
          <p:nvPr>
            <p:ph type="body" idx="1"/>
          </p:nvPr>
        </p:nvSpPr>
        <p:spPr>
          <a:xfrm>
            <a:off x="916945" y="1761490"/>
            <a:ext cx="10280015" cy="4308872"/>
          </a:xfrm>
        </p:spPr>
        <p:txBody>
          <a:bodyPr/>
          <a:lstStyle/>
          <a:p>
            <a:r>
              <a:rPr lang="en-US" b="1" dirty="0" smtClean="0"/>
              <a:t>Q1: </a:t>
            </a:r>
          </a:p>
          <a:p>
            <a:r>
              <a:rPr lang="en-US" dirty="0" smtClean="0"/>
              <a:t>If </a:t>
            </a:r>
            <a:r>
              <a:rPr lang="en-US" dirty="0"/>
              <a:t>an organization has secured its system with every possible antivirus and firewall, but an employee shares their password on social media, would you consider the organization's </a:t>
            </a:r>
            <a:r>
              <a:rPr lang="en-US" dirty="0" smtClean="0"/>
              <a:t>cyber security </a:t>
            </a:r>
            <a:r>
              <a:rPr lang="en-US" dirty="0"/>
              <a:t>complete? Explain your reasoning.</a:t>
            </a:r>
          </a:p>
          <a:p>
            <a:r>
              <a:rPr lang="en-US" b="1" dirty="0"/>
              <a:t>Q2:</a:t>
            </a:r>
            <a:r>
              <a:rPr lang="en-US" dirty="0"/>
              <a:t/>
            </a:r>
            <a:br>
              <a:rPr lang="en-US" dirty="0"/>
            </a:br>
            <a:r>
              <a:rPr lang="en-US" dirty="0"/>
              <a:t>Which element of the CIA Triad do you think is the most critical — Confidentiality, Integrity, or Availability? Justify your answer with a real-life example.</a:t>
            </a:r>
          </a:p>
          <a:p>
            <a:pPr marL="457200" indent="-457200" algn="just">
              <a:buFont typeface="Arial" pitchFamily="34" charset="0"/>
              <a:buChar char="•"/>
            </a:pPr>
            <a:endParaRPr lang="en-US" dirty="0"/>
          </a:p>
        </p:txBody>
      </p:sp>
      <p:sp>
        <p:nvSpPr>
          <p:cNvPr id="6" name="object 4"/>
          <p:cNvSpPr txBox="1">
            <a:spLocks noGrp="1"/>
          </p:cNvSpPr>
          <p:nvPr>
            <p:ph type="ftr" sz="quarter" idx="5"/>
          </p:nvPr>
        </p:nvSpPr>
        <p:spPr>
          <a:xfrm>
            <a:off x="4923286" y="6464684"/>
            <a:ext cx="2343151" cy="153888"/>
          </a:xfrm>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Tree>
    <p:extLst>
      <p:ext uri="{BB962C8B-B14F-4D97-AF65-F5344CB8AC3E}">
        <p14:creationId xmlns:p14="http://schemas.microsoft.com/office/powerpoint/2010/main" val="3418170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16945" y="1761490"/>
            <a:ext cx="10280015" cy="1667123"/>
          </a:xfrm>
        </p:spPr>
        <p:txBody>
          <a:bodyPr/>
          <a:lstStyle/>
          <a:p>
            <a:pPr marL="240029" marR="568325" indent="-227965" algn="just">
              <a:lnSpc>
                <a:spcPts val="3020"/>
              </a:lnSpc>
              <a:spcBef>
                <a:spcPts val="480"/>
              </a:spcBef>
              <a:buFont typeface="Arial MT"/>
              <a:buChar char="•"/>
              <a:tabLst>
                <a:tab pos="241300" algn="l"/>
              </a:tabLst>
            </a:pPr>
            <a:r>
              <a:rPr lang="en-US" dirty="0"/>
              <a:t>In addition to CIA, another set of protections must be implemented to secure information. </a:t>
            </a:r>
          </a:p>
          <a:p>
            <a:pPr marL="240029" marR="568325" indent="-227965" algn="just">
              <a:lnSpc>
                <a:spcPts val="3020"/>
              </a:lnSpc>
              <a:spcBef>
                <a:spcPts val="480"/>
              </a:spcBef>
              <a:buFont typeface="Arial MT"/>
              <a:buChar char="•"/>
              <a:tabLst>
                <a:tab pos="241300" algn="l"/>
              </a:tabLst>
            </a:pPr>
            <a:r>
              <a:rPr lang="en-US" dirty="0"/>
              <a:t>These </a:t>
            </a:r>
            <a:r>
              <a:rPr lang="en-US" dirty="0" smtClean="0"/>
              <a:t>are </a:t>
            </a:r>
            <a:r>
              <a:rPr lang="en-US" dirty="0"/>
              <a:t>AAA:</a:t>
            </a:r>
          </a:p>
          <a:p>
            <a:pPr marL="240029" marR="568325" indent="-227965" algn="just">
              <a:lnSpc>
                <a:spcPts val="3020"/>
              </a:lnSpc>
              <a:spcBef>
                <a:spcPts val="480"/>
              </a:spcBef>
              <a:buFont typeface="Arial MT"/>
              <a:buChar char="•"/>
              <a:tabLst>
                <a:tab pos="241300" algn="l"/>
              </a:tabLst>
            </a:pPr>
            <a:endParaRPr lang="en-US" dirty="0"/>
          </a:p>
        </p:txBody>
      </p:sp>
      <p:sp>
        <p:nvSpPr>
          <p:cNvPr id="7" name="object 4"/>
          <p:cNvSpPr txBox="1">
            <a:spLocks noGrp="1"/>
          </p:cNvSpPr>
          <p:nvPr>
            <p:ph type="ftr" sz="quarter" idx="5"/>
          </p:nvPr>
        </p:nvSpPr>
        <p:spPr>
          <a:xfrm>
            <a:off x="4923286" y="6464684"/>
            <a:ext cx="2343151" cy="153888"/>
          </a:xfrm>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Tree>
    <p:extLst>
      <p:ext uri="{BB962C8B-B14F-4D97-AF65-F5344CB8AC3E}">
        <p14:creationId xmlns:p14="http://schemas.microsoft.com/office/powerpoint/2010/main" val="4163101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p:cNvSpPr txBox="1">
            <a:spLocks noGrp="1"/>
          </p:cNvSpPr>
          <p:nvPr>
            <p:ph type="title"/>
          </p:nvPr>
        </p:nvSpPr>
        <p:spPr>
          <a:xfrm>
            <a:off x="916943" y="424434"/>
            <a:ext cx="9674857" cy="690574"/>
          </a:xfrm>
          <a:prstGeom prst="rect">
            <a:avLst/>
          </a:prstGeom>
        </p:spPr>
        <p:txBody>
          <a:bodyPr vert="horz" wrap="square" lIns="0" tIns="13335" rIns="0" bIns="0" rtlCol="0">
            <a:spAutoFit/>
          </a:bodyPr>
          <a:lstStyle/>
          <a:p>
            <a:pPr marL="12700">
              <a:spcBef>
                <a:spcPts val="105"/>
              </a:spcBef>
            </a:pPr>
            <a:r>
              <a:rPr lang="en-US" dirty="0" smtClean="0">
                <a:latin typeface="Times New Roman" pitchFamily="18" charset="0"/>
                <a:cs typeface="Times New Roman" pitchFamily="18" charset="0"/>
              </a:rPr>
              <a:t>Authentication</a:t>
            </a:r>
            <a:endParaRPr spc="-10" dirty="0"/>
          </a:p>
        </p:txBody>
      </p:sp>
      <p:sp>
        <p:nvSpPr>
          <p:cNvPr id="8" name="object 4"/>
          <p:cNvSpPr txBox="1">
            <a:spLocks noGrp="1"/>
          </p:cNvSpPr>
          <p:nvPr>
            <p:ph type="ftr" sz="quarter" idx="5"/>
          </p:nvPr>
        </p:nvSpPr>
        <p:spPr>
          <a:xfrm>
            <a:off x="4923286" y="6464684"/>
            <a:ext cx="2343151" cy="153888"/>
          </a:xfrm>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9" name="object 3"/>
          <p:cNvSpPr txBox="1"/>
          <p:nvPr/>
        </p:nvSpPr>
        <p:spPr>
          <a:xfrm>
            <a:off x="916941" y="1403099"/>
            <a:ext cx="10262235" cy="3557512"/>
          </a:xfrm>
          <a:prstGeom prst="rect">
            <a:avLst/>
          </a:prstGeom>
        </p:spPr>
        <p:txBody>
          <a:bodyPr vert="horz" wrap="square" lIns="0" tIns="97155" rIns="0" bIns="0" rtlCol="0">
            <a:spAutoFit/>
          </a:bodyPr>
          <a:lstStyle/>
          <a:p>
            <a:pPr marL="240029" marR="5080" indent="-227965" algn="just">
              <a:lnSpc>
                <a:spcPct val="80000"/>
              </a:lnSpc>
              <a:spcBef>
                <a:spcPts val="765"/>
              </a:spcBef>
              <a:buFont typeface="Arial MT"/>
              <a:buChar char="•"/>
              <a:tabLst>
                <a:tab pos="241300" algn="l"/>
              </a:tabLst>
            </a:pPr>
            <a:r>
              <a:rPr lang="en-US" sz="3200" dirty="0" smtClean="0">
                <a:latin typeface="Times New Roman" pitchFamily="18" charset="0"/>
                <a:cs typeface="Times New Roman" pitchFamily="18" charset="0"/>
              </a:rPr>
              <a:t>ensures that the individual is who she claims to be (the authentic or genuine person) and not an imposter. </a:t>
            </a:r>
          </a:p>
          <a:p>
            <a:pPr marL="240029" marR="5080" indent="-227965" algn="just">
              <a:lnSpc>
                <a:spcPct val="80000"/>
              </a:lnSpc>
              <a:spcBef>
                <a:spcPts val="765"/>
              </a:spcBef>
              <a:buFont typeface="Arial MT"/>
              <a:buChar char="•"/>
              <a:tabLst>
                <a:tab pos="241300" algn="l"/>
              </a:tabLst>
            </a:pPr>
            <a:r>
              <a:rPr lang="en-US" sz="3200" dirty="0" smtClean="0">
                <a:latin typeface="Times New Roman" pitchFamily="18" charset="0"/>
                <a:cs typeface="Times New Roman" pitchFamily="18" charset="0"/>
              </a:rPr>
              <a:t>A person accessing the web server that contains a user’s credit card number must prove that she is indeed who she claims to be and not a fraudulent attacker. </a:t>
            </a:r>
          </a:p>
          <a:p>
            <a:pPr marL="240029" marR="5080" indent="-227965" algn="just">
              <a:lnSpc>
                <a:spcPct val="80000"/>
              </a:lnSpc>
              <a:spcBef>
                <a:spcPts val="765"/>
              </a:spcBef>
              <a:buFont typeface="Arial MT"/>
              <a:buChar char="•"/>
              <a:tabLst>
                <a:tab pos="241300" algn="l"/>
              </a:tabLst>
            </a:pPr>
            <a:r>
              <a:rPr lang="en-US" sz="3200" dirty="0" smtClean="0">
                <a:latin typeface="Times New Roman" pitchFamily="18" charset="0"/>
                <a:cs typeface="Times New Roman" pitchFamily="18" charset="0"/>
              </a:rPr>
              <a:t>One way in which authentication can be performed is by the person providing a password that only she knows.</a:t>
            </a:r>
          </a:p>
          <a:p>
            <a:pPr marL="240029" marR="5080" indent="-227965" algn="just">
              <a:lnSpc>
                <a:spcPct val="80000"/>
              </a:lnSpc>
              <a:spcBef>
                <a:spcPts val="765"/>
              </a:spcBef>
              <a:buFont typeface="Arial MT"/>
              <a:buChar char="•"/>
              <a:tabLst>
                <a:tab pos="241300" algn="l"/>
              </a:tabLst>
            </a:pPr>
            <a:endParaRPr sz="3200" dirty="0">
              <a:latin typeface="Times New Roman" pitchFamily="18" charset="0"/>
              <a:cs typeface="Times New Roman" pitchFamily="18" charset="0"/>
            </a:endParaRPr>
          </a:p>
        </p:txBody>
      </p:sp>
    </p:spTree>
    <p:extLst>
      <p:ext uri="{BB962C8B-B14F-4D97-AF65-F5344CB8AC3E}">
        <p14:creationId xmlns:p14="http://schemas.microsoft.com/office/powerpoint/2010/main" val="919554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762000"/>
            <a:ext cx="10358120" cy="677108"/>
          </a:xfrm>
        </p:spPr>
        <p:txBody>
          <a:bodyPr/>
          <a:lstStyle/>
          <a:p>
            <a:r>
              <a:rPr lang="en-US" dirty="0"/>
              <a:t>Authorization </a:t>
            </a:r>
          </a:p>
        </p:txBody>
      </p:sp>
      <p:sp>
        <p:nvSpPr>
          <p:cNvPr id="3" name="Text Placeholder 2"/>
          <p:cNvSpPr>
            <a:spLocks noGrp="1"/>
          </p:cNvSpPr>
          <p:nvPr>
            <p:ph type="body" idx="1"/>
          </p:nvPr>
        </p:nvSpPr>
        <p:spPr>
          <a:xfrm>
            <a:off x="838200" y="2133600"/>
            <a:ext cx="10280015" cy="2154436"/>
          </a:xfrm>
        </p:spPr>
        <p:txBody>
          <a:bodyPr/>
          <a:lstStyle/>
          <a:p>
            <a:pPr marL="457200" indent="-457200" algn="just">
              <a:buFont typeface="Arial" pitchFamily="34" charset="0"/>
              <a:buChar char="•"/>
            </a:pPr>
            <a:r>
              <a:rPr lang="en-US" dirty="0" smtClean="0"/>
              <a:t>Providing </a:t>
            </a:r>
            <a:r>
              <a:rPr lang="en-US" dirty="0"/>
              <a:t>permission or approval to specific technology resources. </a:t>
            </a:r>
          </a:p>
          <a:p>
            <a:pPr marL="457200" indent="-457200" algn="just">
              <a:buFont typeface="Arial" pitchFamily="34" charset="0"/>
              <a:buChar char="•"/>
            </a:pPr>
            <a:r>
              <a:rPr lang="en-US" dirty="0"/>
              <a:t>After a person has provided authentication she may have the authority to access the credit card number or enter a room that contains the web server, provided she has been given prior authorization</a:t>
            </a:r>
            <a:r>
              <a:rPr lang="en-US" dirty="0" smtClean="0"/>
              <a:t>.</a:t>
            </a:r>
            <a:endParaRPr lang="en-US" dirty="0" smtClean="0"/>
          </a:p>
        </p:txBody>
      </p:sp>
      <p:sp>
        <p:nvSpPr>
          <p:cNvPr id="4" name="object 4"/>
          <p:cNvSpPr txBox="1">
            <a:spLocks noGrp="1"/>
          </p:cNvSpPr>
          <p:nvPr>
            <p:ph type="ftr" sz="quarter" idx="5"/>
          </p:nvPr>
        </p:nvSpPr>
        <p:spPr>
          <a:xfrm>
            <a:off x="4923286" y="6464684"/>
            <a:ext cx="2343151" cy="153888"/>
          </a:xfrm>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Tree>
    <p:extLst>
      <p:ext uri="{BB962C8B-B14F-4D97-AF65-F5344CB8AC3E}">
        <p14:creationId xmlns:p14="http://schemas.microsoft.com/office/powerpoint/2010/main" val="3821669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txBox="1">
            <a:spLocks noGrp="1"/>
          </p:cNvSpPr>
          <p:nvPr>
            <p:ph type="title"/>
          </p:nvPr>
        </p:nvSpPr>
        <p:spPr>
          <a:xfrm>
            <a:off x="916939" y="324994"/>
            <a:ext cx="10358120" cy="982653"/>
          </a:xfrm>
          <a:prstGeom prst="rect">
            <a:avLst/>
          </a:prstGeom>
        </p:spPr>
        <p:txBody>
          <a:bodyPr vert="horz" wrap="square" lIns="0" tIns="302590" rIns="0" bIns="0" rtlCol="0">
            <a:spAutoFit/>
          </a:bodyPr>
          <a:lstStyle/>
          <a:p>
            <a:pPr marL="12700">
              <a:spcBef>
                <a:spcPts val="105"/>
              </a:spcBef>
            </a:pPr>
            <a:r>
              <a:rPr lang="en-US" dirty="0" smtClean="0"/>
              <a:t>Accounting</a:t>
            </a:r>
            <a:endParaRPr spc="-10" dirty="0"/>
          </a:p>
        </p:txBody>
      </p:sp>
      <p:sp>
        <p:nvSpPr>
          <p:cNvPr id="5" name="object 4"/>
          <p:cNvSpPr txBox="1">
            <a:spLocks noGrp="1"/>
          </p:cNvSpPr>
          <p:nvPr>
            <p:ph type="ftr" sz="quarter" idx="5"/>
          </p:nvPr>
        </p:nvSpPr>
        <p:spPr>
          <a:xfrm>
            <a:off x="4923286" y="6464684"/>
            <a:ext cx="2343151" cy="153888"/>
          </a:xfrm>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6" name="object 3"/>
          <p:cNvSpPr txBox="1"/>
          <p:nvPr/>
        </p:nvSpPr>
        <p:spPr>
          <a:xfrm>
            <a:off x="916940" y="1804167"/>
            <a:ext cx="9951085" cy="1269835"/>
          </a:xfrm>
          <a:prstGeom prst="rect">
            <a:avLst/>
          </a:prstGeom>
        </p:spPr>
        <p:txBody>
          <a:bodyPr vert="horz" wrap="square" lIns="0" tIns="54610" rIns="0" bIns="0" rtlCol="0">
            <a:spAutoFit/>
          </a:bodyPr>
          <a:lstStyle/>
          <a:p>
            <a:pPr marL="240029" marR="97790" indent="-227965" algn="just">
              <a:lnSpc>
                <a:spcPct val="90000"/>
              </a:lnSpc>
              <a:spcBef>
                <a:spcPts val="430"/>
              </a:spcBef>
              <a:buFont typeface="Arial MT"/>
              <a:buChar char="•"/>
              <a:tabLst>
                <a:tab pos="241300" algn="l"/>
              </a:tabLst>
            </a:pPr>
            <a:r>
              <a:rPr lang="en-US" sz="2800" dirty="0" smtClean="0">
                <a:latin typeface="Times New Roman"/>
                <a:cs typeface="Times New Roman"/>
              </a:rPr>
              <a:t>provides tracking of events. </a:t>
            </a:r>
          </a:p>
          <a:p>
            <a:pPr marL="240029" marR="97790" indent="-227965" algn="just">
              <a:lnSpc>
                <a:spcPct val="90000"/>
              </a:lnSpc>
              <a:spcBef>
                <a:spcPts val="430"/>
              </a:spcBef>
              <a:buFont typeface="Arial MT"/>
              <a:buChar char="•"/>
              <a:tabLst>
                <a:tab pos="241300" algn="l"/>
              </a:tabLst>
            </a:pPr>
            <a:r>
              <a:rPr lang="en-US" sz="2800" dirty="0" smtClean="0">
                <a:latin typeface="Times New Roman"/>
                <a:cs typeface="Times New Roman"/>
              </a:rPr>
              <a:t>This may include a record of who accessed the web server, from what location, and at what specific time.</a:t>
            </a:r>
          </a:p>
        </p:txBody>
      </p:sp>
    </p:spTree>
    <p:extLst>
      <p:ext uri="{BB962C8B-B14F-4D97-AF65-F5344CB8AC3E}">
        <p14:creationId xmlns:p14="http://schemas.microsoft.com/office/powerpoint/2010/main" val="292691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6939" y="324994"/>
            <a:ext cx="10358120" cy="677108"/>
          </a:xfrm>
        </p:spPr>
        <p:txBody>
          <a:bodyPr/>
          <a:lstStyle/>
          <a:p>
            <a:r>
              <a:rPr lang="en-US" dirty="0"/>
              <a:t>Who Are the Attackers</a:t>
            </a:r>
            <a:r>
              <a:rPr lang="en-US" dirty="0" smtClean="0"/>
              <a:t>?</a:t>
            </a:r>
            <a:endParaRPr lang="en-US" dirty="0"/>
          </a:p>
        </p:txBody>
      </p:sp>
      <p:sp>
        <p:nvSpPr>
          <p:cNvPr id="3" name="Text Placeholder 2"/>
          <p:cNvSpPr>
            <a:spLocks noGrp="1"/>
          </p:cNvSpPr>
          <p:nvPr>
            <p:ph type="body" idx="1"/>
          </p:nvPr>
        </p:nvSpPr>
        <p:spPr>
          <a:xfrm>
            <a:off x="916945" y="1066801"/>
            <a:ext cx="10280015" cy="3447098"/>
          </a:xfrm>
        </p:spPr>
        <p:txBody>
          <a:bodyPr/>
          <a:lstStyle/>
          <a:p>
            <a:endParaRPr lang="en-US" b="1" dirty="0"/>
          </a:p>
          <a:p>
            <a:r>
              <a:rPr lang="en-US" dirty="0"/>
              <a:t>In the past the term hacker</a:t>
            </a:r>
            <a:r>
              <a:rPr lang="en-US" i="1" dirty="0"/>
              <a:t> </a:t>
            </a:r>
            <a:r>
              <a:rPr lang="en-US" dirty="0"/>
              <a:t>referred to a person who used advanced computer skills to attack computers.</a:t>
            </a:r>
          </a:p>
          <a:p>
            <a:endParaRPr lang="en-US" dirty="0"/>
          </a:p>
          <a:p>
            <a:pPr marL="457200" indent="-457200">
              <a:buFont typeface="Arial" pitchFamily="34" charset="0"/>
              <a:buChar char="•"/>
            </a:pPr>
            <a:r>
              <a:rPr lang="en-US" dirty="0"/>
              <a:t>Black Hat Hackers</a:t>
            </a:r>
          </a:p>
          <a:p>
            <a:pPr marL="457200" indent="-457200">
              <a:buFont typeface="Arial" pitchFamily="34" charset="0"/>
              <a:buChar char="•"/>
            </a:pPr>
            <a:r>
              <a:rPr lang="en-US" dirty="0"/>
              <a:t>White Hat Hackers</a:t>
            </a:r>
          </a:p>
          <a:p>
            <a:pPr marL="457200" indent="-457200">
              <a:buFont typeface="Arial" pitchFamily="34" charset="0"/>
              <a:buChar char="•"/>
            </a:pPr>
            <a:r>
              <a:rPr lang="en-US" dirty="0"/>
              <a:t>Gray Hat Hackers</a:t>
            </a:r>
          </a:p>
          <a:p>
            <a:pPr marL="457200" indent="-457200" algn="l">
              <a:buFont typeface="Arial" pitchFamily="34" charset="0"/>
              <a:buChar char="•"/>
            </a:pPr>
            <a:endParaRPr lang="en-US" dirty="0"/>
          </a:p>
        </p:txBody>
      </p:sp>
      <p:sp>
        <p:nvSpPr>
          <p:cNvPr id="4" name="object 4"/>
          <p:cNvSpPr txBox="1">
            <a:spLocks noGrp="1"/>
          </p:cNvSpPr>
          <p:nvPr>
            <p:ph type="ftr" sz="quarter" idx="5"/>
          </p:nvPr>
        </p:nvSpPr>
        <p:spPr>
          <a:xfrm>
            <a:off x="4923286" y="6477000"/>
            <a:ext cx="2343151" cy="153888"/>
          </a:xfrm>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Tree>
    <p:extLst>
      <p:ext uri="{BB962C8B-B14F-4D97-AF65-F5344CB8AC3E}">
        <p14:creationId xmlns:p14="http://schemas.microsoft.com/office/powerpoint/2010/main" val="1211836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14400" y="304801"/>
            <a:ext cx="10280015" cy="6217087"/>
          </a:xfrm>
        </p:spPr>
        <p:txBody>
          <a:bodyPr/>
          <a:lstStyle/>
          <a:p>
            <a:pPr algn="just"/>
            <a:r>
              <a:rPr lang="en-US" sz="3200" b="1" i="1" dirty="0" smtClean="0">
                <a:latin typeface="Times New Roman" pitchFamily="18" charset="0"/>
                <a:cs typeface="Times New Roman" pitchFamily="18" charset="0"/>
              </a:rPr>
              <a:t>Black hat hackers </a:t>
            </a:r>
          </a:p>
          <a:p>
            <a:pPr lvl="1" algn="just"/>
            <a:r>
              <a:rPr lang="en-US" sz="2800" dirty="0" smtClean="0">
                <a:latin typeface="Times New Roman" pitchFamily="18" charset="0"/>
                <a:cs typeface="Times New Roman" pitchFamily="18" charset="0"/>
              </a:rPr>
              <a:t>those </a:t>
            </a:r>
            <a:r>
              <a:rPr lang="en-US" sz="2800" dirty="0">
                <a:latin typeface="Times New Roman" pitchFamily="18" charset="0"/>
                <a:cs typeface="Times New Roman" pitchFamily="18" charset="0"/>
              </a:rPr>
              <a:t>attackers who violated computer security for personal gain (such as to steal credit card numbers) or to inflict malicious damage (corrupt a hard drive).</a:t>
            </a:r>
            <a:endParaRPr lang="en-US" sz="2800" i="1" dirty="0">
              <a:latin typeface="Times New Roman" pitchFamily="18" charset="0"/>
              <a:cs typeface="Times New Roman" pitchFamily="18" charset="0"/>
            </a:endParaRPr>
          </a:p>
          <a:p>
            <a:pPr algn="just"/>
            <a:r>
              <a:rPr lang="en-US" sz="3200" b="1" i="1" dirty="0">
                <a:latin typeface="Times New Roman" pitchFamily="18" charset="0"/>
                <a:cs typeface="Times New Roman" pitchFamily="18" charset="0"/>
              </a:rPr>
              <a:t>White hat hackers</a:t>
            </a:r>
          </a:p>
          <a:p>
            <a:pPr lvl="1" algn="just"/>
            <a:r>
              <a:rPr lang="en-US" sz="2800" dirty="0">
                <a:latin typeface="Times New Roman" pitchFamily="18" charset="0"/>
                <a:cs typeface="Times New Roman" pitchFamily="18" charset="0"/>
              </a:rPr>
              <a:t>described as “ethical attackers”: with an organization’s permission they would attempt to probe a system for any weaknesses and then privately provide information back to that organization about any uncovered </a:t>
            </a:r>
            <a:r>
              <a:rPr lang="en-US" sz="2800" dirty="0" smtClean="0">
                <a:latin typeface="Times New Roman" pitchFamily="18" charset="0"/>
                <a:cs typeface="Times New Roman" pitchFamily="18" charset="0"/>
              </a:rPr>
              <a:t>vulnerabilities.</a:t>
            </a:r>
          </a:p>
          <a:p>
            <a:pPr lvl="1" algn="just"/>
            <a:r>
              <a:rPr lang="en-US" sz="3200" b="1" i="1" dirty="0" smtClean="0">
                <a:latin typeface="Times New Roman" pitchFamily="18" charset="0"/>
                <a:cs typeface="Times New Roman" pitchFamily="18" charset="0"/>
              </a:rPr>
              <a:t>Gray </a:t>
            </a:r>
            <a:r>
              <a:rPr lang="en-US" sz="3200" b="1" i="1" dirty="0">
                <a:latin typeface="Times New Roman" pitchFamily="18" charset="0"/>
                <a:cs typeface="Times New Roman" pitchFamily="18" charset="0"/>
              </a:rPr>
              <a:t>hat hackers </a:t>
            </a:r>
          </a:p>
          <a:p>
            <a:pPr marL="742950" lvl="2" algn="just"/>
            <a:r>
              <a:rPr lang="en-US" sz="2800" dirty="0">
                <a:latin typeface="Times New Roman" pitchFamily="18" charset="0"/>
                <a:cs typeface="Times New Roman" pitchFamily="18" charset="0"/>
              </a:rPr>
              <a:t>who would attempt to break into a computer system without the organization’s permission (an illegal activity) but not for their own advantage; instead, they would publically disclose the vulnerability in order to shame the organization into taking action</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
        <p:nvSpPr>
          <p:cNvPr id="4" name="object 4"/>
          <p:cNvSpPr txBox="1">
            <a:spLocks noGrp="1"/>
          </p:cNvSpPr>
          <p:nvPr>
            <p:ph type="ftr" sz="quarter" idx="5"/>
          </p:nvPr>
        </p:nvSpPr>
        <p:spPr>
          <a:xfrm>
            <a:off x="4923286" y="6477000"/>
            <a:ext cx="2343151" cy="153888"/>
          </a:xfrm>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Tree>
    <p:extLst>
      <p:ext uri="{BB962C8B-B14F-4D97-AF65-F5344CB8AC3E}">
        <p14:creationId xmlns:p14="http://schemas.microsoft.com/office/powerpoint/2010/main" val="4068093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762000"/>
            <a:ext cx="10280015" cy="4308872"/>
          </a:xfrm>
        </p:spPr>
        <p:txBody>
          <a:bodyPr/>
          <a:lstStyle/>
          <a:p>
            <a:pPr algn="just"/>
            <a:r>
              <a:rPr lang="en-US" dirty="0">
                <a:latin typeface="Baskerville Old Face" panose="02020602080505020303" pitchFamily="18" charset="0"/>
              </a:rPr>
              <a:t>These “hat” titles did not always accurately reflect the different motives and goals of the attackers and are not widely used in the security community. </a:t>
            </a:r>
          </a:p>
          <a:p>
            <a:pPr algn="just"/>
            <a:r>
              <a:rPr lang="en-US" dirty="0">
                <a:latin typeface="Baskerville Old Face" panose="02020602080505020303" pitchFamily="18" charset="0"/>
              </a:rPr>
              <a:t>Instead, more descriptive categories of attackers are used, including</a:t>
            </a:r>
          </a:p>
          <a:p>
            <a:pPr marL="457200" indent="-457200" algn="just">
              <a:buFont typeface="Arial" pitchFamily="34" charset="0"/>
              <a:buChar char="•"/>
            </a:pPr>
            <a:r>
              <a:rPr lang="en-US" dirty="0" smtClean="0">
                <a:latin typeface="Baskerville Old Face" panose="02020602080505020303" pitchFamily="18" charset="0"/>
              </a:rPr>
              <a:t>Cybercriminals attacker</a:t>
            </a:r>
          </a:p>
          <a:p>
            <a:pPr marL="457200" indent="-457200" algn="just">
              <a:buFont typeface="Arial" pitchFamily="34" charset="0"/>
              <a:buChar char="•"/>
            </a:pPr>
            <a:r>
              <a:rPr lang="en-US" dirty="0">
                <a:latin typeface="Baskerville Old Face" panose="02020602080505020303" pitchFamily="18" charset="0"/>
              </a:rPr>
              <a:t>S</a:t>
            </a:r>
            <a:r>
              <a:rPr lang="en-US" dirty="0" smtClean="0">
                <a:latin typeface="Baskerville Old Face" panose="02020602080505020303" pitchFamily="18" charset="0"/>
              </a:rPr>
              <a:t>cript kiddies</a:t>
            </a:r>
            <a:r>
              <a:rPr lang="en-US" dirty="0">
                <a:latin typeface="Baskerville Old Face" panose="02020602080505020303" pitchFamily="18" charset="0"/>
              </a:rPr>
              <a:t> </a:t>
            </a:r>
            <a:r>
              <a:rPr lang="en-US" dirty="0" smtClean="0">
                <a:latin typeface="Baskerville Old Face" panose="02020602080505020303" pitchFamily="18" charset="0"/>
              </a:rPr>
              <a:t>attacker</a:t>
            </a:r>
          </a:p>
          <a:p>
            <a:pPr marL="457200" indent="-457200" algn="just">
              <a:buFont typeface="Arial" pitchFamily="34" charset="0"/>
              <a:buChar char="•"/>
            </a:pPr>
            <a:r>
              <a:rPr lang="en-US" dirty="0" smtClean="0">
                <a:latin typeface="Baskerville Old Face" panose="02020602080505020303" pitchFamily="18" charset="0"/>
              </a:rPr>
              <a:t>Brokers attacker</a:t>
            </a:r>
          </a:p>
          <a:p>
            <a:pPr marL="457200" indent="-457200" algn="just">
              <a:buFont typeface="Arial" pitchFamily="34" charset="0"/>
              <a:buChar char="•"/>
            </a:pPr>
            <a:r>
              <a:rPr lang="en-US" dirty="0" smtClean="0">
                <a:latin typeface="Baskerville Old Face" panose="02020602080505020303" pitchFamily="18" charset="0"/>
              </a:rPr>
              <a:t>Insiders attacker</a:t>
            </a:r>
          </a:p>
          <a:p>
            <a:pPr marL="457200" indent="-457200" algn="just">
              <a:buFont typeface="Arial" pitchFamily="34" charset="0"/>
              <a:buChar char="•"/>
            </a:pPr>
            <a:r>
              <a:rPr lang="en-US" dirty="0" smtClean="0">
                <a:latin typeface="Baskerville Old Face" panose="02020602080505020303" pitchFamily="18" charset="0"/>
              </a:rPr>
              <a:t>Cyber terrorists attacker</a:t>
            </a:r>
          </a:p>
          <a:p>
            <a:pPr marL="457200" indent="-457200" algn="just">
              <a:buFont typeface="Arial" pitchFamily="34" charset="0"/>
              <a:buChar char="•"/>
            </a:pPr>
            <a:r>
              <a:rPr lang="en-US" dirty="0">
                <a:latin typeface="Baskerville Old Face" panose="02020602080505020303" pitchFamily="18" charset="0"/>
              </a:rPr>
              <a:t>S</a:t>
            </a:r>
            <a:r>
              <a:rPr lang="en-US" dirty="0" smtClean="0">
                <a:latin typeface="Baskerville Old Face" panose="02020602080505020303" pitchFamily="18" charset="0"/>
              </a:rPr>
              <a:t>tate-sponsored attackers</a:t>
            </a:r>
            <a:endParaRPr lang="en-US" dirty="0">
              <a:latin typeface="Baskerville Old Face" panose="02020602080505020303" pitchFamily="18" charset="0"/>
            </a:endParaRPr>
          </a:p>
        </p:txBody>
      </p:sp>
      <p:sp>
        <p:nvSpPr>
          <p:cNvPr id="4" name="object 4"/>
          <p:cNvSpPr txBox="1">
            <a:spLocks noGrp="1"/>
          </p:cNvSpPr>
          <p:nvPr>
            <p:ph type="ftr" sz="quarter" idx="5"/>
          </p:nvPr>
        </p:nvSpPr>
        <p:spPr>
          <a:xfrm>
            <a:off x="4923286" y="6477000"/>
            <a:ext cx="2343151" cy="153888"/>
          </a:xfrm>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Tree>
    <p:extLst>
      <p:ext uri="{BB962C8B-B14F-4D97-AF65-F5344CB8AC3E}">
        <p14:creationId xmlns:p14="http://schemas.microsoft.com/office/powerpoint/2010/main" val="30804475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6939" y="324994"/>
            <a:ext cx="10358120" cy="677108"/>
          </a:xfrm>
        </p:spPr>
        <p:txBody>
          <a:bodyPr/>
          <a:lstStyle/>
          <a:p>
            <a:r>
              <a:rPr lang="en-US" dirty="0"/>
              <a:t>1- </a:t>
            </a:r>
            <a:r>
              <a:rPr lang="en-US" dirty="0" smtClean="0"/>
              <a:t>Cybercriminals</a:t>
            </a:r>
            <a:endParaRPr lang="en-US" dirty="0"/>
          </a:p>
        </p:txBody>
      </p:sp>
      <p:sp>
        <p:nvSpPr>
          <p:cNvPr id="3" name="Text Placeholder 2"/>
          <p:cNvSpPr>
            <a:spLocks noGrp="1"/>
          </p:cNvSpPr>
          <p:nvPr>
            <p:ph type="body" idx="1"/>
          </p:nvPr>
        </p:nvSpPr>
        <p:spPr>
          <a:xfrm>
            <a:off x="914400" y="1143000"/>
            <a:ext cx="10280015" cy="5178854"/>
          </a:xfrm>
        </p:spPr>
        <p:txBody>
          <a:bodyPr/>
          <a:lstStyle/>
          <a:p>
            <a:pPr algn="just"/>
            <a:r>
              <a:rPr lang="en-US" dirty="0" smtClean="0">
                <a:latin typeface="Baskerville Old Face" panose="02020602080505020303" pitchFamily="18" charset="0"/>
              </a:rPr>
              <a:t>Attackers </a:t>
            </a:r>
            <a:r>
              <a:rPr lang="en-US" dirty="0">
                <a:latin typeface="Baskerville Old Face" panose="02020602080505020303" pitchFamily="18" charset="0"/>
              </a:rPr>
              <a:t>focused on financial gain (fortune, not fame).</a:t>
            </a:r>
          </a:p>
          <a:p>
            <a:pPr algn="just"/>
            <a:r>
              <a:rPr lang="en-US" dirty="0">
                <a:latin typeface="Baskerville Old Face" panose="02020602080505020303" pitchFamily="18" charset="0"/>
              </a:rPr>
              <a:t>Often part of organized gangs; coordinate via underground forums.</a:t>
            </a:r>
          </a:p>
          <a:p>
            <a:pPr algn="just"/>
            <a:r>
              <a:rPr lang="en-US" dirty="0">
                <a:latin typeface="Baskerville Old Face" panose="02020602080505020303" pitchFamily="18" charset="0"/>
              </a:rPr>
              <a:t>Common goals: steal credit cards, banking details, personal data, and sell or misuse it.</a:t>
            </a:r>
          </a:p>
          <a:p>
            <a:pPr algn="just"/>
            <a:r>
              <a:rPr lang="en-US" dirty="0">
                <a:latin typeface="Baskerville Old Face" panose="02020602080505020303" pitchFamily="18" charset="0"/>
              </a:rPr>
              <a:t>Typical methods: fraud, phishing/spam, malware, identity theft, and selling stolen data.</a:t>
            </a:r>
          </a:p>
          <a:p>
            <a:pPr algn="just"/>
            <a:r>
              <a:rPr lang="en-US" b="1" dirty="0">
                <a:latin typeface="Baskerville Old Face" panose="02020602080505020303" pitchFamily="18" charset="0"/>
              </a:rPr>
              <a:t>Targets: </a:t>
            </a:r>
          </a:p>
          <a:p>
            <a:pPr marL="457200" indent="-457200" algn="just">
              <a:buFont typeface="+mj-lt"/>
              <a:buAutoNum type="arabicPeriod"/>
            </a:pPr>
            <a:r>
              <a:rPr lang="en-US" dirty="0">
                <a:latin typeface="Baskerville Old Face" panose="02020602080505020303" pitchFamily="18" charset="0"/>
              </a:rPr>
              <a:t>Individuals &amp; small businesses — direct financial theft (e.g., credit card fraud).</a:t>
            </a:r>
          </a:p>
          <a:p>
            <a:pPr marL="457200" indent="-457200" algn="just">
              <a:buFont typeface="+mj-lt"/>
              <a:buAutoNum type="arabicPeriod"/>
            </a:pPr>
            <a:r>
              <a:rPr lang="en-US" dirty="0">
                <a:latin typeface="Baskerville Old Face" panose="02020602080505020303" pitchFamily="18" charset="0"/>
              </a:rPr>
              <a:t>Businesses &amp; governments — theft of research, product designs or classified info for resale.</a:t>
            </a:r>
          </a:p>
          <a:p>
            <a:pPr marL="240029" marR="5080" indent="-227965">
              <a:lnSpc>
                <a:spcPct val="90000"/>
              </a:lnSpc>
              <a:spcBef>
                <a:spcPts val="430"/>
              </a:spcBef>
              <a:buFont typeface="Arial MT"/>
              <a:buChar char="•"/>
              <a:tabLst>
                <a:tab pos="241300" algn="l"/>
              </a:tabLst>
            </a:pPr>
            <a:endParaRPr lang="en-US" dirty="0"/>
          </a:p>
        </p:txBody>
      </p:sp>
      <p:sp>
        <p:nvSpPr>
          <p:cNvPr id="4" name="object 4"/>
          <p:cNvSpPr txBox="1">
            <a:spLocks noGrp="1"/>
          </p:cNvSpPr>
          <p:nvPr>
            <p:ph type="ftr" sz="quarter" idx="5"/>
          </p:nvPr>
        </p:nvSpPr>
        <p:spPr>
          <a:xfrm>
            <a:off x="4923286" y="6464684"/>
            <a:ext cx="2343151" cy="153888"/>
          </a:xfrm>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Tree>
    <p:extLst>
      <p:ext uri="{BB962C8B-B14F-4D97-AF65-F5344CB8AC3E}">
        <p14:creationId xmlns:p14="http://schemas.microsoft.com/office/powerpoint/2010/main" val="2600106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6939" y="324994"/>
            <a:ext cx="10358120" cy="677108"/>
          </a:xfrm>
        </p:spPr>
        <p:txBody>
          <a:bodyPr/>
          <a:lstStyle/>
          <a:p>
            <a:r>
              <a:rPr lang="en-US" dirty="0"/>
              <a:t>2</a:t>
            </a:r>
            <a:r>
              <a:rPr lang="en-US" dirty="0" smtClean="0"/>
              <a:t>-</a:t>
            </a:r>
            <a:r>
              <a:rPr lang="en-US" spc="15" dirty="0" smtClean="0"/>
              <a:t> </a:t>
            </a:r>
            <a:r>
              <a:rPr lang="en-US" spc="15" dirty="0"/>
              <a:t>Script </a:t>
            </a:r>
            <a:r>
              <a:rPr lang="en-US" spc="15" dirty="0" smtClean="0"/>
              <a:t>kiddies</a:t>
            </a:r>
            <a:endParaRPr lang="en-US" dirty="0"/>
          </a:p>
        </p:txBody>
      </p:sp>
      <p:sp>
        <p:nvSpPr>
          <p:cNvPr id="3" name="Text Placeholder 2"/>
          <p:cNvSpPr>
            <a:spLocks noGrp="1"/>
          </p:cNvSpPr>
          <p:nvPr>
            <p:ph type="body" idx="1"/>
          </p:nvPr>
        </p:nvSpPr>
        <p:spPr>
          <a:xfrm>
            <a:off x="916945" y="1761490"/>
            <a:ext cx="10280015" cy="3118803"/>
          </a:xfrm>
        </p:spPr>
        <p:txBody>
          <a:bodyPr/>
          <a:lstStyle/>
          <a:p>
            <a:pPr marL="457200" indent="-457200">
              <a:buFont typeface="Arial" pitchFamily="34" charset="0"/>
              <a:buChar char="•"/>
            </a:pPr>
            <a:r>
              <a:rPr lang="en-US" dirty="0"/>
              <a:t>Low-skill attackers who rely on pre-made hacking tools.</a:t>
            </a:r>
          </a:p>
          <a:p>
            <a:pPr marL="457200" indent="-457200">
              <a:buFont typeface="Arial" pitchFamily="34" charset="0"/>
              <a:buChar char="•"/>
            </a:pPr>
            <a:r>
              <a:rPr lang="en-US" dirty="0" smtClean="0"/>
              <a:t>Use </a:t>
            </a:r>
            <a:r>
              <a:rPr lang="en-US" dirty="0"/>
              <a:t>downloaded </a:t>
            </a:r>
            <a:r>
              <a:rPr lang="en-US" dirty="0" smtClean="0"/>
              <a:t>scripts/software.</a:t>
            </a:r>
            <a:endParaRPr lang="en-US" dirty="0"/>
          </a:p>
          <a:p>
            <a:pPr marL="457200" indent="-457200">
              <a:buFont typeface="Arial" pitchFamily="34" charset="0"/>
              <a:buChar char="•"/>
            </a:pPr>
            <a:r>
              <a:rPr lang="en-US" dirty="0" smtClean="0"/>
              <a:t>Around </a:t>
            </a:r>
            <a:r>
              <a:rPr lang="en-US" dirty="0"/>
              <a:t>40% of attacks need little or no skill.</a:t>
            </a:r>
          </a:p>
          <a:p>
            <a:pPr marL="457200" indent="-457200">
              <a:buFont typeface="Arial" pitchFamily="34" charset="0"/>
              <a:buChar char="•"/>
            </a:pPr>
            <a:r>
              <a:rPr lang="en-US" dirty="0" smtClean="0"/>
              <a:t>Small </a:t>
            </a:r>
            <a:r>
              <a:rPr lang="en-US" dirty="0"/>
              <a:t>sites, weak servers, home devices, user accounts.</a:t>
            </a:r>
          </a:p>
          <a:p>
            <a:pPr marL="457200" indent="-457200">
              <a:buFont typeface="Arial" pitchFamily="34" charset="0"/>
              <a:buChar char="•"/>
            </a:pPr>
            <a:r>
              <a:rPr lang="en-US" dirty="0" smtClean="0"/>
              <a:t>Downtime</a:t>
            </a:r>
            <a:r>
              <a:rPr lang="en-US" dirty="0"/>
              <a:t>, minor data loss</a:t>
            </a:r>
            <a:r>
              <a:rPr lang="en-US" dirty="0" smtClean="0"/>
              <a:t>.</a:t>
            </a:r>
            <a:endParaRPr lang="en-US" dirty="0"/>
          </a:p>
          <a:p>
            <a:pPr marL="457200" indent="-457200">
              <a:buFont typeface="Arial" pitchFamily="34" charset="0"/>
              <a:buChar char="•"/>
            </a:pPr>
            <a:r>
              <a:rPr lang="en-US" dirty="0" smtClean="0"/>
              <a:t>Updates</a:t>
            </a:r>
            <a:r>
              <a:rPr lang="en-US" dirty="0"/>
              <a:t>, strong passwords, </a:t>
            </a:r>
            <a:r>
              <a:rPr lang="en-US" dirty="0" smtClean="0"/>
              <a:t>firewalls.</a:t>
            </a:r>
            <a:endParaRPr lang="en-US" dirty="0"/>
          </a:p>
          <a:p>
            <a:pPr marL="240665" indent="-227965">
              <a:lnSpc>
                <a:spcPct val="100000"/>
              </a:lnSpc>
              <a:spcBef>
                <a:spcPts val="770"/>
              </a:spcBef>
              <a:buFont typeface="Arial MT"/>
              <a:buChar char="•"/>
              <a:tabLst>
                <a:tab pos="240665" algn="l"/>
              </a:tabLst>
            </a:pPr>
            <a:endParaRPr lang="en-US" dirty="0"/>
          </a:p>
        </p:txBody>
      </p:sp>
      <p:sp>
        <p:nvSpPr>
          <p:cNvPr id="4" name="object 4"/>
          <p:cNvSpPr txBox="1">
            <a:spLocks noGrp="1"/>
          </p:cNvSpPr>
          <p:nvPr>
            <p:ph type="ftr" sz="quarter" idx="5"/>
          </p:nvPr>
        </p:nvSpPr>
        <p:spPr>
          <a:xfrm>
            <a:off x="4923286" y="6464684"/>
            <a:ext cx="2343151" cy="153888"/>
          </a:xfrm>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Tree>
    <p:extLst>
      <p:ext uri="{BB962C8B-B14F-4D97-AF65-F5344CB8AC3E}">
        <p14:creationId xmlns:p14="http://schemas.microsoft.com/office/powerpoint/2010/main" val="41761679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6939" y="324994"/>
            <a:ext cx="10358120" cy="677108"/>
          </a:xfrm>
        </p:spPr>
        <p:txBody>
          <a:bodyPr/>
          <a:lstStyle/>
          <a:p>
            <a:r>
              <a:rPr lang="en-US" dirty="0" smtClean="0"/>
              <a:t>3-</a:t>
            </a:r>
            <a:r>
              <a:rPr lang="en-US" spc="-10" dirty="0" smtClean="0"/>
              <a:t> Brokers</a:t>
            </a:r>
            <a:endParaRPr lang="en-US" dirty="0"/>
          </a:p>
        </p:txBody>
      </p:sp>
      <p:sp>
        <p:nvSpPr>
          <p:cNvPr id="3" name="Text Placeholder 2"/>
          <p:cNvSpPr>
            <a:spLocks noGrp="1"/>
          </p:cNvSpPr>
          <p:nvPr>
            <p:ph type="body" idx="1"/>
          </p:nvPr>
        </p:nvSpPr>
        <p:spPr>
          <a:xfrm>
            <a:off x="916945" y="1761490"/>
            <a:ext cx="10280015" cy="4308872"/>
          </a:xfrm>
        </p:spPr>
        <p:txBody>
          <a:bodyPr/>
          <a:lstStyle/>
          <a:p>
            <a:pPr marL="457200" indent="-457200">
              <a:buFont typeface="Arial" pitchFamily="34" charset="0"/>
              <a:buChar char="•"/>
            </a:pPr>
            <a:r>
              <a:rPr lang="en-US" dirty="0" smtClean="0"/>
              <a:t>Sell </a:t>
            </a:r>
            <a:r>
              <a:rPr lang="en-US" dirty="0"/>
              <a:t>software vulnerabilities privately rather than disclose them.</a:t>
            </a:r>
          </a:p>
          <a:p>
            <a:pPr marL="457200" indent="-457200">
              <a:buFont typeface="Arial" pitchFamily="34" charset="0"/>
              <a:buChar char="•"/>
            </a:pPr>
            <a:r>
              <a:rPr lang="en-US" dirty="0"/>
              <a:t>Operate in underground markets or transact with highest bidders (criminals, firms, states).</a:t>
            </a:r>
          </a:p>
          <a:p>
            <a:pPr marL="457200" indent="-457200">
              <a:buFont typeface="Arial" pitchFamily="34" charset="0"/>
              <a:buChar char="•"/>
            </a:pPr>
            <a:r>
              <a:rPr lang="en-US" dirty="0"/>
              <a:t>Trade often involves zero-day exploits—vulnerabilities not yet patched.</a:t>
            </a:r>
          </a:p>
          <a:p>
            <a:pPr marL="457200" indent="-457200">
              <a:buFont typeface="Arial" pitchFamily="34" charset="0"/>
              <a:buChar char="•"/>
            </a:pPr>
            <a:r>
              <a:rPr lang="en-US" dirty="0"/>
              <a:t>Enable attackers to develop targeted, high-impact campaigns.</a:t>
            </a:r>
          </a:p>
          <a:p>
            <a:pPr marL="457200" indent="-457200">
              <a:buFont typeface="Arial" pitchFamily="34" charset="0"/>
              <a:buChar char="•"/>
            </a:pPr>
            <a:r>
              <a:rPr lang="en-US" dirty="0"/>
              <a:t>Raises organizational risk by keeping flaws out of public/patching channels.</a:t>
            </a:r>
          </a:p>
          <a:p>
            <a:pPr marL="457200" indent="-457200">
              <a:buFont typeface="Arial" pitchFamily="34" charset="0"/>
              <a:buChar char="•"/>
            </a:pPr>
            <a:endParaRPr lang="en-US" dirty="0"/>
          </a:p>
          <a:p>
            <a:pPr marL="457200" indent="-457200">
              <a:buFont typeface="Arial" pitchFamily="34" charset="0"/>
              <a:buChar char="•"/>
            </a:pPr>
            <a:endParaRPr lang="en-US" dirty="0"/>
          </a:p>
        </p:txBody>
      </p:sp>
      <p:sp>
        <p:nvSpPr>
          <p:cNvPr id="4" name="object 4"/>
          <p:cNvSpPr txBox="1">
            <a:spLocks noGrp="1"/>
          </p:cNvSpPr>
          <p:nvPr>
            <p:ph type="ftr" sz="quarter" idx="5"/>
          </p:nvPr>
        </p:nvSpPr>
        <p:spPr>
          <a:xfrm>
            <a:off x="4923286" y="6464684"/>
            <a:ext cx="2343151" cy="153888"/>
          </a:xfrm>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Tree>
    <p:extLst>
      <p:ext uri="{BB962C8B-B14F-4D97-AF65-F5344CB8AC3E}">
        <p14:creationId xmlns:p14="http://schemas.microsoft.com/office/powerpoint/2010/main" val="871091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3" y="325069"/>
            <a:ext cx="4563111" cy="690574"/>
          </a:xfrm>
          <a:prstGeom prst="rect">
            <a:avLst/>
          </a:prstGeom>
        </p:spPr>
        <p:txBody>
          <a:bodyPr vert="horz" wrap="square" lIns="0" tIns="13335" rIns="0" bIns="0" rtlCol="0">
            <a:spAutoFit/>
          </a:bodyPr>
          <a:lstStyle/>
          <a:p>
            <a:pPr marL="12700">
              <a:spcBef>
                <a:spcPts val="105"/>
              </a:spcBef>
            </a:pPr>
            <a:r>
              <a:rPr lang="en-US" dirty="0"/>
              <a:t>4</a:t>
            </a:r>
            <a:r>
              <a:rPr dirty="0" smtClean="0"/>
              <a:t>-</a:t>
            </a:r>
            <a:r>
              <a:rPr spc="-15" dirty="0" smtClean="0"/>
              <a:t> </a:t>
            </a:r>
            <a:r>
              <a:rPr lang="en-US" dirty="0" smtClean="0"/>
              <a:t>Insiders</a:t>
            </a:r>
            <a:endParaRPr spc="-10"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3" name="object 3"/>
          <p:cNvSpPr txBox="1"/>
          <p:nvPr/>
        </p:nvSpPr>
        <p:spPr>
          <a:xfrm>
            <a:off x="916945" y="1437259"/>
            <a:ext cx="10080625" cy="2967479"/>
          </a:xfrm>
          <a:prstGeom prst="rect">
            <a:avLst/>
          </a:prstGeom>
        </p:spPr>
        <p:txBody>
          <a:bodyPr vert="horz" wrap="square" lIns="0" tIns="93980" rIns="0" bIns="0" rtlCol="0">
            <a:spAutoFit/>
          </a:bodyPr>
          <a:lstStyle/>
          <a:p>
            <a:pPr marL="240029" marR="227965" indent="-227965">
              <a:lnSpc>
                <a:spcPts val="2690"/>
              </a:lnSpc>
              <a:spcBef>
                <a:spcPts val="740"/>
              </a:spcBef>
              <a:buFont typeface="Arial MT"/>
              <a:buChar char="•"/>
              <a:tabLst>
                <a:tab pos="241300" algn="l"/>
              </a:tabLst>
            </a:pPr>
            <a:r>
              <a:rPr lang="en-US" sz="2800" dirty="0" smtClean="0">
                <a:latin typeface="Times New Roman"/>
                <a:cs typeface="Times New Roman"/>
              </a:rPr>
              <a:t>Contractors, or partners who misuse authorized access.</a:t>
            </a:r>
          </a:p>
          <a:p>
            <a:pPr marL="240029" marR="227965" indent="-227965">
              <a:lnSpc>
                <a:spcPts val="2690"/>
              </a:lnSpc>
              <a:spcBef>
                <a:spcPts val="740"/>
              </a:spcBef>
              <a:buFont typeface="Arial MT"/>
              <a:buChar char="•"/>
              <a:tabLst>
                <a:tab pos="241300" algn="l"/>
              </a:tabLst>
            </a:pPr>
            <a:r>
              <a:rPr lang="en-US" sz="2800" dirty="0" smtClean="0">
                <a:latin typeface="Times New Roman"/>
                <a:cs typeface="Times New Roman"/>
              </a:rPr>
              <a:t>Often act due to revenge, job loss, demotion.</a:t>
            </a:r>
          </a:p>
          <a:p>
            <a:pPr marL="240029" marR="227965" indent="-227965">
              <a:lnSpc>
                <a:spcPts val="2690"/>
              </a:lnSpc>
              <a:spcBef>
                <a:spcPts val="740"/>
              </a:spcBef>
              <a:buFont typeface="Arial MT"/>
              <a:buChar char="•"/>
              <a:tabLst>
                <a:tab pos="241300" algn="l"/>
              </a:tabLst>
            </a:pPr>
            <a:r>
              <a:rPr lang="en-US" sz="2800" dirty="0" smtClean="0">
                <a:latin typeface="Times New Roman"/>
                <a:cs typeface="Times New Roman"/>
              </a:rPr>
              <a:t>May steal sensitive data (e.g., customer records, trade secrets).</a:t>
            </a:r>
          </a:p>
          <a:p>
            <a:pPr marL="240029" marR="227965" indent="-227965">
              <a:lnSpc>
                <a:spcPts val="2690"/>
              </a:lnSpc>
              <a:spcBef>
                <a:spcPts val="740"/>
              </a:spcBef>
              <a:buFont typeface="Arial MT"/>
              <a:buChar char="•"/>
              <a:tabLst>
                <a:tab pos="241300" algn="l"/>
              </a:tabLst>
            </a:pPr>
            <a:r>
              <a:rPr lang="en-US" sz="2800" dirty="0" smtClean="0">
                <a:latin typeface="Times New Roman"/>
                <a:cs typeface="Times New Roman"/>
              </a:rPr>
              <a:t>Nearly 50% of data breaches involve insiders.</a:t>
            </a:r>
          </a:p>
          <a:p>
            <a:pPr marL="240029" marR="227965" indent="-227965">
              <a:lnSpc>
                <a:spcPts val="2690"/>
              </a:lnSpc>
              <a:spcBef>
                <a:spcPts val="740"/>
              </a:spcBef>
              <a:buFont typeface="Arial MT"/>
              <a:buChar char="•"/>
              <a:tabLst>
                <a:tab pos="241300" algn="l"/>
              </a:tabLst>
            </a:pPr>
            <a:r>
              <a:rPr lang="en-US" sz="2800" dirty="0" smtClean="0">
                <a:latin typeface="Times New Roman"/>
                <a:cs typeface="Times New Roman"/>
              </a:rPr>
              <a:t>Attacks are harder to detect and often more costly than external ones.</a:t>
            </a:r>
          </a:p>
          <a:p>
            <a:pPr marL="240029" marR="227965" indent="-227965">
              <a:lnSpc>
                <a:spcPts val="2690"/>
              </a:lnSpc>
              <a:spcBef>
                <a:spcPts val="740"/>
              </a:spcBef>
              <a:buFont typeface="Arial MT"/>
              <a:buChar char="•"/>
              <a:tabLst>
                <a:tab pos="241300" algn="l"/>
              </a:tabLst>
            </a:pPr>
            <a:endParaRPr sz="2800" dirty="0">
              <a:latin typeface="Times New Roman"/>
              <a:cs typeface="Times New Roman"/>
            </a:endParaRPr>
          </a:p>
        </p:txBody>
      </p:sp>
    </p:spTree>
    <p:extLst>
      <p:ext uri="{BB962C8B-B14F-4D97-AF65-F5344CB8AC3E}">
        <p14:creationId xmlns:p14="http://schemas.microsoft.com/office/powerpoint/2010/main" val="34836635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5" y="387859"/>
            <a:ext cx="10009505" cy="689291"/>
          </a:xfrm>
          <a:prstGeom prst="rect">
            <a:avLst/>
          </a:prstGeom>
        </p:spPr>
        <p:txBody>
          <a:bodyPr vert="horz" wrap="square" lIns="0" tIns="12065" rIns="0" bIns="0" rtlCol="0">
            <a:spAutoFit/>
          </a:bodyPr>
          <a:lstStyle/>
          <a:p>
            <a:pPr marL="12700">
              <a:spcBef>
                <a:spcPts val="95"/>
              </a:spcBef>
            </a:pPr>
            <a:r>
              <a:rPr lang="en-US" dirty="0"/>
              <a:t>5</a:t>
            </a:r>
            <a:r>
              <a:rPr dirty="0" smtClean="0"/>
              <a:t>-</a:t>
            </a:r>
            <a:r>
              <a:rPr spc="-235" dirty="0" smtClean="0"/>
              <a:t> </a:t>
            </a:r>
            <a:r>
              <a:rPr lang="en-US" dirty="0" err="1" smtClean="0"/>
              <a:t>Cyberterrorists</a:t>
            </a:r>
            <a:endParaRPr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3" name="object 3"/>
          <p:cNvSpPr txBox="1"/>
          <p:nvPr/>
        </p:nvSpPr>
        <p:spPr>
          <a:xfrm>
            <a:off x="916940" y="1293317"/>
            <a:ext cx="10291445" cy="2577372"/>
          </a:xfrm>
          <a:prstGeom prst="rect">
            <a:avLst/>
          </a:prstGeom>
        </p:spPr>
        <p:txBody>
          <a:bodyPr vert="horz" wrap="square" lIns="0" tIns="97790" rIns="0" bIns="0" rtlCol="0">
            <a:spAutoFit/>
          </a:bodyPr>
          <a:lstStyle/>
          <a:p>
            <a:pPr marL="239395" marR="107314" indent="-227329" algn="just">
              <a:lnSpc>
                <a:spcPct val="80000"/>
              </a:lnSpc>
              <a:spcBef>
                <a:spcPts val="770"/>
              </a:spcBef>
              <a:buFont typeface="Arial MT"/>
              <a:buChar char="•"/>
              <a:tabLst>
                <a:tab pos="241300" algn="l"/>
              </a:tabLst>
            </a:pPr>
            <a:r>
              <a:rPr lang="en-US" sz="2800" dirty="0" smtClean="0">
                <a:latin typeface="Times New Roman"/>
                <a:cs typeface="Times New Roman"/>
              </a:rPr>
              <a:t>Attack motivated by ideology or beliefs (not money).</a:t>
            </a:r>
          </a:p>
          <a:p>
            <a:pPr marL="239395" marR="107314" indent="-227329" algn="just">
              <a:lnSpc>
                <a:spcPct val="80000"/>
              </a:lnSpc>
              <a:spcBef>
                <a:spcPts val="770"/>
              </a:spcBef>
              <a:buFont typeface="Arial MT"/>
              <a:buChar char="•"/>
              <a:tabLst>
                <a:tab pos="241300" algn="l"/>
              </a:tabLst>
            </a:pPr>
            <a:r>
              <a:rPr lang="en-US" sz="2800" dirty="0" smtClean="0">
                <a:latin typeface="Times New Roman"/>
                <a:cs typeface="Times New Roman"/>
              </a:rPr>
              <a:t>Goal: cause fear, disruption, or panic in society.</a:t>
            </a:r>
          </a:p>
          <a:p>
            <a:pPr marL="239395" marR="107314" indent="-227329" algn="just">
              <a:lnSpc>
                <a:spcPct val="80000"/>
              </a:lnSpc>
              <a:spcBef>
                <a:spcPts val="770"/>
              </a:spcBef>
              <a:buFont typeface="Arial MT"/>
              <a:buChar char="•"/>
              <a:tabLst>
                <a:tab pos="241300" algn="l"/>
              </a:tabLst>
            </a:pPr>
            <a:r>
              <a:rPr lang="en-US" sz="2800" dirty="0" smtClean="0">
                <a:latin typeface="Times New Roman"/>
                <a:cs typeface="Times New Roman"/>
              </a:rPr>
              <a:t>Targets: critical infrastructure (e.g., power grids, banks, media networks).</a:t>
            </a:r>
          </a:p>
          <a:p>
            <a:pPr marL="239395" marR="107314" indent="-227329" algn="just">
              <a:lnSpc>
                <a:spcPct val="80000"/>
              </a:lnSpc>
              <a:spcBef>
                <a:spcPts val="770"/>
              </a:spcBef>
              <a:buFont typeface="Arial MT"/>
              <a:buChar char="•"/>
              <a:tabLst>
                <a:tab pos="241300" algn="l"/>
              </a:tabLst>
            </a:pPr>
            <a:r>
              <a:rPr lang="en-US" sz="2800" dirty="0" smtClean="0">
                <a:latin typeface="Times New Roman"/>
                <a:cs typeface="Times New Roman"/>
              </a:rPr>
              <a:t>Attacks may be rare but high-impact and hard to predict.</a:t>
            </a:r>
          </a:p>
          <a:p>
            <a:pPr marL="239395" marR="107314" indent="-227329" algn="just">
              <a:lnSpc>
                <a:spcPct val="80000"/>
              </a:lnSpc>
              <a:spcBef>
                <a:spcPts val="770"/>
              </a:spcBef>
              <a:buFont typeface="Arial MT"/>
              <a:buChar char="•"/>
              <a:tabLst>
                <a:tab pos="241300" algn="l"/>
              </a:tabLst>
            </a:pPr>
            <a:endParaRPr sz="2800" dirty="0">
              <a:latin typeface="Times New Roman"/>
              <a:cs typeface="Times New Roman"/>
            </a:endParaRPr>
          </a:p>
        </p:txBody>
      </p:sp>
    </p:spTree>
    <p:extLst>
      <p:ext uri="{BB962C8B-B14F-4D97-AF65-F5344CB8AC3E}">
        <p14:creationId xmlns:p14="http://schemas.microsoft.com/office/powerpoint/2010/main" val="41619204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24994"/>
            <a:ext cx="10358120" cy="1304844"/>
          </a:xfrm>
          <a:prstGeom prst="rect">
            <a:avLst/>
          </a:prstGeom>
        </p:spPr>
        <p:txBody>
          <a:bodyPr vert="horz" wrap="square" lIns="0" tIns="98425" rIns="0" bIns="0" rtlCol="0">
            <a:spAutoFit/>
          </a:bodyPr>
          <a:lstStyle/>
          <a:p>
            <a:pPr marL="12700" marR="5080">
              <a:lnSpc>
                <a:spcPts val="4660"/>
              </a:lnSpc>
              <a:spcBef>
                <a:spcPts val="775"/>
              </a:spcBef>
            </a:pPr>
            <a:r>
              <a:rPr lang="en-US" dirty="0"/>
              <a:t>6</a:t>
            </a:r>
            <a:r>
              <a:rPr dirty="0" smtClean="0"/>
              <a:t>-</a:t>
            </a:r>
            <a:r>
              <a:rPr spc="-10" dirty="0" smtClean="0"/>
              <a:t> </a:t>
            </a:r>
            <a:r>
              <a:rPr lang="en-US" dirty="0" smtClean="0"/>
              <a:t>State-Sponsored </a:t>
            </a:r>
            <a:r>
              <a:rPr lang="en-US" dirty="0"/>
              <a:t>Attackers</a:t>
            </a:r>
            <a:br>
              <a:rPr lang="en-US" dirty="0"/>
            </a:br>
            <a:endParaRPr spc="-10"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3" name="object 3"/>
          <p:cNvSpPr txBox="1"/>
          <p:nvPr/>
        </p:nvSpPr>
        <p:spPr>
          <a:xfrm>
            <a:off x="916941" y="1718593"/>
            <a:ext cx="10270491" cy="3751027"/>
          </a:xfrm>
          <a:prstGeom prst="rect">
            <a:avLst/>
          </a:prstGeom>
        </p:spPr>
        <p:txBody>
          <a:bodyPr vert="horz" wrap="square" lIns="0" tIns="97790" rIns="0" bIns="0" rtlCol="0">
            <a:spAutoFit/>
          </a:bodyPr>
          <a:lstStyle/>
          <a:p>
            <a:pPr marL="240665" indent="-227965">
              <a:lnSpc>
                <a:spcPct val="100000"/>
              </a:lnSpc>
              <a:spcBef>
                <a:spcPts val="770"/>
              </a:spcBef>
              <a:buFont typeface="Arial MT"/>
              <a:buChar char="•"/>
              <a:tabLst>
                <a:tab pos="240665" algn="l"/>
              </a:tabLst>
            </a:pPr>
            <a:r>
              <a:rPr lang="en-US" sz="2800" dirty="0" smtClean="0">
                <a:latin typeface="Times New Roman"/>
                <a:cs typeface="Times New Roman"/>
              </a:rPr>
              <a:t>Instead of using an army to march across the battlefield to strike an adversary, governments are using state-sponsored attackers for launching computer attacks against their foes. </a:t>
            </a:r>
          </a:p>
          <a:p>
            <a:pPr marL="240665" indent="-227965">
              <a:lnSpc>
                <a:spcPct val="100000"/>
              </a:lnSpc>
              <a:spcBef>
                <a:spcPts val="770"/>
              </a:spcBef>
              <a:buFont typeface="Arial MT"/>
              <a:buChar char="•"/>
              <a:tabLst>
                <a:tab pos="240665" algn="l"/>
              </a:tabLst>
            </a:pPr>
            <a:r>
              <a:rPr lang="en-US" sz="2800" dirty="0" smtClean="0">
                <a:latin typeface="Times New Roman"/>
                <a:cs typeface="Times New Roman"/>
              </a:rPr>
              <a:t>In recent years the work of some attackers appears to have been sponsored by different governments. These attackers target foreign governments or even citizens of the government who are considered hostile or threatening.</a:t>
            </a:r>
          </a:p>
          <a:p>
            <a:pPr marL="240665" indent="-227965">
              <a:lnSpc>
                <a:spcPct val="100000"/>
              </a:lnSpc>
              <a:spcBef>
                <a:spcPts val="770"/>
              </a:spcBef>
              <a:buFont typeface="Arial MT"/>
              <a:buChar char="•"/>
              <a:tabLst>
                <a:tab pos="240665" algn="l"/>
              </a:tabLst>
            </a:pPr>
            <a:endParaRPr sz="2800" dirty="0">
              <a:latin typeface="Times New Roman"/>
              <a:cs typeface="Times New Roman"/>
            </a:endParaRPr>
          </a:p>
        </p:txBody>
      </p:sp>
    </p:spTree>
    <p:extLst>
      <p:ext uri="{BB962C8B-B14F-4D97-AF65-F5344CB8AC3E}">
        <p14:creationId xmlns:p14="http://schemas.microsoft.com/office/powerpoint/2010/main" val="734463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19327" y="1295399"/>
            <a:ext cx="10753344" cy="5000243"/>
          </a:xfrm>
          <a:prstGeom prst="rect">
            <a:avLst/>
          </a:prstGeom>
        </p:spPr>
      </p:pic>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4" name="object 2"/>
          <p:cNvSpPr txBox="1">
            <a:spLocks/>
          </p:cNvSpPr>
          <p:nvPr/>
        </p:nvSpPr>
        <p:spPr>
          <a:xfrm>
            <a:off x="909682" y="299593"/>
            <a:ext cx="10358120" cy="994964"/>
          </a:xfrm>
          <a:prstGeom prst="rect">
            <a:avLst/>
          </a:prstGeom>
        </p:spPr>
        <p:txBody>
          <a:bodyPr vert="horz" wrap="square" lIns="0" tIns="314782" rIns="0" bIns="0" rtlCol="0">
            <a:spAutoFit/>
          </a:bodyPr>
          <a:lstStyle>
            <a:lvl1pPr eaLnBrk="1" hangingPunct="1">
              <a:defRPr>
                <a:latin typeface="+mj-lt"/>
                <a:ea typeface="+mj-ea"/>
                <a:cs typeface="+mj-cs"/>
              </a:defRPr>
            </a:lvl1pPr>
          </a:lstStyle>
          <a:p>
            <a:pPr marL="12700" algn="l">
              <a:spcBef>
                <a:spcPts val="105"/>
              </a:spcBef>
            </a:pPr>
            <a:r>
              <a:rPr lang="en-US" sz="4400" b="1" spc="-10" dirty="0" smtClean="0">
                <a:latin typeface="Times New Roman" pitchFamily="18" charset="0"/>
                <a:cs typeface="Times New Roman" pitchFamily="18" charset="0"/>
              </a:rPr>
              <a:t>Malware attack Types</a:t>
            </a:r>
            <a:endParaRPr lang="en-US" sz="4400" b="1" spc="-10" dirty="0">
              <a:latin typeface="Times New Roman" pitchFamily="18" charset="0"/>
              <a:cs typeface="Times New Roman" pitchFamily="18" charset="0"/>
            </a:endParaRPr>
          </a:p>
        </p:txBody>
      </p:sp>
    </p:spTree>
    <p:extLst>
      <p:ext uri="{BB962C8B-B14F-4D97-AF65-F5344CB8AC3E}">
        <p14:creationId xmlns:p14="http://schemas.microsoft.com/office/powerpoint/2010/main" val="14247518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24994"/>
            <a:ext cx="10358120" cy="994964"/>
          </a:xfrm>
          <a:prstGeom prst="rect">
            <a:avLst/>
          </a:prstGeom>
        </p:spPr>
        <p:txBody>
          <a:bodyPr vert="horz" wrap="square" lIns="0" tIns="314782" rIns="0" bIns="0" rtlCol="0">
            <a:spAutoFit/>
          </a:bodyPr>
          <a:lstStyle/>
          <a:p>
            <a:pPr marL="12700">
              <a:lnSpc>
                <a:spcPct val="100000"/>
              </a:lnSpc>
              <a:spcBef>
                <a:spcPts val="105"/>
              </a:spcBef>
            </a:pPr>
            <a:r>
              <a:rPr spc="-10" dirty="0" smtClean="0"/>
              <a:t>Ma</a:t>
            </a:r>
            <a:r>
              <a:rPr lang="en-US" spc="-10" dirty="0" smtClean="0"/>
              <a:t>lware </a:t>
            </a:r>
            <a:r>
              <a:rPr spc="-10" dirty="0" smtClean="0"/>
              <a:t>attack</a:t>
            </a:r>
            <a:endParaRPr spc="-10"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3" name="object 3"/>
          <p:cNvSpPr txBox="1"/>
          <p:nvPr/>
        </p:nvSpPr>
        <p:spPr>
          <a:xfrm>
            <a:off x="927826" y="1426257"/>
            <a:ext cx="10017125" cy="5431743"/>
          </a:xfrm>
          <a:prstGeom prst="rect">
            <a:avLst/>
          </a:prstGeom>
        </p:spPr>
        <p:txBody>
          <a:bodyPr vert="horz" wrap="square" lIns="0" tIns="93980" rIns="0" bIns="0" rtlCol="0">
            <a:spAutoFit/>
          </a:bodyPr>
          <a:lstStyle/>
          <a:p>
            <a:pPr marL="240029" marR="100330" indent="-227965" algn="just">
              <a:lnSpc>
                <a:spcPts val="3020"/>
              </a:lnSpc>
              <a:spcBef>
                <a:spcPts val="480"/>
              </a:spcBef>
              <a:buFont typeface="Arial MT"/>
              <a:buChar char="•"/>
              <a:tabLst>
                <a:tab pos="241300" algn="l"/>
              </a:tabLst>
            </a:pPr>
            <a:r>
              <a:rPr lang="en-US" sz="2800" dirty="0" smtClean="0">
                <a:latin typeface="Times New Roman"/>
                <a:cs typeface="Times New Roman"/>
              </a:rPr>
              <a:t>The</a:t>
            </a:r>
            <a:r>
              <a:rPr lang="en-US" sz="2800" spc="-55" dirty="0" smtClean="0">
                <a:latin typeface="Times New Roman"/>
                <a:cs typeface="Times New Roman"/>
              </a:rPr>
              <a:t> </a:t>
            </a:r>
            <a:r>
              <a:rPr lang="en-US" sz="2800" i="1" u="sng" spc="-10" dirty="0" smtClean="0">
                <a:uFill>
                  <a:solidFill>
                    <a:srgbClr val="000000"/>
                  </a:solidFill>
                </a:uFill>
                <a:latin typeface="Times New Roman"/>
                <a:cs typeface="Times New Roman"/>
              </a:rPr>
              <a:t>malware</a:t>
            </a:r>
            <a:r>
              <a:rPr lang="en-US" sz="2800" i="1" spc="-60" dirty="0" smtClean="0">
                <a:latin typeface="Times New Roman"/>
                <a:cs typeface="Times New Roman"/>
              </a:rPr>
              <a:t> </a:t>
            </a:r>
            <a:r>
              <a:rPr lang="en-US" sz="2800" dirty="0" smtClean="0">
                <a:latin typeface="Times New Roman"/>
                <a:cs typeface="Times New Roman"/>
              </a:rPr>
              <a:t>is</a:t>
            </a:r>
            <a:r>
              <a:rPr lang="en-US" sz="2800" spc="-60" dirty="0" smtClean="0">
                <a:latin typeface="Times New Roman"/>
                <a:cs typeface="Times New Roman"/>
              </a:rPr>
              <a:t> </a:t>
            </a:r>
            <a:r>
              <a:rPr lang="en-US" sz="2800" dirty="0" smtClean="0">
                <a:latin typeface="Times New Roman"/>
                <a:cs typeface="Times New Roman"/>
              </a:rPr>
              <a:t>a</a:t>
            </a:r>
            <a:r>
              <a:rPr lang="en-US" sz="2800" spc="-55" dirty="0" smtClean="0">
                <a:latin typeface="Times New Roman"/>
                <a:cs typeface="Times New Roman"/>
              </a:rPr>
              <a:t> </a:t>
            </a:r>
            <a:r>
              <a:rPr lang="en-US" sz="2800" dirty="0" smtClean="0">
                <a:latin typeface="Times New Roman"/>
                <a:cs typeface="Times New Roman"/>
              </a:rPr>
              <a:t>computer</a:t>
            </a:r>
            <a:r>
              <a:rPr lang="en-US" sz="2800" spc="-45" dirty="0" smtClean="0">
                <a:latin typeface="Times New Roman"/>
                <a:cs typeface="Times New Roman"/>
              </a:rPr>
              <a:t> </a:t>
            </a:r>
            <a:r>
              <a:rPr lang="en-US" sz="2800" dirty="0" smtClean="0">
                <a:latin typeface="Times New Roman"/>
                <a:cs typeface="Times New Roman"/>
              </a:rPr>
              <a:t>software</a:t>
            </a:r>
            <a:r>
              <a:rPr lang="en-US" sz="2800" spc="-60" dirty="0" smtClean="0">
                <a:latin typeface="Times New Roman"/>
                <a:cs typeface="Times New Roman"/>
              </a:rPr>
              <a:t> </a:t>
            </a:r>
            <a:r>
              <a:rPr lang="en-US" sz="2800" dirty="0" smtClean="0">
                <a:latin typeface="Times New Roman"/>
                <a:cs typeface="Times New Roman"/>
              </a:rPr>
              <a:t>program</a:t>
            </a:r>
            <a:r>
              <a:rPr lang="en-US" sz="2800" spc="-65" dirty="0" smtClean="0">
                <a:latin typeface="Times New Roman"/>
                <a:cs typeface="Times New Roman"/>
              </a:rPr>
              <a:t> </a:t>
            </a:r>
            <a:r>
              <a:rPr lang="en-US" sz="2800" dirty="0" smtClean="0">
                <a:latin typeface="Times New Roman"/>
                <a:cs typeface="Times New Roman"/>
              </a:rPr>
              <a:t>maliciously</a:t>
            </a:r>
            <a:r>
              <a:rPr lang="en-US" sz="2800" spc="-55" dirty="0" smtClean="0">
                <a:latin typeface="Times New Roman"/>
                <a:cs typeface="Times New Roman"/>
              </a:rPr>
              <a:t> </a:t>
            </a:r>
            <a:r>
              <a:rPr lang="en-US" sz="2800" spc="-10" dirty="0" smtClean="0">
                <a:latin typeface="Times New Roman"/>
                <a:cs typeface="Times New Roman"/>
              </a:rPr>
              <a:t>developed 	</a:t>
            </a:r>
            <a:r>
              <a:rPr lang="en-US" sz="2800" dirty="0" smtClean="0">
                <a:latin typeface="Times New Roman"/>
                <a:cs typeface="Times New Roman"/>
              </a:rPr>
              <a:t>to</a:t>
            </a:r>
            <a:r>
              <a:rPr lang="en-US" sz="2800" spc="-30" dirty="0" smtClean="0">
                <a:latin typeface="Times New Roman"/>
                <a:cs typeface="Times New Roman"/>
              </a:rPr>
              <a:t> </a:t>
            </a:r>
            <a:r>
              <a:rPr lang="en-US" sz="2800" dirty="0" smtClean="0">
                <a:latin typeface="Times New Roman"/>
                <a:cs typeface="Times New Roman"/>
              </a:rPr>
              <a:t>install</a:t>
            </a:r>
            <a:r>
              <a:rPr lang="en-US" sz="2800" spc="-60" dirty="0" smtClean="0">
                <a:latin typeface="Times New Roman"/>
                <a:cs typeface="Times New Roman"/>
              </a:rPr>
              <a:t> </a:t>
            </a:r>
            <a:r>
              <a:rPr lang="en-US" sz="2800" dirty="0" smtClean="0">
                <a:latin typeface="Times New Roman"/>
                <a:cs typeface="Times New Roman"/>
              </a:rPr>
              <a:t>on</a:t>
            </a:r>
            <a:r>
              <a:rPr lang="en-US" sz="2800" spc="-35" dirty="0" smtClean="0">
                <a:latin typeface="Times New Roman"/>
                <a:cs typeface="Times New Roman"/>
              </a:rPr>
              <a:t> </a:t>
            </a:r>
            <a:r>
              <a:rPr lang="en-US" sz="2800" dirty="0" smtClean="0">
                <a:latin typeface="Times New Roman"/>
                <a:cs typeface="Times New Roman"/>
              </a:rPr>
              <a:t>the</a:t>
            </a:r>
            <a:r>
              <a:rPr lang="en-US" sz="2800" spc="-40" dirty="0" smtClean="0">
                <a:latin typeface="Times New Roman"/>
                <a:cs typeface="Times New Roman"/>
              </a:rPr>
              <a:t> </a:t>
            </a:r>
            <a:r>
              <a:rPr lang="en-US" sz="2800" dirty="0" smtClean="0">
                <a:latin typeface="Times New Roman"/>
                <a:cs typeface="Times New Roman"/>
              </a:rPr>
              <a:t>computers</a:t>
            </a:r>
            <a:r>
              <a:rPr lang="en-US" sz="2800" spc="-30" dirty="0" smtClean="0">
                <a:latin typeface="Times New Roman"/>
                <a:cs typeface="Times New Roman"/>
              </a:rPr>
              <a:t> </a:t>
            </a:r>
            <a:r>
              <a:rPr lang="en-US" sz="2800" dirty="0" smtClean="0">
                <a:latin typeface="Times New Roman"/>
                <a:cs typeface="Times New Roman"/>
              </a:rPr>
              <a:t>without</a:t>
            </a:r>
            <a:r>
              <a:rPr lang="en-US" sz="2800" spc="-45" dirty="0" smtClean="0">
                <a:latin typeface="Times New Roman"/>
                <a:cs typeface="Times New Roman"/>
              </a:rPr>
              <a:t> </a:t>
            </a:r>
            <a:r>
              <a:rPr lang="en-US" sz="2800" dirty="0" smtClean="0">
                <a:latin typeface="Times New Roman"/>
                <a:cs typeface="Times New Roman"/>
              </a:rPr>
              <a:t>any</a:t>
            </a:r>
            <a:r>
              <a:rPr lang="en-US" sz="2800" spc="-30" dirty="0" smtClean="0">
                <a:latin typeface="Times New Roman"/>
                <a:cs typeface="Times New Roman"/>
              </a:rPr>
              <a:t> </a:t>
            </a:r>
            <a:r>
              <a:rPr lang="en-US" sz="2800" dirty="0" smtClean="0">
                <a:latin typeface="Times New Roman"/>
                <a:cs typeface="Times New Roman"/>
              </a:rPr>
              <a:t>consent</a:t>
            </a:r>
            <a:r>
              <a:rPr lang="en-US" sz="2800" spc="-35" dirty="0" smtClean="0">
                <a:latin typeface="Times New Roman"/>
                <a:cs typeface="Times New Roman"/>
              </a:rPr>
              <a:t> </a:t>
            </a:r>
            <a:r>
              <a:rPr lang="en-US" sz="2800" dirty="0" smtClean="0">
                <a:latin typeface="Times New Roman"/>
                <a:cs typeface="Times New Roman"/>
              </a:rPr>
              <a:t>of</a:t>
            </a:r>
            <a:r>
              <a:rPr lang="en-US" sz="2800" spc="-35" dirty="0" smtClean="0">
                <a:latin typeface="Times New Roman"/>
                <a:cs typeface="Times New Roman"/>
              </a:rPr>
              <a:t> </a:t>
            </a:r>
            <a:r>
              <a:rPr lang="en-US" sz="2800" dirty="0" smtClean="0">
                <a:latin typeface="Times New Roman"/>
                <a:cs typeface="Times New Roman"/>
              </a:rPr>
              <a:t>the</a:t>
            </a:r>
            <a:r>
              <a:rPr lang="en-US" sz="2800" spc="-10" dirty="0" smtClean="0">
                <a:latin typeface="Times New Roman"/>
                <a:cs typeface="Times New Roman"/>
              </a:rPr>
              <a:t> users.</a:t>
            </a:r>
            <a:endParaRPr lang="en-US" sz="2800" dirty="0" smtClean="0">
              <a:latin typeface="Times New Roman"/>
              <a:cs typeface="Times New Roman"/>
            </a:endParaRPr>
          </a:p>
          <a:p>
            <a:pPr marL="239395" marR="5080" indent="-227329" algn="just">
              <a:lnSpc>
                <a:spcPct val="90000"/>
              </a:lnSpc>
              <a:spcBef>
                <a:spcPts val="965"/>
              </a:spcBef>
              <a:buFont typeface="Arial MT"/>
              <a:buChar char="•"/>
              <a:tabLst>
                <a:tab pos="241300" algn="l"/>
              </a:tabLst>
            </a:pPr>
            <a:r>
              <a:rPr lang="en-US" sz="2800" dirty="0" smtClean="0">
                <a:latin typeface="Times New Roman"/>
                <a:cs typeface="Times New Roman"/>
              </a:rPr>
              <a:t>The</a:t>
            </a:r>
            <a:r>
              <a:rPr lang="en-US" sz="2800" spc="-20" dirty="0" smtClean="0">
                <a:latin typeface="Times New Roman"/>
                <a:cs typeface="Times New Roman"/>
              </a:rPr>
              <a:t> </a:t>
            </a:r>
            <a:r>
              <a:rPr lang="en-US" sz="2800" dirty="0" smtClean="0">
                <a:latin typeface="Times New Roman"/>
                <a:cs typeface="Times New Roman"/>
              </a:rPr>
              <a:t>main</a:t>
            </a:r>
            <a:r>
              <a:rPr lang="en-US" sz="2800" spc="-10" dirty="0" smtClean="0">
                <a:latin typeface="Times New Roman"/>
                <a:cs typeface="Times New Roman"/>
              </a:rPr>
              <a:t> </a:t>
            </a:r>
            <a:r>
              <a:rPr lang="en-US" sz="2800" dirty="0" smtClean="0">
                <a:latin typeface="Times New Roman"/>
                <a:cs typeface="Times New Roman"/>
              </a:rPr>
              <a:t>objective</a:t>
            </a:r>
            <a:r>
              <a:rPr lang="en-US" sz="2800" spc="-50" dirty="0" smtClean="0">
                <a:latin typeface="Times New Roman"/>
                <a:cs typeface="Times New Roman"/>
              </a:rPr>
              <a:t> </a:t>
            </a:r>
            <a:r>
              <a:rPr lang="en-US" sz="2800" dirty="0" smtClean="0">
                <a:latin typeface="Times New Roman"/>
                <a:cs typeface="Times New Roman"/>
              </a:rPr>
              <a:t>of</a:t>
            </a:r>
            <a:r>
              <a:rPr lang="en-US" sz="2800" spc="-10" dirty="0" smtClean="0">
                <a:latin typeface="Times New Roman"/>
                <a:cs typeface="Times New Roman"/>
              </a:rPr>
              <a:t> </a:t>
            </a:r>
            <a:r>
              <a:rPr lang="en-US" sz="2800" dirty="0" smtClean="0">
                <a:latin typeface="Times New Roman"/>
                <a:cs typeface="Times New Roman"/>
              </a:rPr>
              <a:t>such</a:t>
            </a:r>
            <a:r>
              <a:rPr lang="en-US" sz="2800" spc="-20" dirty="0" smtClean="0">
                <a:latin typeface="Times New Roman"/>
                <a:cs typeface="Times New Roman"/>
              </a:rPr>
              <a:t> </a:t>
            </a:r>
            <a:r>
              <a:rPr lang="en-US" sz="2800" dirty="0" smtClean="0">
                <a:latin typeface="Times New Roman"/>
                <a:cs typeface="Times New Roman"/>
              </a:rPr>
              <a:t>ill-conceived</a:t>
            </a:r>
            <a:r>
              <a:rPr lang="en-US" sz="2800" spc="-40" dirty="0" smtClean="0">
                <a:latin typeface="Times New Roman"/>
                <a:cs typeface="Times New Roman"/>
              </a:rPr>
              <a:t> </a:t>
            </a:r>
            <a:r>
              <a:rPr lang="en-US" sz="2800" dirty="0" smtClean="0">
                <a:latin typeface="Times New Roman"/>
                <a:cs typeface="Times New Roman"/>
              </a:rPr>
              <a:t>programs</a:t>
            </a:r>
            <a:r>
              <a:rPr lang="en-US" sz="2800" spc="-20" dirty="0" smtClean="0">
                <a:latin typeface="Times New Roman"/>
                <a:cs typeface="Times New Roman"/>
              </a:rPr>
              <a:t> </a:t>
            </a:r>
            <a:r>
              <a:rPr lang="en-US" sz="2800" dirty="0" smtClean="0">
                <a:latin typeface="Times New Roman"/>
                <a:cs typeface="Times New Roman"/>
              </a:rPr>
              <a:t>is</a:t>
            </a:r>
            <a:r>
              <a:rPr lang="en-US" sz="2800" spc="-20" dirty="0" smtClean="0">
                <a:latin typeface="Times New Roman"/>
                <a:cs typeface="Times New Roman"/>
              </a:rPr>
              <a:t> </a:t>
            </a:r>
            <a:r>
              <a:rPr lang="en-US" sz="2800" dirty="0" smtClean="0">
                <a:latin typeface="Times New Roman"/>
                <a:cs typeface="Times New Roman"/>
              </a:rPr>
              <a:t>to</a:t>
            </a:r>
            <a:r>
              <a:rPr lang="en-US" sz="2800" spc="-30" dirty="0" smtClean="0">
                <a:latin typeface="Times New Roman"/>
                <a:cs typeface="Times New Roman"/>
              </a:rPr>
              <a:t> </a:t>
            </a:r>
            <a:r>
              <a:rPr lang="en-US" sz="2800" spc="-10" dirty="0" smtClean="0">
                <a:latin typeface="Times New Roman"/>
                <a:cs typeface="Times New Roman"/>
              </a:rPr>
              <a:t>either 	</a:t>
            </a:r>
            <a:r>
              <a:rPr lang="en-US" sz="2800" dirty="0" smtClean="0">
                <a:latin typeface="Times New Roman"/>
                <a:cs typeface="Times New Roman"/>
              </a:rPr>
              <a:t>establish</a:t>
            </a:r>
            <a:r>
              <a:rPr lang="en-US" sz="2800" spc="-60" dirty="0" smtClean="0">
                <a:latin typeface="Times New Roman"/>
                <a:cs typeface="Times New Roman"/>
              </a:rPr>
              <a:t> </a:t>
            </a:r>
            <a:r>
              <a:rPr lang="en-US" sz="2800" dirty="0" smtClean="0">
                <a:latin typeface="Times New Roman"/>
                <a:cs typeface="Times New Roman"/>
              </a:rPr>
              <a:t>the</a:t>
            </a:r>
            <a:r>
              <a:rPr lang="en-US" sz="2800" spc="-40" dirty="0" smtClean="0">
                <a:latin typeface="Times New Roman"/>
                <a:cs typeface="Times New Roman"/>
              </a:rPr>
              <a:t> </a:t>
            </a:r>
            <a:r>
              <a:rPr lang="en-US" sz="2800" dirty="0" smtClean="0">
                <a:latin typeface="Times New Roman"/>
                <a:cs typeface="Times New Roman"/>
              </a:rPr>
              <a:t>access</a:t>
            </a:r>
            <a:r>
              <a:rPr lang="en-US" sz="2800" spc="-35" dirty="0" smtClean="0">
                <a:latin typeface="Times New Roman"/>
                <a:cs typeface="Times New Roman"/>
              </a:rPr>
              <a:t> </a:t>
            </a:r>
            <a:r>
              <a:rPr lang="en-US" sz="2800" dirty="0" smtClean="0">
                <a:latin typeface="Times New Roman"/>
                <a:cs typeface="Times New Roman"/>
              </a:rPr>
              <a:t>to</a:t>
            </a:r>
            <a:r>
              <a:rPr lang="en-US" sz="2800" spc="-40" dirty="0">
                <a:latin typeface="Times New Roman"/>
                <a:cs typeface="Times New Roman"/>
              </a:rPr>
              <a:t> </a:t>
            </a:r>
            <a:r>
              <a:rPr lang="en-US" sz="2800" dirty="0" smtClean="0">
                <a:latin typeface="Times New Roman"/>
                <a:cs typeface="Times New Roman"/>
              </a:rPr>
              <a:t>the</a:t>
            </a:r>
            <a:r>
              <a:rPr lang="en-US" sz="2800" spc="-40" dirty="0" smtClean="0">
                <a:latin typeface="Times New Roman"/>
                <a:cs typeface="Times New Roman"/>
              </a:rPr>
              <a:t> </a:t>
            </a:r>
            <a:r>
              <a:rPr lang="en-US" sz="2800" dirty="0" smtClean="0">
                <a:latin typeface="Times New Roman"/>
                <a:cs typeface="Times New Roman"/>
              </a:rPr>
              <a:t>targeted</a:t>
            </a:r>
            <a:r>
              <a:rPr lang="en-US" sz="2800" spc="-50" dirty="0" smtClean="0">
                <a:latin typeface="Times New Roman"/>
                <a:cs typeface="Times New Roman"/>
              </a:rPr>
              <a:t> </a:t>
            </a:r>
            <a:r>
              <a:rPr lang="en-US" sz="2800" dirty="0" smtClean="0">
                <a:latin typeface="Times New Roman"/>
                <a:cs typeface="Times New Roman"/>
              </a:rPr>
              <a:t>computers</a:t>
            </a:r>
            <a:r>
              <a:rPr lang="en-US" sz="2800" spc="-35" dirty="0" smtClean="0">
                <a:latin typeface="Times New Roman"/>
                <a:cs typeface="Times New Roman"/>
              </a:rPr>
              <a:t> </a:t>
            </a:r>
            <a:r>
              <a:rPr lang="en-US" sz="2800" dirty="0" smtClean="0">
                <a:latin typeface="Times New Roman"/>
                <a:cs typeface="Times New Roman"/>
              </a:rPr>
              <a:t>without</a:t>
            </a:r>
            <a:r>
              <a:rPr lang="en-US" sz="2800" spc="-50" dirty="0" smtClean="0">
                <a:latin typeface="Times New Roman"/>
                <a:cs typeface="Times New Roman"/>
              </a:rPr>
              <a:t> </a:t>
            </a:r>
            <a:r>
              <a:rPr lang="en-US" sz="2800" dirty="0" smtClean="0">
                <a:latin typeface="Times New Roman"/>
                <a:cs typeface="Times New Roman"/>
              </a:rPr>
              <a:t>any</a:t>
            </a:r>
            <a:r>
              <a:rPr lang="en-US" sz="2800" spc="10" dirty="0" smtClean="0">
                <a:latin typeface="Times New Roman"/>
                <a:cs typeface="Times New Roman"/>
              </a:rPr>
              <a:t> </a:t>
            </a:r>
            <a:r>
              <a:rPr lang="en-US" sz="2800" spc="-10" dirty="0" smtClean="0">
                <a:latin typeface="Times New Roman"/>
                <a:cs typeface="Times New Roman"/>
              </a:rPr>
              <a:t>permission </a:t>
            </a:r>
            <a:r>
              <a:rPr lang="en-US" sz="2800" dirty="0" smtClean="0">
                <a:latin typeface="Times New Roman"/>
                <a:cs typeface="Times New Roman"/>
              </a:rPr>
              <a:t>of</a:t>
            </a:r>
            <a:r>
              <a:rPr lang="en-US" sz="2800" spc="-20" dirty="0" smtClean="0">
                <a:latin typeface="Times New Roman"/>
                <a:cs typeface="Times New Roman"/>
              </a:rPr>
              <a:t> </a:t>
            </a:r>
            <a:r>
              <a:rPr lang="en-US" sz="2800" dirty="0" smtClean="0">
                <a:latin typeface="Times New Roman"/>
                <a:cs typeface="Times New Roman"/>
              </a:rPr>
              <a:t>the</a:t>
            </a:r>
            <a:r>
              <a:rPr lang="en-US" sz="2800" spc="-25" dirty="0" smtClean="0">
                <a:latin typeface="Times New Roman"/>
                <a:cs typeface="Times New Roman"/>
              </a:rPr>
              <a:t> </a:t>
            </a:r>
            <a:r>
              <a:rPr lang="en-US" sz="2800" dirty="0" smtClean="0">
                <a:latin typeface="Times New Roman"/>
                <a:cs typeface="Times New Roman"/>
              </a:rPr>
              <a:t>user</a:t>
            </a:r>
            <a:r>
              <a:rPr lang="en-US" sz="2800" spc="-20" dirty="0" smtClean="0">
                <a:latin typeface="Times New Roman"/>
                <a:cs typeface="Times New Roman"/>
              </a:rPr>
              <a:t> </a:t>
            </a:r>
            <a:r>
              <a:rPr lang="en-US" sz="2800" dirty="0" smtClean="0">
                <a:latin typeface="Times New Roman"/>
                <a:cs typeface="Times New Roman"/>
              </a:rPr>
              <a:t>or</a:t>
            </a:r>
            <a:r>
              <a:rPr lang="en-US" sz="2800" spc="-25" dirty="0" smtClean="0">
                <a:latin typeface="Times New Roman"/>
                <a:cs typeface="Times New Roman"/>
              </a:rPr>
              <a:t> </a:t>
            </a:r>
            <a:r>
              <a:rPr lang="en-US" sz="2800" dirty="0" smtClean="0">
                <a:latin typeface="Times New Roman"/>
                <a:cs typeface="Times New Roman"/>
              </a:rPr>
              <a:t>to</a:t>
            </a:r>
            <a:r>
              <a:rPr lang="en-US" sz="2800" spc="-30" dirty="0" smtClean="0">
                <a:latin typeface="Times New Roman"/>
                <a:cs typeface="Times New Roman"/>
              </a:rPr>
              <a:t> </a:t>
            </a:r>
            <a:r>
              <a:rPr lang="en-US" sz="2800" dirty="0" smtClean="0">
                <a:latin typeface="Times New Roman"/>
                <a:cs typeface="Times New Roman"/>
              </a:rPr>
              <a:t>install</a:t>
            </a:r>
            <a:r>
              <a:rPr lang="en-US" sz="2800" spc="-25" dirty="0" smtClean="0">
                <a:latin typeface="Times New Roman"/>
                <a:cs typeface="Times New Roman"/>
              </a:rPr>
              <a:t> </a:t>
            </a:r>
            <a:r>
              <a:rPr lang="en-US" sz="2800" dirty="0" smtClean="0">
                <a:latin typeface="Times New Roman"/>
                <a:cs typeface="Times New Roman"/>
              </a:rPr>
              <a:t>the</a:t>
            </a:r>
            <a:r>
              <a:rPr lang="en-US" sz="2800" spc="-45" dirty="0" smtClean="0">
                <a:latin typeface="Times New Roman"/>
                <a:cs typeface="Times New Roman"/>
              </a:rPr>
              <a:t> </a:t>
            </a:r>
            <a:r>
              <a:rPr lang="en-US" sz="2800" dirty="0" smtClean="0">
                <a:latin typeface="Times New Roman"/>
                <a:cs typeface="Times New Roman"/>
              </a:rPr>
              <a:t>program</a:t>
            </a:r>
            <a:r>
              <a:rPr lang="en-US" sz="2800" spc="-35" dirty="0" smtClean="0">
                <a:latin typeface="Times New Roman"/>
                <a:cs typeface="Times New Roman"/>
              </a:rPr>
              <a:t> </a:t>
            </a:r>
            <a:r>
              <a:rPr lang="en-US" sz="2800" dirty="0" smtClean="0">
                <a:latin typeface="Times New Roman"/>
                <a:cs typeface="Times New Roman"/>
              </a:rPr>
              <a:t>to</a:t>
            </a:r>
            <a:r>
              <a:rPr lang="en-US" sz="2800" spc="-20" dirty="0" smtClean="0">
                <a:latin typeface="Times New Roman"/>
                <a:cs typeface="Times New Roman"/>
              </a:rPr>
              <a:t> </a:t>
            </a:r>
            <a:r>
              <a:rPr lang="en-US" sz="2800" dirty="0" smtClean="0">
                <a:latin typeface="Times New Roman"/>
                <a:cs typeface="Times New Roman"/>
              </a:rPr>
              <a:t>create</a:t>
            </a:r>
            <a:r>
              <a:rPr lang="en-US" sz="2800" spc="-30" dirty="0" smtClean="0">
                <a:latin typeface="Times New Roman"/>
                <a:cs typeface="Times New Roman"/>
              </a:rPr>
              <a:t> </a:t>
            </a:r>
            <a:r>
              <a:rPr lang="en-US" sz="2800" dirty="0" smtClean="0">
                <a:latin typeface="Times New Roman"/>
                <a:cs typeface="Times New Roman"/>
              </a:rPr>
              <a:t>disturbance</a:t>
            </a:r>
            <a:r>
              <a:rPr lang="en-US" sz="2800" spc="-50" dirty="0" smtClean="0">
                <a:latin typeface="Times New Roman"/>
                <a:cs typeface="Times New Roman"/>
              </a:rPr>
              <a:t> </a:t>
            </a:r>
            <a:r>
              <a:rPr lang="en-US" sz="2800" dirty="0" smtClean="0">
                <a:latin typeface="Times New Roman"/>
                <a:cs typeface="Times New Roman"/>
              </a:rPr>
              <a:t>for</a:t>
            </a:r>
            <a:r>
              <a:rPr lang="en-US" sz="2800" spc="-10" dirty="0" smtClean="0">
                <a:latin typeface="Times New Roman"/>
                <a:cs typeface="Times New Roman"/>
              </a:rPr>
              <a:t> </a:t>
            </a:r>
            <a:r>
              <a:rPr lang="en-US" sz="2800" dirty="0" smtClean="0">
                <a:latin typeface="Times New Roman"/>
                <a:cs typeface="Times New Roman"/>
              </a:rPr>
              <a:t>the</a:t>
            </a:r>
            <a:r>
              <a:rPr lang="en-US" sz="2800" spc="-45" dirty="0" smtClean="0">
                <a:latin typeface="Times New Roman"/>
                <a:cs typeface="Times New Roman"/>
              </a:rPr>
              <a:t> </a:t>
            </a:r>
            <a:r>
              <a:rPr lang="en-US" sz="2800" spc="-10" dirty="0" smtClean="0">
                <a:latin typeface="Times New Roman"/>
                <a:cs typeface="Times New Roman"/>
              </a:rPr>
              <a:t>users.</a:t>
            </a:r>
            <a:endParaRPr lang="en-US" sz="2800" dirty="0" smtClean="0">
              <a:latin typeface="Times New Roman"/>
              <a:cs typeface="Times New Roman"/>
            </a:endParaRPr>
          </a:p>
          <a:p>
            <a:pPr marL="240029" marR="82550" indent="-227965" algn="just">
              <a:lnSpc>
                <a:spcPct val="90000"/>
              </a:lnSpc>
              <a:spcBef>
                <a:spcPts val="1000"/>
              </a:spcBef>
              <a:buFont typeface="Arial MT"/>
              <a:buChar char="•"/>
              <a:tabLst>
                <a:tab pos="241300" algn="l"/>
              </a:tabLst>
            </a:pPr>
            <a:r>
              <a:rPr lang="en-US" sz="2800" dirty="0" smtClean="0">
                <a:latin typeface="Times New Roman"/>
                <a:cs typeface="Times New Roman"/>
              </a:rPr>
              <a:t>In</a:t>
            </a:r>
            <a:r>
              <a:rPr lang="en-US" sz="2800" spc="-20" dirty="0" smtClean="0">
                <a:latin typeface="Times New Roman"/>
                <a:cs typeface="Times New Roman"/>
              </a:rPr>
              <a:t> </a:t>
            </a:r>
            <a:r>
              <a:rPr lang="en-US" sz="2800" dirty="0" smtClean="0">
                <a:latin typeface="Times New Roman"/>
                <a:cs typeface="Times New Roman"/>
              </a:rPr>
              <a:t>most</a:t>
            </a:r>
            <a:r>
              <a:rPr lang="en-US" sz="2800" spc="-20" dirty="0" smtClean="0">
                <a:latin typeface="Times New Roman"/>
                <a:cs typeface="Times New Roman"/>
              </a:rPr>
              <a:t> </a:t>
            </a:r>
            <a:r>
              <a:rPr lang="en-US" sz="2800" dirty="0" smtClean="0">
                <a:latin typeface="Times New Roman"/>
                <a:cs typeface="Times New Roman"/>
              </a:rPr>
              <a:t>of</a:t>
            </a:r>
            <a:r>
              <a:rPr lang="en-US" sz="2800" spc="-20" dirty="0" smtClean="0">
                <a:latin typeface="Times New Roman"/>
                <a:cs typeface="Times New Roman"/>
              </a:rPr>
              <a:t> </a:t>
            </a:r>
            <a:r>
              <a:rPr lang="en-US" sz="2800" dirty="0" smtClean="0">
                <a:latin typeface="Times New Roman"/>
                <a:cs typeface="Times New Roman"/>
              </a:rPr>
              <a:t>the</a:t>
            </a:r>
            <a:r>
              <a:rPr lang="en-US" sz="2800" spc="-40" dirty="0" smtClean="0">
                <a:latin typeface="Times New Roman"/>
                <a:cs typeface="Times New Roman"/>
              </a:rPr>
              <a:t> </a:t>
            </a:r>
            <a:r>
              <a:rPr lang="en-US" sz="2800" dirty="0" smtClean="0">
                <a:latin typeface="Times New Roman"/>
                <a:cs typeface="Times New Roman"/>
              </a:rPr>
              <a:t>cases,</a:t>
            </a:r>
            <a:r>
              <a:rPr lang="en-US" sz="2800" spc="-25" dirty="0" smtClean="0">
                <a:latin typeface="Times New Roman"/>
                <a:cs typeface="Times New Roman"/>
              </a:rPr>
              <a:t> </a:t>
            </a:r>
            <a:r>
              <a:rPr lang="en-US" sz="2800" dirty="0" smtClean="0">
                <a:latin typeface="Times New Roman"/>
                <a:cs typeface="Times New Roman"/>
              </a:rPr>
              <a:t>the</a:t>
            </a:r>
            <a:r>
              <a:rPr lang="en-US" sz="2800" spc="-50" dirty="0" smtClean="0">
                <a:latin typeface="Times New Roman"/>
                <a:cs typeface="Times New Roman"/>
              </a:rPr>
              <a:t> </a:t>
            </a:r>
            <a:r>
              <a:rPr lang="en-US" sz="2800" dirty="0" smtClean="0">
                <a:latin typeface="Times New Roman"/>
                <a:cs typeface="Times New Roman"/>
              </a:rPr>
              <a:t>malware programs</a:t>
            </a:r>
            <a:r>
              <a:rPr lang="en-US" sz="2800" spc="-30" dirty="0" smtClean="0">
                <a:latin typeface="Times New Roman"/>
                <a:cs typeface="Times New Roman"/>
              </a:rPr>
              <a:t> </a:t>
            </a:r>
            <a:r>
              <a:rPr lang="en-US" sz="2800" dirty="0" smtClean="0">
                <a:latin typeface="Times New Roman"/>
                <a:cs typeface="Times New Roman"/>
              </a:rPr>
              <a:t>are</a:t>
            </a:r>
            <a:r>
              <a:rPr lang="en-US" sz="2800" spc="-30" dirty="0" smtClean="0">
                <a:latin typeface="Times New Roman"/>
                <a:cs typeface="Times New Roman"/>
              </a:rPr>
              <a:t> </a:t>
            </a:r>
            <a:r>
              <a:rPr lang="en-US" sz="2800" dirty="0" smtClean="0">
                <a:latin typeface="Times New Roman"/>
                <a:cs typeface="Times New Roman"/>
              </a:rPr>
              <a:t>installed</a:t>
            </a:r>
            <a:r>
              <a:rPr lang="en-US" sz="2800" spc="-50" dirty="0" smtClean="0">
                <a:latin typeface="Times New Roman"/>
                <a:cs typeface="Times New Roman"/>
              </a:rPr>
              <a:t> </a:t>
            </a:r>
            <a:r>
              <a:rPr lang="en-US" sz="2800" dirty="0" smtClean="0">
                <a:latin typeface="Times New Roman"/>
                <a:cs typeface="Times New Roman"/>
              </a:rPr>
              <a:t>on</a:t>
            </a:r>
            <a:r>
              <a:rPr lang="en-US" sz="2800" spc="-20" dirty="0" smtClean="0">
                <a:latin typeface="Times New Roman"/>
                <a:cs typeface="Times New Roman"/>
              </a:rPr>
              <a:t> </a:t>
            </a:r>
            <a:r>
              <a:rPr lang="en-US" sz="2800" spc="-25" dirty="0" smtClean="0">
                <a:latin typeface="Times New Roman"/>
                <a:cs typeface="Times New Roman"/>
              </a:rPr>
              <a:t>the 	</a:t>
            </a:r>
            <a:r>
              <a:rPr lang="en-US" sz="2800" dirty="0" smtClean="0">
                <a:latin typeface="Times New Roman"/>
                <a:cs typeface="Times New Roman"/>
              </a:rPr>
              <a:t>targeted</a:t>
            </a:r>
            <a:r>
              <a:rPr lang="en-US" sz="2800" spc="-50" dirty="0" smtClean="0">
                <a:latin typeface="Times New Roman"/>
                <a:cs typeface="Times New Roman"/>
              </a:rPr>
              <a:t> </a:t>
            </a:r>
            <a:r>
              <a:rPr lang="en-US" sz="2800" dirty="0" smtClean="0">
                <a:latin typeface="Times New Roman"/>
                <a:cs typeface="Times New Roman"/>
              </a:rPr>
              <a:t>computers</a:t>
            </a:r>
            <a:r>
              <a:rPr lang="en-US" sz="2800" spc="-35" dirty="0" smtClean="0">
                <a:latin typeface="Times New Roman"/>
                <a:cs typeface="Times New Roman"/>
              </a:rPr>
              <a:t> </a:t>
            </a:r>
            <a:r>
              <a:rPr lang="en-US" sz="2800" dirty="0" smtClean="0">
                <a:latin typeface="Times New Roman"/>
                <a:cs typeface="Times New Roman"/>
              </a:rPr>
              <a:t>to</a:t>
            </a:r>
            <a:r>
              <a:rPr lang="en-US" sz="2800" spc="-35" dirty="0" smtClean="0">
                <a:latin typeface="Times New Roman"/>
                <a:cs typeface="Times New Roman"/>
              </a:rPr>
              <a:t> </a:t>
            </a:r>
            <a:r>
              <a:rPr lang="en-US" sz="2800" dirty="0" smtClean="0">
                <a:latin typeface="Times New Roman"/>
                <a:cs typeface="Times New Roman"/>
              </a:rPr>
              <a:t>achieve</a:t>
            </a:r>
            <a:r>
              <a:rPr lang="en-US" sz="2800" spc="-35" dirty="0" smtClean="0">
                <a:latin typeface="Times New Roman"/>
                <a:cs typeface="Times New Roman"/>
              </a:rPr>
              <a:t> </a:t>
            </a:r>
            <a:r>
              <a:rPr lang="en-US" sz="2800" dirty="0" smtClean="0">
                <a:latin typeface="Times New Roman"/>
                <a:cs typeface="Times New Roman"/>
              </a:rPr>
              <a:t>different</a:t>
            </a:r>
            <a:r>
              <a:rPr lang="en-US" sz="2800" spc="-55" dirty="0" smtClean="0">
                <a:latin typeface="Times New Roman"/>
                <a:cs typeface="Times New Roman"/>
              </a:rPr>
              <a:t> </a:t>
            </a:r>
            <a:r>
              <a:rPr lang="en-US" sz="2800" dirty="0" smtClean="0">
                <a:latin typeface="Times New Roman"/>
                <a:cs typeface="Times New Roman"/>
              </a:rPr>
              <a:t>types</a:t>
            </a:r>
            <a:r>
              <a:rPr lang="en-US" sz="2800" spc="-50" dirty="0" smtClean="0">
                <a:latin typeface="Times New Roman"/>
                <a:cs typeface="Times New Roman"/>
              </a:rPr>
              <a:t> </a:t>
            </a:r>
            <a:r>
              <a:rPr lang="en-US" sz="2800" dirty="0" smtClean="0">
                <a:latin typeface="Times New Roman"/>
                <a:cs typeface="Times New Roman"/>
              </a:rPr>
              <a:t>of</a:t>
            </a:r>
            <a:r>
              <a:rPr lang="en-US" sz="2800" spc="-25" dirty="0" smtClean="0">
                <a:latin typeface="Times New Roman"/>
                <a:cs typeface="Times New Roman"/>
              </a:rPr>
              <a:t> </a:t>
            </a:r>
            <a:r>
              <a:rPr lang="en-US" sz="2800" dirty="0" smtClean="0">
                <a:latin typeface="Times New Roman"/>
                <a:cs typeface="Times New Roman"/>
              </a:rPr>
              <a:t>goals,</a:t>
            </a:r>
            <a:r>
              <a:rPr lang="en-US" sz="2800" spc="-45" dirty="0" smtClean="0">
                <a:latin typeface="Times New Roman"/>
                <a:cs typeface="Times New Roman"/>
              </a:rPr>
              <a:t> </a:t>
            </a:r>
            <a:r>
              <a:rPr lang="en-US" sz="2800" dirty="0" smtClean="0">
                <a:latin typeface="Times New Roman"/>
                <a:cs typeface="Times New Roman"/>
              </a:rPr>
              <a:t>which</a:t>
            </a:r>
            <a:r>
              <a:rPr lang="en-US" sz="2800" spc="-30" dirty="0" smtClean="0">
                <a:latin typeface="Times New Roman"/>
                <a:cs typeface="Times New Roman"/>
              </a:rPr>
              <a:t> </a:t>
            </a:r>
            <a:r>
              <a:rPr lang="en-US" sz="2800" spc="-25" dirty="0" smtClean="0">
                <a:latin typeface="Times New Roman"/>
                <a:cs typeface="Times New Roman"/>
              </a:rPr>
              <a:t>may 	</a:t>
            </a:r>
            <a:r>
              <a:rPr lang="en-US" sz="2800" dirty="0" smtClean="0">
                <a:latin typeface="Times New Roman"/>
                <a:cs typeface="Times New Roman"/>
              </a:rPr>
              <a:t>include</a:t>
            </a:r>
            <a:r>
              <a:rPr lang="en-US" sz="2800" spc="-75" dirty="0" smtClean="0">
                <a:latin typeface="Times New Roman"/>
                <a:cs typeface="Times New Roman"/>
              </a:rPr>
              <a:t> </a:t>
            </a:r>
            <a:r>
              <a:rPr lang="en-US" sz="2800" dirty="0" smtClean="0">
                <a:latin typeface="Times New Roman"/>
                <a:cs typeface="Times New Roman"/>
              </a:rPr>
              <a:t>getting</a:t>
            </a:r>
            <a:r>
              <a:rPr lang="en-US" sz="2800" spc="-70" dirty="0" smtClean="0">
                <a:latin typeface="Times New Roman"/>
                <a:cs typeface="Times New Roman"/>
              </a:rPr>
              <a:t> </a:t>
            </a:r>
            <a:r>
              <a:rPr lang="en-US" sz="2800" dirty="0" smtClean="0">
                <a:latin typeface="Times New Roman"/>
                <a:cs typeface="Times New Roman"/>
              </a:rPr>
              <a:t>financial</a:t>
            </a:r>
            <a:r>
              <a:rPr lang="en-US" sz="2800" spc="-70" dirty="0" smtClean="0">
                <a:latin typeface="Times New Roman"/>
                <a:cs typeface="Times New Roman"/>
              </a:rPr>
              <a:t> </a:t>
            </a:r>
            <a:r>
              <a:rPr lang="en-US" sz="2800" dirty="0" smtClean="0">
                <a:latin typeface="Times New Roman"/>
                <a:cs typeface="Times New Roman"/>
              </a:rPr>
              <a:t>favor,</a:t>
            </a:r>
            <a:r>
              <a:rPr lang="en-US" sz="2800" spc="-50" dirty="0" smtClean="0">
                <a:latin typeface="Times New Roman"/>
                <a:cs typeface="Times New Roman"/>
              </a:rPr>
              <a:t> </a:t>
            </a:r>
            <a:r>
              <a:rPr lang="en-US" sz="2800" dirty="0" smtClean="0">
                <a:latin typeface="Times New Roman"/>
                <a:cs typeface="Times New Roman"/>
              </a:rPr>
              <a:t>knowing</a:t>
            </a:r>
            <a:r>
              <a:rPr lang="en-US" sz="2800" spc="-60" dirty="0" smtClean="0">
                <a:latin typeface="Times New Roman"/>
                <a:cs typeface="Times New Roman"/>
              </a:rPr>
              <a:t> </a:t>
            </a:r>
            <a:r>
              <a:rPr lang="en-US" sz="2800" dirty="0" smtClean="0">
                <a:latin typeface="Times New Roman"/>
                <a:cs typeface="Times New Roman"/>
              </a:rPr>
              <a:t>the</a:t>
            </a:r>
            <a:r>
              <a:rPr lang="en-US" sz="2800" spc="-55" dirty="0" smtClean="0">
                <a:latin typeface="Times New Roman"/>
                <a:cs typeface="Times New Roman"/>
              </a:rPr>
              <a:t> </a:t>
            </a:r>
            <a:r>
              <a:rPr lang="en-US" sz="2800" dirty="0" smtClean="0">
                <a:latin typeface="Times New Roman"/>
                <a:cs typeface="Times New Roman"/>
              </a:rPr>
              <a:t>business</a:t>
            </a:r>
            <a:r>
              <a:rPr lang="en-US" sz="2800" spc="-70" dirty="0" smtClean="0">
                <a:latin typeface="Times New Roman"/>
                <a:cs typeface="Times New Roman"/>
              </a:rPr>
              <a:t> </a:t>
            </a:r>
            <a:r>
              <a:rPr lang="en-US" sz="2800" spc="-10" dirty="0" smtClean="0">
                <a:latin typeface="Times New Roman"/>
                <a:cs typeface="Times New Roman"/>
              </a:rPr>
              <a:t>strategies, 	</a:t>
            </a:r>
            <a:r>
              <a:rPr lang="en-US" sz="2800" dirty="0" smtClean="0">
                <a:latin typeface="Times New Roman"/>
                <a:cs typeface="Times New Roman"/>
              </a:rPr>
              <a:t>compromising</a:t>
            </a:r>
            <a:r>
              <a:rPr lang="en-US" sz="2800" spc="-35" dirty="0" smtClean="0">
                <a:latin typeface="Times New Roman"/>
                <a:cs typeface="Times New Roman"/>
              </a:rPr>
              <a:t> </a:t>
            </a:r>
            <a:r>
              <a:rPr lang="en-US" sz="2800" dirty="0" smtClean="0">
                <a:latin typeface="Times New Roman"/>
                <a:cs typeface="Times New Roman"/>
              </a:rPr>
              <a:t>the</a:t>
            </a:r>
            <a:r>
              <a:rPr lang="en-US" sz="2800" spc="-45" dirty="0" smtClean="0">
                <a:latin typeface="Times New Roman"/>
                <a:cs typeface="Times New Roman"/>
              </a:rPr>
              <a:t> </a:t>
            </a:r>
            <a:r>
              <a:rPr lang="en-US" sz="2800" dirty="0" smtClean="0">
                <a:latin typeface="Times New Roman"/>
                <a:cs typeface="Times New Roman"/>
              </a:rPr>
              <a:t>defense,</a:t>
            </a:r>
            <a:r>
              <a:rPr lang="en-US" sz="2800" spc="-40" dirty="0" smtClean="0">
                <a:latin typeface="Times New Roman"/>
                <a:cs typeface="Times New Roman"/>
              </a:rPr>
              <a:t> </a:t>
            </a:r>
            <a:r>
              <a:rPr lang="en-US" sz="2800" dirty="0" smtClean="0">
                <a:latin typeface="Times New Roman"/>
                <a:cs typeface="Times New Roman"/>
              </a:rPr>
              <a:t>damaging</a:t>
            </a:r>
            <a:r>
              <a:rPr lang="en-US" sz="2800" spc="-65" dirty="0" smtClean="0">
                <a:latin typeface="Times New Roman"/>
                <a:cs typeface="Times New Roman"/>
              </a:rPr>
              <a:t> </a:t>
            </a:r>
            <a:r>
              <a:rPr lang="en-US" sz="2800" dirty="0" smtClean="0">
                <a:latin typeface="Times New Roman"/>
                <a:cs typeface="Times New Roman"/>
              </a:rPr>
              <a:t>the</a:t>
            </a:r>
            <a:r>
              <a:rPr lang="en-US" sz="2800" spc="-60" dirty="0" smtClean="0">
                <a:latin typeface="Times New Roman"/>
                <a:cs typeface="Times New Roman"/>
              </a:rPr>
              <a:t> </a:t>
            </a:r>
            <a:r>
              <a:rPr lang="en-US" sz="2800" dirty="0" smtClean="0">
                <a:latin typeface="Times New Roman"/>
                <a:cs typeface="Times New Roman"/>
              </a:rPr>
              <a:t>governmental</a:t>
            </a:r>
            <a:r>
              <a:rPr lang="en-US" sz="2800" spc="-45" dirty="0" smtClean="0">
                <a:latin typeface="Times New Roman"/>
                <a:cs typeface="Times New Roman"/>
              </a:rPr>
              <a:t> </a:t>
            </a:r>
            <a:r>
              <a:rPr lang="en-US" sz="2800" dirty="0" smtClean="0">
                <a:latin typeface="Times New Roman"/>
                <a:cs typeface="Times New Roman"/>
              </a:rPr>
              <a:t>system,</a:t>
            </a:r>
            <a:r>
              <a:rPr lang="en-US" sz="2800" spc="-40" dirty="0" smtClean="0">
                <a:latin typeface="Times New Roman"/>
                <a:cs typeface="Times New Roman"/>
              </a:rPr>
              <a:t> </a:t>
            </a:r>
            <a:r>
              <a:rPr lang="en-US" sz="2800" spc="-25" dirty="0" smtClean="0">
                <a:latin typeface="Times New Roman"/>
                <a:cs typeface="Times New Roman"/>
              </a:rPr>
              <a:t>and 	</a:t>
            </a:r>
            <a:r>
              <a:rPr lang="en-US" sz="2800" dirty="0" smtClean="0">
                <a:latin typeface="Times New Roman"/>
                <a:cs typeface="Times New Roman"/>
              </a:rPr>
              <a:t>many</a:t>
            </a:r>
            <a:r>
              <a:rPr lang="en-US" sz="2800" spc="-70" dirty="0" smtClean="0">
                <a:latin typeface="Times New Roman"/>
                <a:cs typeface="Times New Roman"/>
              </a:rPr>
              <a:t> </a:t>
            </a:r>
            <a:r>
              <a:rPr lang="en-US" sz="2800" spc="-10" dirty="0" smtClean="0">
                <a:latin typeface="Times New Roman"/>
                <a:cs typeface="Times New Roman"/>
              </a:rPr>
              <a:t>others.</a:t>
            </a:r>
            <a:endParaRPr lang="en-US" sz="2800" dirty="0" smtClean="0">
              <a:latin typeface="Times New Roman"/>
              <a:cs typeface="Times New Roman"/>
            </a:endParaRPr>
          </a:p>
          <a:p>
            <a:pPr marL="240029" marR="1537335" indent="-227965" algn="just">
              <a:lnSpc>
                <a:spcPts val="2690"/>
              </a:lnSpc>
              <a:spcBef>
                <a:spcPts val="740"/>
              </a:spcBef>
              <a:buFont typeface="Arial MT"/>
              <a:buChar char="•"/>
              <a:tabLst>
                <a:tab pos="241300" algn="l"/>
              </a:tabLst>
            </a:pPr>
            <a:endParaRPr sz="2800" dirty="0">
              <a:latin typeface="Times New Roman"/>
              <a:cs typeface="Times New Roman"/>
            </a:endParaRPr>
          </a:p>
        </p:txBody>
      </p:sp>
    </p:spTree>
    <p:extLst>
      <p:ext uri="{BB962C8B-B14F-4D97-AF65-F5344CB8AC3E}">
        <p14:creationId xmlns:p14="http://schemas.microsoft.com/office/powerpoint/2010/main" val="20171281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24994"/>
            <a:ext cx="10358120" cy="994964"/>
          </a:xfrm>
          <a:prstGeom prst="rect">
            <a:avLst/>
          </a:prstGeom>
        </p:spPr>
        <p:txBody>
          <a:bodyPr vert="horz" wrap="square" lIns="0" tIns="314782" rIns="0" bIns="0" rtlCol="0">
            <a:spAutoFit/>
          </a:bodyPr>
          <a:lstStyle/>
          <a:p>
            <a:pPr marL="12700">
              <a:lnSpc>
                <a:spcPct val="100000"/>
              </a:lnSpc>
              <a:spcBef>
                <a:spcPts val="105"/>
              </a:spcBef>
            </a:pPr>
            <a:r>
              <a:rPr lang="en-US" spc="-10" dirty="0" smtClean="0"/>
              <a:t>Continued..</a:t>
            </a:r>
            <a:endParaRPr spc="-10"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3" name="object 3"/>
          <p:cNvSpPr txBox="1"/>
          <p:nvPr/>
        </p:nvSpPr>
        <p:spPr>
          <a:xfrm>
            <a:off x="916939" y="1718586"/>
            <a:ext cx="10238740" cy="3581750"/>
          </a:xfrm>
          <a:prstGeom prst="rect">
            <a:avLst/>
          </a:prstGeom>
        </p:spPr>
        <p:txBody>
          <a:bodyPr vert="horz" wrap="square" lIns="0" tIns="97790" rIns="0" bIns="0" rtlCol="0">
            <a:spAutoFit/>
          </a:bodyPr>
          <a:lstStyle/>
          <a:p>
            <a:pPr marL="240029" marR="5080" indent="-227965">
              <a:lnSpc>
                <a:spcPts val="3020"/>
              </a:lnSpc>
              <a:spcBef>
                <a:spcPts val="480"/>
              </a:spcBef>
              <a:buFont typeface="Arial MT"/>
              <a:buChar char="•"/>
              <a:tabLst>
                <a:tab pos="241300" algn="l"/>
              </a:tabLst>
            </a:pPr>
            <a:r>
              <a:rPr lang="en-US" sz="2800" dirty="0" smtClean="0">
                <a:latin typeface="Times New Roman"/>
                <a:cs typeface="Times New Roman"/>
              </a:rPr>
              <a:t>The</a:t>
            </a:r>
            <a:r>
              <a:rPr lang="en-US" sz="2800" spc="-30" dirty="0" smtClean="0">
                <a:latin typeface="Times New Roman"/>
                <a:cs typeface="Times New Roman"/>
              </a:rPr>
              <a:t> </a:t>
            </a:r>
            <a:r>
              <a:rPr lang="en-US" sz="2800" dirty="0" smtClean="0">
                <a:latin typeface="Times New Roman"/>
                <a:cs typeface="Times New Roman"/>
              </a:rPr>
              <a:t>disturbance</a:t>
            </a:r>
            <a:r>
              <a:rPr lang="en-US" sz="2800" spc="-50" dirty="0" smtClean="0">
                <a:latin typeface="Times New Roman"/>
                <a:cs typeface="Times New Roman"/>
              </a:rPr>
              <a:t> </a:t>
            </a:r>
            <a:r>
              <a:rPr lang="en-US" sz="2800" dirty="0" smtClean="0">
                <a:latin typeface="Times New Roman"/>
                <a:cs typeface="Times New Roman"/>
              </a:rPr>
              <a:t>can</a:t>
            </a:r>
            <a:r>
              <a:rPr lang="en-US" sz="2800" spc="-25" dirty="0" smtClean="0">
                <a:latin typeface="Times New Roman"/>
                <a:cs typeface="Times New Roman"/>
              </a:rPr>
              <a:t> </a:t>
            </a:r>
            <a:r>
              <a:rPr lang="en-US" sz="2800" dirty="0" smtClean="0">
                <a:latin typeface="Times New Roman"/>
                <a:cs typeface="Times New Roman"/>
              </a:rPr>
              <a:t>include</a:t>
            </a:r>
            <a:r>
              <a:rPr lang="en-US" sz="2800" spc="-45" dirty="0" smtClean="0">
                <a:latin typeface="Times New Roman"/>
                <a:cs typeface="Times New Roman"/>
              </a:rPr>
              <a:t> </a:t>
            </a:r>
            <a:r>
              <a:rPr lang="en-US" sz="2800" dirty="0" smtClean="0">
                <a:latin typeface="Times New Roman"/>
                <a:cs typeface="Times New Roman"/>
              </a:rPr>
              <a:t>pranks,</a:t>
            </a:r>
            <a:r>
              <a:rPr lang="en-US" sz="2800" spc="-25" dirty="0" smtClean="0">
                <a:latin typeface="Times New Roman"/>
                <a:cs typeface="Times New Roman"/>
              </a:rPr>
              <a:t> </a:t>
            </a:r>
            <a:r>
              <a:rPr lang="en-US" sz="2800" dirty="0" smtClean="0">
                <a:latin typeface="Times New Roman"/>
                <a:cs typeface="Times New Roman"/>
              </a:rPr>
              <a:t>data</a:t>
            </a:r>
            <a:r>
              <a:rPr lang="en-US" sz="2800" spc="-45" dirty="0" smtClean="0">
                <a:latin typeface="Times New Roman"/>
                <a:cs typeface="Times New Roman"/>
              </a:rPr>
              <a:t> </a:t>
            </a:r>
            <a:r>
              <a:rPr lang="en-US" sz="2800" dirty="0" smtClean="0">
                <a:latin typeface="Times New Roman"/>
                <a:cs typeface="Times New Roman"/>
              </a:rPr>
              <a:t>theft,</a:t>
            </a:r>
            <a:r>
              <a:rPr lang="en-US" sz="2800" spc="-30" dirty="0" smtClean="0">
                <a:latin typeface="Times New Roman"/>
                <a:cs typeface="Times New Roman"/>
              </a:rPr>
              <a:t> </a:t>
            </a:r>
            <a:r>
              <a:rPr lang="en-US" sz="2800" dirty="0" smtClean="0">
                <a:latin typeface="Times New Roman"/>
                <a:cs typeface="Times New Roman"/>
              </a:rPr>
              <a:t>data</a:t>
            </a:r>
            <a:r>
              <a:rPr lang="en-US" sz="2800" spc="-30" dirty="0" smtClean="0">
                <a:latin typeface="Times New Roman"/>
                <a:cs typeface="Times New Roman"/>
              </a:rPr>
              <a:t> </a:t>
            </a:r>
            <a:r>
              <a:rPr lang="en-US" sz="2800" dirty="0" smtClean="0">
                <a:latin typeface="Times New Roman"/>
                <a:cs typeface="Times New Roman"/>
              </a:rPr>
              <a:t>damage,</a:t>
            </a:r>
            <a:r>
              <a:rPr lang="en-US" sz="2800" spc="-10" dirty="0" smtClean="0">
                <a:latin typeface="Times New Roman"/>
                <a:cs typeface="Times New Roman"/>
              </a:rPr>
              <a:t> </a:t>
            </a:r>
            <a:r>
              <a:rPr lang="en-US" sz="2800" dirty="0" smtClean="0">
                <a:latin typeface="Times New Roman"/>
                <a:cs typeface="Times New Roman"/>
              </a:rPr>
              <a:t>service</a:t>
            </a:r>
            <a:r>
              <a:rPr lang="en-US" sz="2800" spc="-40" dirty="0" smtClean="0">
                <a:latin typeface="Times New Roman"/>
                <a:cs typeface="Times New Roman"/>
              </a:rPr>
              <a:t> </a:t>
            </a:r>
            <a:r>
              <a:rPr lang="en-US" sz="2800" dirty="0" smtClean="0">
                <a:latin typeface="Times New Roman"/>
                <a:cs typeface="Times New Roman"/>
              </a:rPr>
              <a:t>blockage,</a:t>
            </a:r>
            <a:r>
              <a:rPr lang="en-US" sz="2800" spc="-30" dirty="0" smtClean="0">
                <a:latin typeface="Times New Roman"/>
                <a:cs typeface="Times New Roman"/>
              </a:rPr>
              <a:t> </a:t>
            </a:r>
            <a:r>
              <a:rPr lang="en-US" sz="2800" dirty="0" smtClean="0">
                <a:latin typeface="Times New Roman"/>
                <a:cs typeface="Times New Roman"/>
              </a:rPr>
              <a:t>and</a:t>
            </a:r>
            <a:r>
              <a:rPr lang="en-US" sz="2800" spc="-15" dirty="0" smtClean="0">
                <a:latin typeface="Times New Roman"/>
                <a:cs typeface="Times New Roman"/>
              </a:rPr>
              <a:t> </a:t>
            </a:r>
            <a:r>
              <a:rPr lang="en-US" sz="2800" dirty="0" smtClean="0">
                <a:latin typeface="Times New Roman"/>
                <a:cs typeface="Times New Roman"/>
              </a:rPr>
              <a:t>spying</a:t>
            </a:r>
            <a:r>
              <a:rPr lang="en-US" sz="2800" spc="-45" dirty="0" smtClean="0">
                <a:latin typeface="Times New Roman"/>
                <a:cs typeface="Times New Roman"/>
              </a:rPr>
              <a:t> </a:t>
            </a:r>
            <a:r>
              <a:rPr lang="en-US" sz="2800" dirty="0" smtClean="0">
                <a:latin typeface="Times New Roman"/>
                <a:cs typeface="Times New Roman"/>
              </a:rPr>
              <a:t>on</a:t>
            </a:r>
            <a:r>
              <a:rPr lang="en-US" sz="2800" spc="-35" dirty="0" smtClean="0">
                <a:latin typeface="Times New Roman"/>
                <a:cs typeface="Times New Roman"/>
              </a:rPr>
              <a:t> </a:t>
            </a:r>
            <a:r>
              <a:rPr lang="en-US" sz="2800" dirty="0" smtClean="0">
                <a:latin typeface="Times New Roman"/>
                <a:cs typeface="Times New Roman"/>
              </a:rPr>
              <a:t>the</a:t>
            </a:r>
            <a:r>
              <a:rPr lang="en-US" sz="2800" spc="-30" dirty="0" smtClean="0">
                <a:latin typeface="Times New Roman"/>
                <a:cs typeface="Times New Roman"/>
              </a:rPr>
              <a:t> </a:t>
            </a:r>
            <a:r>
              <a:rPr lang="en-US" sz="2800" spc="-10" dirty="0" smtClean="0">
                <a:latin typeface="Times New Roman"/>
                <a:cs typeface="Times New Roman"/>
              </a:rPr>
              <a:t>users.</a:t>
            </a:r>
            <a:endParaRPr lang="en-US" sz="2800" dirty="0" smtClean="0">
              <a:latin typeface="Times New Roman"/>
              <a:cs typeface="Times New Roman"/>
            </a:endParaRPr>
          </a:p>
          <a:p>
            <a:pPr marL="240029" marR="264160" indent="-227965">
              <a:lnSpc>
                <a:spcPts val="3020"/>
              </a:lnSpc>
              <a:spcBef>
                <a:spcPts val="1015"/>
              </a:spcBef>
              <a:buFont typeface="Arial MT"/>
              <a:buChar char="•"/>
              <a:tabLst>
                <a:tab pos="241300" algn="l"/>
              </a:tabLst>
            </a:pPr>
            <a:r>
              <a:rPr lang="en-US" sz="2800" dirty="0" smtClean="0">
                <a:latin typeface="Times New Roman"/>
                <a:cs typeface="Times New Roman"/>
              </a:rPr>
              <a:t>All</a:t>
            </a:r>
            <a:r>
              <a:rPr lang="en-US" sz="2800" spc="-25" dirty="0" smtClean="0">
                <a:latin typeface="Times New Roman"/>
                <a:cs typeface="Times New Roman"/>
              </a:rPr>
              <a:t> </a:t>
            </a:r>
            <a:r>
              <a:rPr lang="en-US" sz="2800" dirty="0" smtClean="0">
                <a:latin typeface="Times New Roman"/>
                <a:cs typeface="Times New Roman"/>
              </a:rPr>
              <a:t>those</a:t>
            </a:r>
            <a:r>
              <a:rPr lang="en-US" sz="2800" spc="-40" dirty="0" smtClean="0">
                <a:latin typeface="Times New Roman"/>
                <a:cs typeface="Times New Roman"/>
              </a:rPr>
              <a:t> </a:t>
            </a:r>
            <a:r>
              <a:rPr lang="en-US" sz="2800" dirty="0" smtClean="0">
                <a:latin typeface="Times New Roman"/>
                <a:cs typeface="Times New Roman"/>
              </a:rPr>
              <a:t>malicious</a:t>
            </a:r>
            <a:r>
              <a:rPr lang="en-US" sz="2800" spc="-20" dirty="0" smtClean="0">
                <a:latin typeface="Times New Roman"/>
                <a:cs typeface="Times New Roman"/>
              </a:rPr>
              <a:t> </a:t>
            </a:r>
            <a:r>
              <a:rPr lang="en-US" sz="2800" dirty="0" smtClean="0">
                <a:latin typeface="Times New Roman"/>
                <a:cs typeface="Times New Roman"/>
              </a:rPr>
              <a:t>objectives</a:t>
            </a:r>
            <a:r>
              <a:rPr lang="en-US" sz="2800" spc="-50" dirty="0" smtClean="0">
                <a:latin typeface="Times New Roman"/>
                <a:cs typeface="Times New Roman"/>
              </a:rPr>
              <a:t> </a:t>
            </a:r>
            <a:r>
              <a:rPr lang="en-US" sz="2800" dirty="0" smtClean="0">
                <a:latin typeface="Times New Roman"/>
                <a:cs typeface="Times New Roman"/>
              </a:rPr>
              <a:t>are</a:t>
            </a:r>
            <a:r>
              <a:rPr lang="en-US" sz="2800" spc="-20" dirty="0" smtClean="0">
                <a:latin typeface="Times New Roman"/>
                <a:cs typeface="Times New Roman"/>
              </a:rPr>
              <a:t> </a:t>
            </a:r>
            <a:r>
              <a:rPr lang="en-US" sz="2800" dirty="0" smtClean="0">
                <a:latin typeface="Times New Roman"/>
                <a:cs typeface="Times New Roman"/>
              </a:rPr>
              <a:t>achieved</a:t>
            </a:r>
            <a:r>
              <a:rPr lang="en-US" sz="2800" spc="-35" dirty="0" smtClean="0">
                <a:latin typeface="Times New Roman"/>
                <a:cs typeface="Times New Roman"/>
              </a:rPr>
              <a:t> </a:t>
            </a:r>
            <a:r>
              <a:rPr lang="en-US" sz="2800" dirty="0" smtClean="0">
                <a:latin typeface="Times New Roman"/>
                <a:cs typeface="Times New Roman"/>
              </a:rPr>
              <a:t>by</a:t>
            </a:r>
            <a:r>
              <a:rPr lang="en-US" sz="2800" spc="-15" dirty="0" smtClean="0">
                <a:latin typeface="Times New Roman"/>
                <a:cs typeface="Times New Roman"/>
              </a:rPr>
              <a:t> </a:t>
            </a:r>
            <a:r>
              <a:rPr lang="en-US" sz="2800" dirty="0" smtClean="0">
                <a:latin typeface="Times New Roman"/>
                <a:cs typeface="Times New Roman"/>
              </a:rPr>
              <a:t>introducing</a:t>
            </a:r>
            <a:r>
              <a:rPr lang="en-US" sz="2800" spc="-50" dirty="0" smtClean="0">
                <a:latin typeface="Times New Roman"/>
                <a:cs typeface="Times New Roman"/>
              </a:rPr>
              <a:t> </a:t>
            </a:r>
            <a:r>
              <a:rPr lang="en-US" sz="2800" spc="-10" dirty="0" smtClean="0">
                <a:latin typeface="Times New Roman"/>
                <a:cs typeface="Times New Roman"/>
              </a:rPr>
              <a:t>different 	</a:t>
            </a:r>
            <a:r>
              <a:rPr lang="en-US" sz="2800" dirty="0" smtClean="0">
                <a:latin typeface="Times New Roman"/>
                <a:cs typeface="Times New Roman"/>
              </a:rPr>
              <a:t>kinds</a:t>
            </a:r>
            <a:r>
              <a:rPr lang="en-US" sz="2800" spc="-55" dirty="0" smtClean="0">
                <a:latin typeface="Times New Roman"/>
                <a:cs typeface="Times New Roman"/>
              </a:rPr>
              <a:t> </a:t>
            </a:r>
            <a:r>
              <a:rPr lang="en-US" sz="2800" dirty="0" smtClean="0">
                <a:latin typeface="Times New Roman"/>
                <a:cs typeface="Times New Roman"/>
              </a:rPr>
              <a:t>of</a:t>
            </a:r>
            <a:r>
              <a:rPr lang="en-US" sz="2800" spc="-25" dirty="0" smtClean="0">
                <a:latin typeface="Times New Roman"/>
                <a:cs typeface="Times New Roman"/>
              </a:rPr>
              <a:t> </a:t>
            </a:r>
            <a:r>
              <a:rPr lang="en-US" sz="2800" dirty="0" smtClean="0">
                <a:latin typeface="Times New Roman"/>
                <a:cs typeface="Times New Roman"/>
              </a:rPr>
              <a:t>malicious</a:t>
            </a:r>
            <a:r>
              <a:rPr lang="en-US" sz="2800" spc="-45" dirty="0" smtClean="0">
                <a:latin typeface="Times New Roman"/>
                <a:cs typeface="Times New Roman"/>
              </a:rPr>
              <a:t> </a:t>
            </a:r>
            <a:r>
              <a:rPr lang="en-US" sz="2800" dirty="0" smtClean="0">
                <a:latin typeface="Times New Roman"/>
                <a:cs typeface="Times New Roman"/>
              </a:rPr>
              <a:t>programs,</a:t>
            </a:r>
            <a:r>
              <a:rPr lang="en-US" sz="2800" spc="-30" dirty="0" smtClean="0">
                <a:latin typeface="Times New Roman"/>
                <a:cs typeface="Times New Roman"/>
              </a:rPr>
              <a:t> </a:t>
            </a:r>
            <a:r>
              <a:rPr lang="en-US" sz="2800" dirty="0" smtClean="0">
                <a:latin typeface="Times New Roman"/>
                <a:cs typeface="Times New Roman"/>
              </a:rPr>
              <a:t>which</a:t>
            </a:r>
            <a:r>
              <a:rPr lang="en-US" sz="2800" spc="-45" dirty="0" smtClean="0">
                <a:latin typeface="Times New Roman"/>
                <a:cs typeface="Times New Roman"/>
              </a:rPr>
              <a:t> </a:t>
            </a:r>
            <a:r>
              <a:rPr lang="en-US" sz="2800" dirty="0" smtClean="0">
                <a:latin typeface="Times New Roman"/>
                <a:cs typeface="Times New Roman"/>
              </a:rPr>
              <a:t>are</a:t>
            </a:r>
            <a:r>
              <a:rPr lang="en-US" sz="2800" spc="-40" dirty="0" smtClean="0">
                <a:latin typeface="Times New Roman"/>
                <a:cs typeface="Times New Roman"/>
              </a:rPr>
              <a:t> </a:t>
            </a:r>
            <a:r>
              <a:rPr lang="en-US" sz="2800" dirty="0" smtClean="0">
                <a:latin typeface="Times New Roman"/>
                <a:cs typeface="Times New Roman"/>
              </a:rPr>
              <a:t>classified</a:t>
            </a:r>
            <a:r>
              <a:rPr lang="en-US" sz="2800" spc="-65" dirty="0" smtClean="0">
                <a:latin typeface="Times New Roman"/>
                <a:cs typeface="Times New Roman"/>
              </a:rPr>
              <a:t> </a:t>
            </a:r>
            <a:r>
              <a:rPr lang="en-US" sz="2800" dirty="0" smtClean="0">
                <a:latin typeface="Times New Roman"/>
                <a:cs typeface="Times New Roman"/>
              </a:rPr>
              <a:t>into</a:t>
            </a:r>
            <a:r>
              <a:rPr lang="en-US" sz="2800" spc="-45" dirty="0" smtClean="0">
                <a:latin typeface="Times New Roman"/>
                <a:cs typeface="Times New Roman"/>
              </a:rPr>
              <a:t> </a:t>
            </a:r>
            <a:r>
              <a:rPr lang="en-US" sz="2800" spc="-10" dirty="0" smtClean="0">
                <a:latin typeface="Times New Roman"/>
                <a:cs typeface="Times New Roman"/>
              </a:rPr>
              <a:t>different 	</a:t>
            </a:r>
            <a:r>
              <a:rPr lang="en-US" sz="2800" dirty="0" smtClean="0">
                <a:latin typeface="Times New Roman"/>
                <a:cs typeface="Times New Roman"/>
              </a:rPr>
              <a:t>categories</a:t>
            </a:r>
            <a:r>
              <a:rPr lang="en-US" sz="2800" spc="-40" dirty="0" smtClean="0">
                <a:latin typeface="Times New Roman"/>
                <a:cs typeface="Times New Roman"/>
              </a:rPr>
              <a:t> </a:t>
            </a:r>
            <a:r>
              <a:rPr lang="en-US" sz="2800" dirty="0" smtClean="0">
                <a:latin typeface="Times New Roman"/>
                <a:cs typeface="Times New Roman"/>
              </a:rPr>
              <a:t>in</a:t>
            </a:r>
            <a:r>
              <a:rPr lang="en-US" sz="2800" spc="-30" dirty="0" smtClean="0">
                <a:latin typeface="Times New Roman"/>
                <a:cs typeface="Times New Roman"/>
              </a:rPr>
              <a:t> </a:t>
            </a:r>
            <a:r>
              <a:rPr lang="en-US" sz="2800" dirty="0" smtClean="0">
                <a:latin typeface="Times New Roman"/>
                <a:cs typeface="Times New Roman"/>
              </a:rPr>
              <a:t>the</a:t>
            </a:r>
            <a:r>
              <a:rPr lang="en-US" sz="2800" spc="-45" dirty="0" smtClean="0">
                <a:latin typeface="Times New Roman"/>
                <a:cs typeface="Times New Roman"/>
              </a:rPr>
              <a:t> </a:t>
            </a:r>
            <a:r>
              <a:rPr lang="en-US" sz="2800" dirty="0" smtClean="0">
                <a:latin typeface="Times New Roman"/>
                <a:cs typeface="Times New Roman"/>
              </a:rPr>
              <a:t>field</a:t>
            </a:r>
            <a:r>
              <a:rPr lang="en-US" sz="2800" spc="-25" dirty="0" smtClean="0">
                <a:latin typeface="Times New Roman"/>
                <a:cs typeface="Times New Roman"/>
              </a:rPr>
              <a:t> </a:t>
            </a:r>
            <a:r>
              <a:rPr lang="en-US" sz="2800" dirty="0" smtClean="0">
                <a:latin typeface="Times New Roman"/>
                <a:cs typeface="Times New Roman"/>
              </a:rPr>
              <a:t>of</a:t>
            </a:r>
            <a:r>
              <a:rPr lang="en-US" sz="2800" spc="-35" dirty="0" smtClean="0">
                <a:latin typeface="Times New Roman"/>
                <a:cs typeface="Times New Roman"/>
              </a:rPr>
              <a:t> </a:t>
            </a:r>
            <a:r>
              <a:rPr lang="en-US" sz="2800" dirty="0" smtClean="0">
                <a:latin typeface="Times New Roman"/>
                <a:cs typeface="Times New Roman"/>
              </a:rPr>
              <a:t>information</a:t>
            </a:r>
            <a:r>
              <a:rPr lang="en-US" sz="2800" spc="-10" dirty="0" smtClean="0">
                <a:latin typeface="Times New Roman"/>
                <a:cs typeface="Times New Roman"/>
              </a:rPr>
              <a:t> technology.</a:t>
            </a:r>
            <a:endParaRPr lang="en-US" sz="2800" dirty="0" smtClean="0">
              <a:latin typeface="Times New Roman"/>
              <a:cs typeface="Times New Roman"/>
            </a:endParaRPr>
          </a:p>
          <a:p>
            <a:pPr marL="239395" marR="392430" indent="-227329">
              <a:lnSpc>
                <a:spcPts val="3030"/>
              </a:lnSpc>
              <a:spcBef>
                <a:spcPts val="1005"/>
              </a:spcBef>
              <a:buFont typeface="Arial MT"/>
              <a:buChar char="•"/>
              <a:tabLst>
                <a:tab pos="241300" algn="l"/>
              </a:tabLst>
            </a:pPr>
            <a:r>
              <a:rPr lang="en-US" sz="2800" dirty="0" smtClean="0">
                <a:latin typeface="Times New Roman"/>
                <a:cs typeface="Times New Roman"/>
              </a:rPr>
              <a:t>The</a:t>
            </a:r>
            <a:r>
              <a:rPr lang="en-US" sz="2800" spc="-25" dirty="0" smtClean="0">
                <a:latin typeface="Times New Roman"/>
                <a:cs typeface="Times New Roman"/>
              </a:rPr>
              <a:t> </a:t>
            </a:r>
            <a:r>
              <a:rPr lang="en-US" sz="2800" dirty="0" smtClean="0">
                <a:latin typeface="Times New Roman"/>
                <a:cs typeface="Times New Roman"/>
              </a:rPr>
              <a:t>main</a:t>
            </a:r>
            <a:r>
              <a:rPr lang="en-US" sz="2800" spc="-15" dirty="0" smtClean="0">
                <a:latin typeface="Times New Roman"/>
                <a:cs typeface="Times New Roman"/>
              </a:rPr>
              <a:t> </a:t>
            </a:r>
            <a:r>
              <a:rPr lang="en-US" sz="2800" dirty="0" smtClean="0">
                <a:latin typeface="Times New Roman"/>
                <a:cs typeface="Times New Roman"/>
              </a:rPr>
              <a:t>types</a:t>
            </a:r>
            <a:r>
              <a:rPr lang="en-US" sz="2800" spc="-35" dirty="0" smtClean="0">
                <a:latin typeface="Times New Roman"/>
                <a:cs typeface="Times New Roman"/>
              </a:rPr>
              <a:t> </a:t>
            </a:r>
            <a:r>
              <a:rPr lang="en-US" sz="2800" dirty="0" smtClean="0">
                <a:latin typeface="Times New Roman"/>
                <a:cs typeface="Times New Roman"/>
              </a:rPr>
              <a:t>of</a:t>
            </a:r>
            <a:r>
              <a:rPr lang="en-US" sz="2800" spc="-20" dirty="0" smtClean="0">
                <a:latin typeface="Times New Roman"/>
                <a:cs typeface="Times New Roman"/>
              </a:rPr>
              <a:t> </a:t>
            </a:r>
            <a:r>
              <a:rPr lang="en-US" sz="2800" dirty="0" smtClean="0">
                <a:latin typeface="Times New Roman"/>
                <a:cs typeface="Times New Roman"/>
              </a:rPr>
              <a:t>malware</a:t>
            </a:r>
            <a:r>
              <a:rPr lang="en-US" sz="2800" spc="-15" dirty="0" smtClean="0">
                <a:latin typeface="Times New Roman"/>
                <a:cs typeface="Times New Roman"/>
              </a:rPr>
              <a:t> </a:t>
            </a:r>
            <a:r>
              <a:rPr lang="en-US" sz="2800" dirty="0" smtClean="0">
                <a:latin typeface="Times New Roman"/>
                <a:cs typeface="Times New Roman"/>
              </a:rPr>
              <a:t>software</a:t>
            </a:r>
            <a:r>
              <a:rPr lang="en-US" sz="2800" spc="-25" dirty="0" smtClean="0">
                <a:latin typeface="Times New Roman"/>
                <a:cs typeface="Times New Roman"/>
              </a:rPr>
              <a:t> </a:t>
            </a:r>
            <a:r>
              <a:rPr lang="en-US" sz="2800" dirty="0" smtClean="0">
                <a:latin typeface="Times New Roman"/>
                <a:cs typeface="Times New Roman"/>
              </a:rPr>
              <a:t>programs</a:t>
            </a:r>
            <a:r>
              <a:rPr lang="en-US" sz="2800" spc="-25" dirty="0" smtClean="0">
                <a:latin typeface="Times New Roman"/>
                <a:cs typeface="Times New Roman"/>
              </a:rPr>
              <a:t> </a:t>
            </a:r>
            <a:r>
              <a:rPr lang="en-US" sz="2800" dirty="0" smtClean="0">
                <a:latin typeface="Times New Roman"/>
                <a:cs typeface="Times New Roman"/>
              </a:rPr>
              <a:t>are</a:t>
            </a:r>
            <a:r>
              <a:rPr lang="en-US" sz="2800" spc="-25" dirty="0" smtClean="0">
                <a:latin typeface="Times New Roman"/>
                <a:cs typeface="Times New Roman"/>
              </a:rPr>
              <a:t> </a:t>
            </a:r>
            <a:r>
              <a:rPr lang="en-US" sz="2800" dirty="0" smtClean="0">
                <a:latin typeface="Times New Roman"/>
                <a:cs typeface="Times New Roman"/>
              </a:rPr>
              <a:t>explained</a:t>
            </a:r>
            <a:r>
              <a:rPr lang="en-US" sz="2800" spc="-35" dirty="0" smtClean="0">
                <a:latin typeface="Times New Roman"/>
                <a:cs typeface="Times New Roman"/>
              </a:rPr>
              <a:t> </a:t>
            </a:r>
            <a:r>
              <a:rPr lang="en-US" sz="2800" dirty="0" smtClean="0">
                <a:latin typeface="Times New Roman"/>
                <a:cs typeface="Times New Roman"/>
              </a:rPr>
              <a:t>in</a:t>
            </a:r>
            <a:r>
              <a:rPr lang="en-US" sz="2800" spc="-30" dirty="0" smtClean="0">
                <a:latin typeface="Times New Roman"/>
                <a:cs typeface="Times New Roman"/>
              </a:rPr>
              <a:t> </a:t>
            </a:r>
            <a:r>
              <a:rPr lang="en-US" sz="2800" spc="-25" dirty="0" smtClean="0">
                <a:latin typeface="Times New Roman"/>
                <a:cs typeface="Times New Roman"/>
              </a:rPr>
              <a:t>the 	</a:t>
            </a:r>
            <a:r>
              <a:rPr lang="en-US" sz="2800" dirty="0" smtClean="0">
                <a:latin typeface="Times New Roman"/>
                <a:cs typeface="Times New Roman"/>
              </a:rPr>
              <a:t>subsequent</a:t>
            </a:r>
            <a:r>
              <a:rPr lang="en-US" sz="2800" spc="-55" dirty="0" smtClean="0">
                <a:latin typeface="Times New Roman"/>
                <a:cs typeface="Times New Roman"/>
              </a:rPr>
              <a:t> </a:t>
            </a:r>
            <a:r>
              <a:rPr lang="en-US" sz="2800" spc="-10" dirty="0" smtClean="0">
                <a:latin typeface="Times New Roman"/>
                <a:cs typeface="Times New Roman"/>
              </a:rPr>
              <a:t>sections</a:t>
            </a:r>
            <a:endParaRPr lang="en-US" sz="2800" dirty="0" smtClean="0">
              <a:latin typeface="Times New Roman"/>
              <a:cs typeface="Times New Roman"/>
            </a:endParaRPr>
          </a:p>
          <a:p>
            <a:pPr marL="240665" indent="-227965">
              <a:lnSpc>
                <a:spcPct val="100000"/>
              </a:lnSpc>
              <a:spcBef>
                <a:spcPts val="770"/>
              </a:spcBef>
              <a:buFont typeface="Arial MT"/>
              <a:buChar char="•"/>
              <a:tabLst>
                <a:tab pos="240665" algn="l"/>
              </a:tabLst>
            </a:pPr>
            <a:endParaRPr sz="2800" dirty="0">
              <a:latin typeface="Times New Roman"/>
              <a:cs typeface="Times New Roman"/>
            </a:endParaRPr>
          </a:p>
        </p:txBody>
      </p:sp>
    </p:spTree>
    <p:extLst>
      <p:ext uri="{BB962C8B-B14F-4D97-AF65-F5344CB8AC3E}">
        <p14:creationId xmlns:p14="http://schemas.microsoft.com/office/powerpoint/2010/main" val="23809340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27826" y="609600"/>
            <a:ext cx="10358120" cy="1672073"/>
          </a:xfrm>
          <a:prstGeom prst="rect">
            <a:avLst/>
          </a:prstGeom>
        </p:spPr>
        <p:txBody>
          <a:bodyPr vert="horz" wrap="square" lIns="0" tIns="314782" rIns="0" bIns="0" rtlCol="0">
            <a:spAutoFit/>
          </a:bodyPr>
          <a:lstStyle/>
          <a:p>
            <a:pPr marL="12700">
              <a:lnSpc>
                <a:spcPct val="100000"/>
              </a:lnSpc>
              <a:spcBef>
                <a:spcPts val="105"/>
              </a:spcBef>
            </a:pPr>
            <a:r>
              <a:rPr lang="en-US" spc="-10" dirty="0" smtClean="0"/>
              <a:t>Types of </a:t>
            </a:r>
            <a:r>
              <a:rPr spc="-10" dirty="0" smtClean="0"/>
              <a:t>Ma</a:t>
            </a:r>
            <a:r>
              <a:rPr lang="en-US" spc="-10" dirty="0" smtClean="0"/>
              <a:t>lware </a:t>
            </a:r>
            <a:r>
              <a:rPr spc="-10" dirty="0" smtClean="0"/>
              <a:t>attack</a:t>
            </a:r>
            <a:r>
              <a:rPr lang="en-US" spc="-10" dirty="0" smtClean="0"/>
              <a:t/>
            </a:r>
            <a:br>
              <a:rPr lang="en-US" spc="-10" dirty="0" smtClean="0"/>
            </a:br>
            <a:endParaRPr spc="-10"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3" name="object 3"/>
          <p:cNvSpPr txBox="1"/>
          <p:nvPr/>
        </p:nvSpPr>
        <p:spPr>
          <a:xfrm>
            <a:off x="927826" y="2514600"/>
            <a:ext cx="10017125" cy="1770806"/>
          </a:xfrm>
          <a:prstGeom prst="rect">
            <a:avLst/>
          </a:prstGeom>
        </p:spPr>
        <p:txBody>
          <a:bodyPr vert="horz" wrap="square" lIns="0" tIns="93980" rIns="0" bIns="0" rtlCol="0">
            <a:spAutoFit/>
          </a:bodyPr>
          <a:lstStyle/>
          <a:p>
            <a:pPr marL="755014" marR="1537335" indent="-742950" algn="l">
              <a:lnSpc>
                <a:spcPts val="2690"/>
              </a:lnSpc>
              <a:spcBef>
                <a:spcPts val="740"/>
              </a:spcBef>
              <a:buFont typeface="+mj-lt"/>
              <a:buAutoNum type="arabicParenR"/>
              <a:tabLst>
                <a:tab pos="241300" algn="l"/>
              </a:tabLst>
            </a:pPr>
            <a:r>
              <a:rPr lang="en-US" sz="4000" dirty="0" smtClean="0">
                <a:latin typeface="Times New Roman"/>
                <a:cs typeface="Times New Roman"/>
              </a:rPr>
              <a:t>Viruses</a:t>
            </a:r>
          </a:p>
          <a:p>
            <a:pPr marL="755014" marR="1537335" indent="-742950" algn="l">
              <a:lnSpc>
                <a:spcPts val="2690"/>
              </a:lnSpc>
              <a:spcBef>
                <a:spcPts val="740"/>
              </a:spcBef>
              <a:buFont typeface="+mj-lt"/>
              <a:buAutoNum type="arabicParenR"/>
              <a:tabLst>
                <a:tab pos="241300" algn="l"/>
              </a:tabLst>
            </a:pPr>
            <a:r>
              <a:rPr lang="en-US" sz="4000" dirty="0" smtClean="0">
                <a:latin typeface="Times New Roman"/>
                <a:cs typeface="Times New Roman"/>
              </a:rPr>
              <a:t>Trojan Horse</a:t>
            </a:r>
          </a:p>
          <a:p>
            <a:pPr marL="755014" marR="1537335" indent="-742950" algn="l">
              <a:lnSpc>
                <a:spcPts val="2690"/>
              </a:lnSpc>
              <a:spcBef>
                <a:spcPts val="740"/>
              </a:spcBef>
              <a:buFont typeface="+mj-lt"/>
              <a:buAutoNum type="arabicParenR"/>
              <a:tabLst>
                <a:tab pos="241300" algn="l"/>
              </a:tabLst>
            </a:pPr>
            <a:r>
              <a:rPr lang="en-US" sz="4000" dirty="0" smtClean="0">
                <a:latin typeface="Times New Roman"/>
                <a:cs typeface="Times New Roman"/>
              </a:rPr>
              <a:t>Rootkit </a:t>
            </a:r>
          </a:p>
          <a:p>
            <a:pPr marL="755014" marR="1537335" indent="-742950" algn="l">
              <a:lnSpc>
                <a:spcPts val="2690"/>
              </a:lnSpc>
              <a:spcBef>
                <a:spcPts val="740"/>
              </a:spcBef>
              <a:buFont typeface="+mj-lt"/>
              <a:buAutoNum type="arabicParenR"/>
              <a:tabLst>
                <a:tab pos="241300" algn="l"/>
              </a:tabLst>
            </a:pPr>
            <a:r>
              <a:rPr lang="en-US" sz="4000" dirty="0" smtClean="0">
                <a:latin typeface="Times New Roman"/>
                <a:cs typeface="Times New Roman"/>
              </a:rPr>
              <a:t>Spyware</a:t>
            </a:r>
            <a:endParaRPr lang="en-US" sz="4000" dirty="0">
              <a:latin typeface="Times New Roman"/>
              <a:cs typeface="Times New Roman"/>
            </a:endParaRPr>
          </a:p>
        </p:txBody>
      </p:sp>
    </p:spTree>
    <p:extLst>
      <p:ext uri="{BB962C8B-B14F-4D97-AF65-F5344CB8AC3E}">
        <p14:creationId xmlns:p14="http://schemas.microsoft.com/office/powerpoint/2010/main" val="37309358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24994"/>
            <a:ext cx="10358120" cy="982653"/>
          </a:xfrm>
          <a:prstGeom prst="rect">
            <a:avLst/>
          </a:prstGeom>
        </p:spPr>
        <p:txBody>
          <a:bodyPr vert="horz" wrap="square" lIns="0" tIns="302590" rIns="0" bIns="0" rtlCol="0">
            <a:spAutoFit/>
          </a:bodyPr>
          <a:lstStyle/>
          <a:p>
            <a:pPr marL="12700" algn="ctr">
              <a:lnSpc>
                <a:spcPct val="100000"/>
              </a:lnSpc>
              <a:spcBef>
                <a:spcPts val="105"/>
              </a:spcBef>
            </a:pPr>
            <a:r>
              <a:rPr lang="en-US" spc="-10" dirty="0"/>
              <a:t>VIRUSES</a:t>
            </a:r>
            <a:endParaRPr spc="-10"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500188"/>
            <a:ext cx="7772400" cy="3865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601919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24994"/>
            <a:ext cx="10358120" cy="994964"/>
          </a:xfrm>
          <a:prstGeom prst="rect">
            <a:avLst/>
          </a:prstGeom>
        </p:spPr>
        <p:txBody>
          <a:bodyPr vert="horz" wrap="square" lIns="0" tIns="314782" rIns="0" bIns="0" rtlCol="0">
            <a:spAutoFit/>
          </a:bodyPr>
          <a:lstStyle/>
          <a:p>
            <a:pPr marL="12700" algn="ctr">
              <a:lnSpc>
                <a:spcPct val="100000"/>
              </a:lnSpc>
              <a:spcBef>
                <a:spcPts val="105"/>
              </a:spcBef>
            </a:pPr>
            <a:r>
              <a:rPr lang="en-US" spc="-10" dirty="0"/>
              <a:t>VIRUSES</a:t>
            </a:r>
            <a:endParaRPr spc="-50"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3" name="object 3"/>
          <p:cNvSpPr txBox="1"/>
          <p:nvPr/>
        </p:nvSpPr>
        <p:spPr>
          <a:xfrm>
            <a:off x="916943" y="1804166"/>
            <a:ext cx="10034271" cy="3802066"/>
          </a:xfrm>
          <a:prstGeom prst="rect">
            <a:avLst/>
          </a:prstGeom>
        </p:spPr>
        <p:txBody>
          <a:bodyPr vert="horz" wrap="square" lIns="0" tIns="60960" rIns="0" bIns="0" rtlCol="0">
            <a:spAutoFit/>
          </a:bodyPr>
          <a:lstStyle/>
          <a:p>
            <a:pPr marL="240029" marR="17145" indent="-227965" algn="just">
              <a:lnSpc>
                <a:spcPct val="90000"/>
              </a:lnSpc>
              <a:spcBef>
                <a:spcPts val="430"/>
              </a:spcBef>
              <a:buFont typeface="Arial MT"/>
              <a:buChar char="•"/>
              <a:tabLst>
                <a:tab pos="241300" algn="l"/>
              </a:tabLst>
            </a:pPr>
            <a:r>
              <a:rPr lang="en-US" sz="2800" spc="-25" dirty="0" smtClean="0">
                <a:latin typeface="Times New Roman"/>
                <a:cs typeface="Times New Roman"/>
              </a:rPr>
              <a:t>A</a:t>
            </a:r>
            <a:r>
              <a:rPr lang="en-US" sz="2800" spc="-155" dirty="0" smtClean="0">
                <a:latin typeface="Times New Roman"/>
                <a:cs typeface="Times New Roman"/>
              </a:rPr>
              <a:t> </a:t>
            </a:r>
            <a:r>
              <a:rPr lang="en-US" sz="2800" i="1" u="sng" spc="-10" dirty="0" smtClean="0">
                <a:uFill>
                  <a:solidFill>
                    <a:srgbClr val="000000"/>
                  </a:solidFill>
                </a:uFill>
                <a:latin typeface="Times New Roman"/>
                <a:cs typeface="Times New Roman"/>
              </a:rPr>
              <a:t>computer</a:t>
            </a:r>
            <a:r>
              <a:rPr lang="en-US" sz="2800" i="1" u="sng" spc="-5" dirty="0" smtClean="0">
                <a:uFill>
                  <a:solidFill>
                    <a:srgbClr val="000000"/>
                  </a:solidFill>
                </a:uFill>
                <a:latin typeface="Times New Roman"/>
                <a:cs typeface="Times New Roman"/>
              </a:rPr>
              <a:t> </a:t>
            </a:r>
            <a:r>
              <a:rPr lang="en-US" sz="2800" i="1" u="sng" dirty="0" smtClean="0">
                <a:uFill>
                  <a:solidFill>
                    <a:srgbClr val="000000"/>
                  </a:solidFill>
                </a:uFill>
                <a:latin typeface="Times New Roman"/>
                <a:cs typeface="Times New Roman"/>
              </a:rPr>
              <a:t>virus</a:t>
            </a:r>
            <a:r>
              <a:rPr lang="en-US" sz="2800" i="1" spc="-5" dirty="0" smtClean="0">
                <a:latin typeface="Times New Roman"/>
                <a:cs typeface="Times New Roman"/>
              </a:rPr>
              <a:t> </a:t>
            </a:r>
            <a:r>
              <a:rPr lang="en-US" sz="2800" dirty="0" smtClean="0">
                <a:latin typeface="Times New Roman"/>
                <a:cs typeface="Times New Roman"/>
              </a:rPr>
              <a:t>is</a:t>
            </a:r>
            <a:r>
              <a:rPr lang="en-US" sz="2800" spc="-5" dirty="0" smtClean="0">
                <a:latin typeface="Times New Roman"/>
                <a:cs typeface="Times New Roman"/>
              </a:rPr>
              <a:t> </a:t>
            </a:r>
            <a:r>
              <a:rPr lang="en-US" sz="2800" dirty="0" smtClean="0">
                <a:latin typeface="Times New Roman"/>
                <a:cs typeface="Times New Roman"/>
              </a:rPr>
              <a:t>a</a:t>
            </a:r>
            <a:r>
              <a:rPr lang="en-US" sz="2800" spc="-10" dirty="0" smtClean="0">
                <a:latin typeface="Times New Roman"/>
                <a:cs typeface="Times New Roman"/>
              </a:rPr>
              <a:t> </a:t>
            </a:r>
            <a:r>
              <a:rPr lang="en-US" sz="2800" spc="-15" dirty="0" smtClean="0">
                <a:latin typeface="Times New Roman"/>
                <a:cs typeface="Times New Roman"/>
              </a:rPr>
              <a:t>m</a:t>
            </a:r>
            <a:r>
              <a:rPr lang="en-US" sz="2800" dirty="0" smtClean="0">
                <a:latin typeface="Times New Roman"/>
                <a:cs typeface="Times New Roman"/>
              </a:rPr>
              <a:t>alicio</a:t>
            </a:r>
            <a:r>
              <a:rPr lang="en-US" sz="2800" spc="5" dirty="0" smtClean="0">
                <a:latin typeface="Times New Roman"/>
                <a:cs typeface="Times New Roman"/>
              </a:rPr>
              <a:t>u</a:t>
            </a:r>
            <a:r>
              <a:rPr lang="en-US" sz="2800" dirty="0" smtClean="0">
                <a:latin typeface="Times New Roman"/>
                <a:cs typeface="Times New Roman"/>
              </a:rPr>
              <a:t>s</a:t>
            </a:r>
            <a:r>
              <a:rPr lang="en-US" sz="2800" spc="-15" dirty="0" smtClean="0">
                <a:latin typeface="Times New Roman"/>
                <a:cs typeface="Times New Roman"/>
              </a:rPr>
              <a:t> </a:t>
            </a:r>
            <a:r>
              <a:rPr lang="en-US" sz="2800" spc="-10" dirty="0" smtClean="0">
                <a:latin typeface="Times New Roman"/>
                <a:cs typeface="Times New Roman"/>
              </a:rPr>
              <a:t>computer</a:t>
            </a:r>
            <a:r>
              <a:rPr lang="en-US" sz="2800" spc="5" dirty="0" smtClean="0">
                <a:latin typeface="Times New Roman"/>
                <a:cs typeface="Times New Roman"/>
              </a:rPr>
              <a:t> </a:t>
            </a:r>
            <a:r>
              <a:rPr lang="en-US" sz="2800" spc="-15" dirty="0" smtClean="0">
                <a:latin typeface="Times New Roman"/>
                <a:cs typeface="Times New Roman"/>
              </a:rPr>
              <a:t>program,</a:t>
            </a:r>
            <a:r>
              <a:rPr lang="en-US" sz="2800" spc="-5" dirty="0" smtClean="0">
                <a:latin typeface="Times New Roman"/>
                <a:cs typeface="Times New Roman"/>
              </a:rPr>
              <a:t> </a:t>
            </a:r>
            <a:r>
              <a:rPr lang="en-US" sz="2800" spc="-10" dirty="0" smtClean="0">
                <a:latin typeface="Times New Roman"/>
                <a:cs typeface="Times New Roman"/>
              </a:rPr>
              <a:t>which</a:t>
            </a:r>
            <a:r>
              <a:rPr lang="en-US" sz="2800" spc="-5" dirty="0" smtClean="0">
                <a:latin typeface="Times New Roman"/>
                <a:cs typeface="Times New Roman"/>
              </a:rPr>
              <a:t> </a:t>
            </a:r>
            <a:r>
              <a:rPr lang="en-US" sz="2800" dirty="0" smtClean="0">
                <a:latin typeface="Times New Roman"/>
                <a:cs typeface="Times New Roman"/>
              </a:rPr>
              <a:t>is</a:t>
            </a:r>
            <a:r>
              <a:rPr lang="en-US" sz="2800" spc="-5" dirty="0" smtClean="0">
                <a:latin typeface="Times New Roman"/>
                <a:cs typeface="Times New Roman"/>
              </a:rPr>
              <a:t> </a:t>
            </a:r>
            <a:r>
              <a:rPr lang="en-US" sz="2800" dirty="0" smtClean="0">
                <a:latin typeface="Times New Roman"/>
                <a:cs typeface="Times New Roman"/>
              </a:rPr>
              <a:t>designed 	to</a:t>
            </a:r>
            <a:r>
              <a:rPr lang="en-US" sz="2800" spc="-5" dirty="0" smtClean="0">
                <a:latin typeface="Times New Roman"/>
                <a:cs typeface="Times New Roman"/>
              </a:rPr>
              <a:t> </a:t>
            </a:r>
            <a:r>
              <a:rPr lang="en-US" sz="2800" dirty="0" smtClean="0">
                <a:latin typeface="Times New Roman"/>
                <a:cs typeface="Times New Roman"/>
              </a:rPr>
              <a:t>alter</a:t>
            </a:r>
            <a:r>
              <a:rPr lang="en-US" sz="2800" spc="-20" dirty="0" smtClean="0">
                <a:latin typeface="Times New Roman"/>
                <a:cs typeface="Times New Roman"/>
              </a:rPr>
              <a:t> </a:t>
            </a:r>
            <a:r>
              <a:rPr lang="en-US" sz="2800" dirty="0" smtClean="0">
                <a:latin typeface="Times New Roman"/>
                <a:cs typeface="Times New Roman"/>
              </a:rPr>
              <a:t>the</a:t>
            </a:r>
            <a:r>
              <a:rPr lang="en-US" sz="2800" spc="-5" dirty="0" smtClean="0">
                <a:latin typeface="Times New Roman"/>
                <a:cs typeface="Times New Roman"/>
              </a:rPr>
              <a:t> </a:t>
            </a:r>
            <a:r>
              <a:rPr lang="en-US" sz="2800" spc="-10" dirty="0" smtClean="0">
                <a:latin typeface="Times New Roman"/>
                <a:cs typeface="Times New Roman"/>
              </a:rPr>
              <a:t>computer</a:t>
            </a:r>
            <a:r>
              <a:rPr lang="en-US" sz="2800" spc="15" dirty="0" smtClean="0">
                <a:latin typeface="Times New Roman"/>
                <a:cs typeface="Times New Roman"/>
              </a:rPr>
              <a:t> </a:t>
            </a:r>
            <a:r>
              <a:rPr lang="en-US" sz="2800" spc="-5" dirty="0" smtClean="0">
                <a:latin typeface="Times New Roman"/>
                <a:cs typeface="Times New Roman"/>
              </a:rPr>
              <a:t>functions,</a:t>
            </a:r>
            <a:r>
              <a:rPr lang="en-US" sz="2800" spc="-30" dirty="0" smtClean="0">
                <a:latin typeface="Times New Roman"/>
                <a:cs typeface="Times New Roman"/>
              </a:rPr>
              <a:t> </a:t>
            </a:r>
            <a:r>
              <a:rPr lang="en-US" sz="2800" spc="-5" dirty="0" smtClean="0">
                <a:latin typeface="Times New Roman"/>
                <a:cs typeface="Times New Roman"/>
              </a:rPr>
              <a:t>slow </a:t>
            </a:r>
            <a:r>
              <a:rPr lang="en-US" sz="2800" spc="-20" dirty="0" smtClean="0">
                <a:latin typeface="Times New Roman"/>
                <a:cs typeface="Times New Roman"/>
              </a:rPr>
              <a:t>down</a:t>
            </a:r>
            <a:r>
              <a:rPr lang="en-US" sz="2800" spc="-5" dirty="0" smtClean="0">
                <a:latin typeface="Times New Roman"/>
                <a:cs typeface="Times New Roman"/>
              </a:rPr>
              <a:t> </a:t>
            </a:r>
            <a:r>
              <a:rPr lang="en-US" sz="2800" dirty="0" smtClean="0">
                <a:latin typeface="Times New Roman"/>
                <a:cs typeface="Times New Roman"/>
              </a:rPr>
              <a:t>the</a:t>
            </a:r>
            <a:r>
              <a:rPr lang="en-US" sz="2800" spc="-5" dirty="0" smtClean="0">
                <a:latin typeface="Times New Roman"/>
                <a:cs typeface="Times New Roman"/>
              </a:rPr>
              <a:t> </a:t>
            </a:r>
            <a:r>
              <a:rPr lang="en-US" sz="2800" spc="-10" dirty="0" smtClean="0">
                <a:latin typeface="Times New Roman"/>
                <a:cs typeface="Times New Roman"/>
              </a:rPr>
              <a:t>computer</a:t>
            </a:r>
            <a:r>
              <a:rPr lang="en-US" sz="2800" spc="-5" dirty="0" smtClean="0">
                <a:latin typeface="Times New Roman"/>
                <a:cs typeface="Times New Roman"/>
              </a:rPr>
              <a:t> </a:t>
            </a:r>
            <a:r>
              <a:rPr lang="en-US" sz="2800" spc="-10" dirty="0" smtClean="0">
                <a:latin typeface="Times New Roman"/>
                <a:cs typeface="Times New Roman"/>
              </a:rPr>
              <a:t>performance, </a:t>
            </a:r>
            <a:r>
              <a:rPr lang="en-US" sz="2800" spc="-15" dirty="0" smtClean="0">
                <a:latin typeface="Times New Roman"/>
                <a:cs typeface="Times New Roman"/>
              </a:rPr>
              <a:t>and</a:t>
            </a:r>
            <a:r>
              <a:rPr lang="en-US" sz="2800" spc="-5" dirty="0" smtClean="0">
                <a:latin typeface="Times New Roman"/>
                <a:cs typeface="Times New Roman"/>
              </a:rPr>
              <a:t> damage </a:t>
            </a:r>
            <a:r>
              <a:rPr lang="en-US" sz="2800" dirty="0" smtClean="0">
                <a:latin typeface="Times New Roman"/>
                <a:cs typeface="Times New Roman"/>
              </a:rPr>
              <a:t>t</a:t>
            </a:r>
            <a:r>
              <a:rPr lang="en-US" sz="2800" spc="10" dirty="0" smtClean="0">
                <a:latin typeface="Times New Roman"/>
                <a:cs typeface="Times New Roman"/>
              </a:rPr>
              <a:t>h</a:t>
            </a:r>
            <a:r>
              <a:rPr lang="en-US" sz="2800" dirty="0" smtClean="0">
                <a:latin typeface="Times New Roman"/>
                <a:cs typeface="Times New Roman"/>
              </a:rPr>
              <a:t>e</a:t>
            </a:r>
            <a:r>
              <a:rPr lang="en-US" sz="2800" spc="-10" dirty="0" smtClean="0">
                <a:latin typeface="Times New Roman"/>
                <a:cs typeface="Times New Roman"/>
              </a:rPr>
              <a:t> </a:t>
            </a:r>
            <a:r>
              <a:rPr lang="en-US" sz="2800" dirty="0" smtClean="0">
                <a:latin typeface="Times New Roman"/>
                <a:cs typeface="Times New Roman"/>
              </a:rPr>
              <a:t>val</a:t>
            </a:r>
            <a:r>
              <a:rPr lang="en-US" sz="2800" spc="5" dirty="0" smtClean="0">
                <a:latin typeface="Times New Roman"/>
                <a:cs typeface="Times New Roman"/>
              </a:rPr>
              <a:t>u</a:t>
            </a:r>
            <a:r>
              <a:rPr lang="en-US" sz="2800" dirty="0" smtClean="0">
                <a:latin typeface="Times New Roman"/>
                <a:cs typeface="Times New Roman"/>
              </a:rPr>
              <a:t>able</a:t>
            </a:r>
            <a:r>
              <a:rPr lang="en-US" sz="2800" spc="-20" dirty="0" smtClean="0">
                <a:latin typeface="Times New Roman"/>
                <a:cs typeface="Times New Roman"/>
              </a:rPr>
              <a:t> </a:t>
            </a:r>
            <a:r>
              <a:rPr lang="en-US" sz="2800" spc="-5" dirty="0" smtClean="0">
                <a:latin typeface="Times New Roman"/>
                <a:cs typeface="Times New Roman"/>
              </a:rPr>
              <a:t>files</a:t>
            </a:r>
            <a:r>
              <a:rPr lang="en-US" sz="2800" spc="-20" dirty="0" smtClean="0">
                <a:latin typeface="Times New Roman"/>
                <a:cs typeface="Times New Roman"/>
              </a:rPr>
              <a:t> </a:t>
            </a:r>
            <a:r>
              <a:rPr lang="en-US" sz="2800" spc="-15" dirty="0" smtClean="0">
                <a:latin typeface="Times New Roman"/>
                <a:cs typeface="Times New Roman"/>
              </a:rPr>
              <a:t>on</a:t>
            </a:r>
            <a:r>
              <a:rPr lang="en-US" sz="2800" spc="5" dirty="0" smtClean="0">
                <a:latin typeface="Times New Roman"/>
                <a:cs typeface="Times New Roman"/>
              </a:rPr>
              <a:t> </a:t>
            </a:r>
            <a:r>
              <a:rPr lang="en-US" sz="2800" dirty="0" smtClean="0">
                <a:latin typeface="Times New Roman"/>
                <a:cs typeface="Times New Roman"/>
              </a:rPr>
              <a:t>the</a:t>
            </a:r>
            <a:r>
              <a:rPr lang="en-US" sz="2800" spc="-15" dirty="0" smtClean="0">
                <a:latin typeface="Times New Roman"/>
                <a:cs typeface="Times New Roman"/>
              </a:rPr>
              <a:t> </a:t>
            </a:r>
            <a:r>
              <a:rPr lang="en-US" sz="2800" spc="-10" dirty="0" smtClean="0">
                <a:latin typeface="Times New Roman"/>
                <a:cs typeface="Times New Roman"/>
              </a:rPr>
              <a:t>computer</a:t>
            </a:r>
            <a:r>
              <a:rPr lang="en-US" sz="2800" spc="35" dirty="0" smtClean="0">
                <a:latin typeface="Times New Roman"/>
                <a:cs typeface="Times New Roman"/>
              </a:rPr>
              <a:t> </a:t>
            </a:r>
            <a:r>
              <a:rPr lang="en-US" sz="2800" spc="-10" dirty="0" smtClean="0">
                <a:latin typeface="Times New Roman"/>
                <a:cs typeface="Times New Roman"/>
              </a:rPr>
              <a:t>drive.</a:t>
            </a:r>
            <a:endParaRPr lang="en-US" sz="2800" dirty="0" smtClean="0">
              <a:latin typeface="Times New Roman"/>
              <a:cs typeface="Times New Roman"/>
            </a:endParaRPr>
          </a:p>
          <a:p>
            <a:pPr marL="240029" marR="234315" indent="-227965">
              <a:lnSpc>
                <a:spcPct val="90000"/>
              </a:lnSpc>
              <a:spcBef>
                <a:spcPts val="1010"/>
              </a:spcBef>
              <a:buFont typeface="Arial MT"/>
              <a:buChar char="•"/>
              <a:tabLst>
                <a:tab pos="241300" algn="l"/>
              </a:tabLst>
            </a:pPr>
            <a:r>
              <a:rPr lang="en-US" sz="2800" dirty="0" smtClean="0">
                <a:latin typeface="Times New Roman"/>
                <a:cs typeface="Times New Roman"/>
              </a:rPr>
              <a:t>The</a:t>
            </a:r>
            <a:r>
              <a:rPr lang="en-US" sz="2800" spc="-45" dirty="0" smtClean="0">
                <a:latin typeface="Times New Roman"/>
                <a:cs typeface="Times New Roman"/>
              </a:rPr>
              <a:t> </a:t>
            </a:r>
            <a:r>
              <a:rPr lang="en-US" sz="2800" dirty="0" smtClean="0">
                <a:latin typeface="Times New Roman"/>
                <a:cs typeface="Times New Roman"/>
              </a:rPr>
              <a:t>virus</a:t>
            </a:r>
            <a:r>
              <a:rPr lang="en-US" sz="2800" spc="-50" dirty="0" smtClean="0">
                <a:latin typeface="Times New Roman"/>
                <a:cs typeface="Times New Roman"/>
              </a:rPr>
              <a:t> </a:t>
            </a:r>
            <a:r>
              <a:rPr lang="en-US" sz="2800" dirty="0" smtClean="0">
                <a:latin typeface="Times New Roman"/>
                <a:cs typeface="Times New Roman"/>
              </a:rPr>
              <a:t>programs</a:t>
            </a:r>
            <a:r>
              <a:rPr lang="en-US" sz="2800" spc="-45" dirty="0" smtClean="0">
                <a:latin typeface="Times New Roman"/>
                <a:cs typeface="Times New Roman"/>
              </a:rPr>
              <a:t> </a:t>
            </a:r>
            <a:r>
              <a:rPr lang="en-US" sz="2800" dirty="0" smtClean="0">
                <a:latin typeface="Times New Roman"/>
                <a:cs typeface="Times New Roman"/>
              </a:rPr>
              <a:t>are</a:t>
            </a:r>
            <a:r>
              <a:rPr lang="en-US" sz="2800" spc="-25" dirty="0" smtClean="0">
                <a:latin typeface="Times New Roman"/>
                <a:cs typeface="Times New Roman"/>
              </a:rPr>
              <a:t> </a:t>
            </a:r>
            <a:r>
              <a:rPr lang="en-US" sz="2800" i="1" u="sng" dirty="0" smtClean="0">
                <a:uFill>
                  <a:solidFill>
                    <a:srgbClr val="000000"/>
                  </a:solidFill>
                </a:uFill>
                <a:latin typeface="Times New Roman"/>
                <a:cs typeface="Times New Roman"/>
              </a:rPr>
              <a:t>executable</a:t>
            </a:r>
            <a:r>
              <a:rPr lang="en-US" sz="2800" i="1" u="sng" spc="-60" dirty="0" smtClean="0">
                <a:uFill>
                  <a:solidFill>
                    <a:srgbClr val="000000"/>
                  </a:solidFill>
                </a:uFill>
                <a:latin typeface="Times New Roman"/>
                <a:cs typeface="Times New Roman"/>
              </a:rPr>
              <a:t> </a:t>
            </a:r>
            <a:r>
              <a:rPr lang="en-US" sz="2800" i="1" u="sng" dirty="0" smtClean="0">
                <a:uFill>
                  <a:solidFill>
                    <a:srgbClr val="000000"/>
                  </a:solidFill>
                </a:uFill>
                <a:latin typeface="Times New Roman"/>
                <a:cs typeface="Times New Roman"/>
              </a:rPr>
              <a:t>files</a:t>
            </a:r>
            <a:r>
              <a:rPr lang="en-US" sz="2800" i="1" spc="-40" dirty="0" smtClean="0">
                <a:latin typeface="Times New Roman"/>
                <a:cs typeface="Times New Roman"/>
              </a:rPr>
              <a:t> </a:t>
            </a:r>
            <a:r>
              <a:rPr lang="en-US" sz="2800" dirty="0" smtClean="0">
                <a:latin typeface="Times New Roman"/>
                <a:cs typeface="Times New Roman"/>
              </a:rPr>
              <a:t>when</a:t>
            </a:r>
            <a:r>
              <a:rPr lang="en-US" sz="2800" spc="-30" dirty="0" smtClean="0">
                <a:latin typeface="Times New Roman"/>
                <a:cs typeface="Times New Roman"/>
              </a:rPr>
              <a:t> </a:t>
            </a:r>
            <a:r>
              <a:rPr lang="en-US" sz="2800" dirty="0" smtClean="0">
                <a:latin typeface="Times New Roman"/>
                <a:cs typeface="Times New Roman"/>
              </a:rPr>
              <a:t>run</a:t>
            </a:r>
            <a:r>
              <a:rPr lang="en-US" sz="2800" spc="-50" dirty="0" smtClean="0">
                <a:latin typeface="Times New Roman"/>
                <a:cs typeface="Times New Roman"/>
              </a:rPr>
              <a:t> </a:t>
            </a:r>
            <a:r>
              <a:rPr lang="en-US" sz="2800" dirty="0" smtClean="0">
                <a:latin typeface="Times New Roman"/>
                <a:cs typeface="Times New Roman"/>
              </a:rPr>
              <a:t>on</a:t>
            </a:r>
            <a:r>
              <a:rPr lang="en-US" sz="2800" spc="-35" dirty="0" smtClean="0">
                <a:latin typeface="Times New Roman"/>
                <a:cs typeface="Times New Roman"/>
              </a:rPr>
              <a:t> </a:t>
            </a:r>
            <a:r>
              <a:rPr lang="en-US" sz="2800" dirty="0" smtClean="0">
                <a:latin typeface="Times New Roman"/>
                <a:cs typeface="Times New Roman"/>
              </a:rPr>
              <a:t>any</a:t>
            </a:r>
            <a:r>
              <a:rPr lang="en-US" sz="2800" spc="-35" dirty="0" smtClean="0">
                <a:latin typeface="Times New Roman"/>
                <a:cs typeface="Times New Roman"/>
              </a:rPr>
              <a:t> </a:t>
            </a:r>
            <a:r>
              <a:rPr lang="en-US" sz="2800" dirty="0" smtClean="0">
                <a:latin typeface="Times New Roman"/>
                <a:cs typeface="Times New Roman"/>
              </a:rPr>
              <a:t>machine</a:t>
            </a:r>
            <a:r>
              <a:rPr lang="en-US" sz="2800" spc="-40" dirty="0" smtClean="0">
                <a:latin typeface="Times New Roman"/>
                <a:cs typeface="Times New Roman"/>
              </a:rPr>
              <a:t> </a:t>
            </a:r>
            <a:r>
              <a:rPr lang="en-US" sz="2800" spc="-25" dirty="0" smtClean="0">
                <a:latin typeface="Times New Roman"/>
                <a:cs typeface="Times New Roman"/>
              </a:rPr>
              <a:t>by 	</a:t>
            </a:r>
            <a:r>
              <a:rPr lang="en-US" sz="2800" dirty="0" smtClean="0">
                <a:latin typeface="Times New Roman"/>
                <a:cs typeface="Times New Roman"/>
              </a:rPr>
              <a:t>mistake,</a:t>
            </a:r>
            <a:r>
              <a:rPr lang="en-US" sz="2800" spc="-30" dirty="0" smtClean="0">
                <a:latin typeface="Times New Roman"/>
                <a:cs typeface="Times New Roman"/>
              </a:rPr>
              <a:t> </a:t>
            </a:r>
            <a:r>
              <a:rPr lang="en-US" sz="2800" dirty="0" smtClean="0">
                <a:latin typeface="Times New Roman"/>
                <a:cs typeface="Times New Roman"/>
              </a:rPr>
              <a:t>or</a:t>
            </a:r>
            <a:r>
              <a:rPr lang="en-US" sz="2800" spc="-20" dirty="0" smtClean="0">
                <a:latin typeface="Times New Roman"/>
                <a:cs typeface="Times New Roman"/>
              </a:rPr>
              <a:t> </a:t>
            </a:r>
            <a:r>
              <a:rPr lang="en-US" sz="2800" dirty="0" smtClean="0">
                <a:latin typeface="Times New Roman"/>
                <a:cs typeface="Times New Roman"/>
              </a:rPr>
              <a:t>through</a:t>
            </a:r>
            <a:r>
              <a:rPr lang="en-US" sz="2800" spc="-45" dirty="0" smtClean="0">
                <a:latin typeface="Times New Roman"/>
                <a:cs typeface="Times New Roman"/>
              </a:rPr>
              <a:t> </a:t>
            </a:r>
            <a:r>
              <a:rPr lang="en-US" sz="2800" dirty="0" smtClean="0">
                <a:latin typeface="Times New Roman"/>
                <a:cs typeface="Times New Roman"/>
              </a:rPr>
              <a:t>any</a:t>
            </a:r>
            <a:r>
              <a:rPr lang="en-US" sz="2800" spc="-30" dirty="0" smtClean="0">
                <a:latin typeface="Times New Roman"/>
                <a:cs typeface="Times New Roman"/>
              </a:rPr>
              <a:t> </a:t>
            </a:r>
            <a:r>
              <a:rPr lang="en-US" sz="2800" dirty="0" smtClean="0">
                <a:latin typeface="Times New Roman"/>
                <a:cs typeface="Times New Roman"/>
              </a:rPr>
              <a:t>trick</a:t>
            </a:r>
            <a:r>
              <a:rPr lang="en-US" sz="2800" spc="-40" dirty="0" smtClean="0">
                <a:latin typeface="Times New Roman"/>
                <a:cs typeface="Times New Roman"/>
              </a:rPr>
              <a:t> </a:t>
            </a:r>
            <a:r>
              <a:rPr lang="en-US" sz="2800" dirty="0" smtClean="0">
                <a:latin typeface="Times New Roman"/>
                <a:cs typeface="Times New Roman"/>
              </a:rPr>
              <a:t>or</a:t>
            </a:r>
            <a:r>
              <a:rPr lang="en-US" sz="2800" spc="-15" dirty="0" smtClean="0">
                <a:latin typeface="Times New Roman"/>
                <a:cs typeface="Times New Roman"/>
              </a:rPr>
              <a:t> </a:t>
            </a:r>
            <a:r>
              <a:rPr lang="en-US" sz="2800" dirty="0" smtClean="0">
                <a:latin typeface="Times New Roman"/>
                <a:cs typeface="Times New Roman"/>
              </a:rPr>
              <a:t>click,</a:t>
            </a:r>
            <a:r>
              <a:rPr lang="en-US" sz="2800" spc="-30" dirty="0" smtClean="0">
                <a:latin typeface="Times New Roman"/>
                <a:cs typeface="Times New Roman"/>
              </a:rPr>
              <a:t> </a:t>
            </a:r>
            <a:r>
              <a:rPr lang="en-US" sz="2800" dirty="0" smtClean="0">
                <a:latin typeface="Times New Roman"/>
                <a:cs typeface="Times New Roman"/>
              </a:rPr>
              <a:t>it</a:t>
            </a:r>
            <a:r>
              <a:rPr lang="en-US" sz="2800" spc="-30" dirty="0" smtClean="0">
                <a:latin typeface="Times New Roman"/>
                <a:cs typeface="Times New Roman"/>
              </a:rPr>
              <a:t> </a:t>
            </a:r>
            <a:r>
              <a:rPr lang="en-US" sz="2800" dirty="0" smtClean="0">
                <a:latin typeface="Times New Roman"/>
                <a:cs typeface="Times New Roman"/>
              </a:rPr>
              <a:t>will</a:t>
            </a:r>
            <a:r>
              <a:rPr lang="en-US" sz="2800" spc="-25" dirty="0" smtClean="0">
                <a:latin typeface="Times New Roman"/>
                <a:cs typeface="Times New Roman"/>
              </a:rPr>
              <a:t> </a:t>
            </a:r>
            <a:r>
              <a:rPr lang="en-US" sz="2800" dirty="0" smtClean="0">
                <a:latin typeface="Times New Roman"/>
                <a:cs typeface="Times New Roman"/>
              </a:rPr>
              <a:t>get</a:t>
            </a:r>
            <a:r>
              <a:rPr lang="en-US" sz="2800" spc="-45" dirty="0" smtClean="0">
                <a:latin typeface="Times New Roman"/>
                <a:cs typeface="Times New Roman"/>
              </a:rPr>
              <a:t> </a:t>
            </a:r>
            <a:r>
              <a:rPr lang="en-US" sz="2800" dirty="0" smtClean="0">
                <a:latin typeface="Times New Roman"/>
                <a:cs typeface="Times New Roman"/>
              </a:rPr>
              <a:t>activated</a:t>
            </a:r>
            <a:r>
              <a:rPr lang="en-US" sz="2800" spc="-40" dirty="0" smtClean="0">
                <a:latin typeface="Times New Roman"/>
                <a:cs typeface="Times New Roman"/>
              </a:rPr>
              <a:t> </a:t>
            </a:r>
            <a:r>
              <a:rPr lang="en-US" sz="2800" dirty="0" smtClean="0">
                <a:latin typeface="Times New Roman"/>
                <a:cs typeface="Times New Roman"/>
              </a:rPr>
              <a:t>and</a:t>
            </a:r>
            <a:r>
              <a:rPr lang="en-US" sz="2800" spc="-30" dirty="0" smtClean="0">
                <a:latin typeface="Times New Roman"/>
                <a:cs typeface="Times New Roman"/>
              </a:rPr>
              <a:t> </a:t>
            </a:r>
            <a:r>
              <a:rPr lang="en-US" sz="2800" spc="-20" dirty="0" smtClean="0">
                <a:latin typeface="Times New Roman"/>
                <a:cs typeface="Times New Roman"/>
              </a:rPr>
              <a:t>will 	</a:t>
            </a:r>
            <a:r>
              <a:rPr lang="en-US" sz="2800" dirty="0" smtClean="0">
                <a:latin typeface="Times New Roman"/>
                <a:cs typeface="Times New Roman"/>
              </a:rPr>
              <a:t>start</a:t>
            </a:r>
            <a:r>
              <a:rPr lang="en-US" sz="2800" spc="-45" dirty="0" smtClean="0">
                <a:latin typeface="Times New Roman"/>
                <a:cs typeface="Times New Roman"/>
              </a:rPr>
              <a:t> </a:t>
            </a:r>
            <a:r>
              <a:rPr lang="en-US" sz="2800" dirty="0" smtClean="0">
                <a:latin typeface="Times New Roman"/>
                <a:cs typeface="Times New Roman"/>
              </a:rPr>
              <a:t>altering</a:t>
            </a:r>
            <a:r>
              <a:rPr lang="en-US" sz="2800" spc="-40" dirty="0" smtClean="0">
                <a:latin typeface="Times New Roman"/>
                <a:cs typeface="Times New Roman"/>
              </a:rPr>
              <a:t> </a:t>
            </a:r>
            <a:r>
              <a:rPr lang="en-US" sz="2800" dirty="0" smtClean="0">
                <a:latin typeface="Times New Roman"/>
                <a:cs typeface="Times New Roman"/>
              </a:rPr>
              <a:t>the</a:t>
            </a:r>
            <a:r>
              <a:rPr lang="en-US" sz="2800" spc="-30" dirty="0" smtClean="0">
                <a:latin typeface="Times New Roman"/>
                <a:cs typeface="Times New Roman"/>
              </a:rPr>
              <a:t> </a:t>
            </a:r>
            <a:r>
              <a:rPr lang="en-US" sz="2800" dirty="0" smtClean="0">
                <a:latin typeface="Times New Roman"/>
                <a:cs typeface="Times New Roman"/>
              </a:rPr>
              <a:t>computer</a:t>
            </a:r>
            <a:r>
              <a:rPr lang="en-US" sz="2800" spc="-30" dirty="0" smtClean="0">
                <a:latin typeface="Times New Roman"/>
                <a:cs typeface="Times New Roman"/>
              </a:rPr>
              <a:t> </a:t>
            </a:r>
            <a:r>
              <a:rPr lang="en-US" sz="2800" dirty="0" smtClean="0">
                <a:latin typeface="Times New Roman"/>
                <a:cs typeface="Times New Roman"/>
              </a:rPr>
              <a:t>configurations</a:t>
            </a:r>
            <a:r>
              <a:rPr lang="en-US" sz="2800" spc="-45" dirty="0" smtClean="0">
                <a:latin typeface="Times New Roman"/>
                <a:cs typeface="Times New Roman"/>
              </a:rPr>
              <a:t> </a:t>
            </a:r>
            <a:r>
              <a:rPr lang="en-US" sz="2800" dirty="0" smtClean="0">
                <a:latin typeface="Times New Roman"/>
                <a:cs typeface="Times New Roman"/>
              </a:rPr>
              <a:t>and</a:t>
            </a:r>
            <a:r>
              <a:rPr lang="en-US" sz="2800" spc="-40" dirty="0" smtClean="0">
                <a:latin typeface="Times New Roman"/>
                <a:cs typeface="Times New Roman"/>
              </a:rPr>
              <a:t> </a:t>
            </a:r>
            <a:r>
              <a:rPr lang="en-US" sz="2800" dirty="0" smtClean="0">
                <a:latin typeface="Times New Roman"/>
                <a:cs typeface="Times New Roman"/>
              </a:rPr>
              <a:t>the</a:t>
            </a:r>
            <a:r>
              <a:rPr lang="en-US" sz="2800" spc="-30" dirty="0" smtClean="0">
                <a:latin typeface="Times New Roman"/>
                <a:cs typeface="Times New Roman"/>
              </a:rPr>
              <a:t> </a:t>
            </a:r>
            <a:r>
              <a:rPr lang="en-US" sz="2800" dirty="0" smtClean="0">
                <a:latin typeface="Times New Roman"/>
                <a:cs typeface="Times New Roman"/>
              </a:rPr>
              <a:t>process,</a:t>
            </a:r>
            <a:r>
              <a:rPr lang="en-US" sz="2800" spc="-30" dirty="0" smtClean="0">
                <a:latin typeface="Times New Roman"/>
                <a:cs typeface="Times New Roman"/>
              </a:rPr>
              <a:t> </a:t>
            </a:r>
            <a:r>
              <a:rPr lang="en-US" sz="2800" dirty="0" smtClean="0">
                <a:latin typeface="Times New Roman"/>
                <a:cs typeface="Times New Roman"/>
              </a:rPr>
              <a:t>which</a:t>
            </a:r>
            <a:r>
              <a:rPr lang="en-US" sz="2800" spc="-30" dirty="0" smtClean="0">
                <a:latin typeface="Times New Roman"/>
                <a:cs typeface="Times New Roman"/>
              </a:rPr>
              <a:t> </a:t>
            </a:r>
            <a:r>
              <a:rPr lang="en-US" sz="2800" spc="-25" dirty="0" smtClean="0">
                <a:latin typeface="Times New Roman"/>
                <a:cs typeface="Times New Roman"/>
              </a:rPr>
              <a:t>are 	</a:t>
            </a:r>
            <a:r>
              <a:rPr lang="en-US" sz="2800" dirty="0" smtClean="0">
                <a:latin typeface="Times New Roman"/>
                <a:cs typeface="Times New Roman"/>
              </a:rPr>
              <a:t>used</a:t>
            </a:r>
            <a:r>
              <a:rPr lang="en-US" sz="2800" spc="-40" dirty="0" smtClean="0">
                <a:latin typeface="Times New Roman"/>
                <a:cs typeface="Times New Roman"/>
              </a:rPr>
              <a:t> </a:t>
            </a:r>
            <a:r>
              <a:rPr lang="en-US" sz="2800" dirty="0" smtClean="0">
                <a:latin typeface="Times New Roman"/>
                <a:cs typeface="Times New Roman"/>
              </a:rPr>
              <a:t>for</a:t>
            </a:r>
            <a:r>
              <a:rPr lang="en-US" sz="2800" spc="-20" dirty="0" smtClean="0">
                <a:latin typeface="Times New Roman"/>
                <a:cs typeface="Times New Roman"/>
              </a:rPr>
              <a:t> </a:t>
            </a:r>
            <a:r>
              <a:rPr lang="en-US" sz="2800" dirty="0" smtClean="0">
                <a:latin typeface="Times New Roman"/>
                <a:cs typeface="Times New Roman"/>
              </a:rPr>
              <a:t>smooth</a:t>
            </a:r>
            <a:r>
              <a:rPr lang="en-US" sz="2800" spc="-40" dirty="0" smtClean="0">
                <a:latin typeface="Times New Roman"/>
                <a:cs typeface="Times New Roman"/>
              </a:rPr>
              <a:t> </a:t>
            </a:r>
            <a:r>
              <a:rPr lang="en-US" sz="2800" dirty="0" smtClean="0">
                <a:latin typeface="Times New Roman"/>
                <a:cs typeface="Times New Roman"/>
              </a:rPr>
              <a:t>operation</a:t>
            </a:r>
            <a:r>
              <a:rPr lang="en-US" sz="2800" spc="-35" dirty="0" smtClean="0">
                <a:latin typeface="Times New Roman"/>
                <a:cs typeface="Times New Roman"/>
              </a:rPr>
              <a:t> </a:t>
            </a:r>
            <a:r>
              <a:rPr lang="en-US" sz="2800" dirty="0" smtClean="0">
                <a:latin typeface="Times New Roman"/>
                <a:cs typeface="Times New Roman"/>
              </a:rPr>
              <a:t>of</a:t>
            </a:r>
            <a:r>
              <a:rPr lang="en-US" sz="2800" spc="-20" dirty="0" smtClean="0">
                <a:latin typeface="Times New Roman"/>
                <a:cs typeface="Times New Roman"/>
              </a:rPr>
              <a:t> </a:t>
            </a:r>
            <a:r>
              <a:rPr lang="en-US" sz="2800" dirty="0" smtClean="0">
                <a:latin typeface="Times New Roman"/>
                <a:cs typeface="Times New Roman"/>
              </a:rPr>
              <a:t>the</a:t>
            </a:r>
            <a:r>
              <a:rPr lang="en-US" sz="2800" spc="-5" dirty="0" smtClean="0">
                <a:latin typeface="Times New Roman"/>
                <a:cs typeface="Times New Roman"/>
              </a:rPr>
              <a:t> </a:t>
            </a:r>
            <a:r>
              <a:rPr lang="en-US" sz="2800" spc="-10" dirty="0" smtClean="0">
                <a:latin typeface="Times New Roman"/>
                <a:cs typeface="Times New Roman"/>
              </a:rPr>
              <a:t>computer.</a:t>
            </a:r>
            <a:endParaRPr lang="en-US" sz="2800" dirty="0" smtClean="0">
              <a:latin typeface="Times New Roman"/>
              <a:cs typeface="Times New Roman"/>
            </a:endParaRPr>
          </a:p>
          <a:p>
            <a:pPr marL="240029" marR="5080" indent="-227965">
              <a:lnSpc>
                <a:spcPts val="3020"/>
              </a:lnSpc>
              <a:spcBef>
                <a:spcPts val="1045"/>
              </a:spcBef>
              <a:buFont typeface="Arial MT"/>
              <a:buChar char="•"/>
              <a:tabLst>
                <a:tab pos="241300" algn="l"/>
              </a:tabLst>
            </a:pPr>
            <a:r>
              <a:rPr lang="en-US" sz="2800" dirty="0" smtClean="0">
                <a:latin typeface="Times New Roman"/>
                <a:cs typeface="Times New Roman"/>
              </a:rPr>
              <a:t>The</a:t>
            </a:r>
            <a:r>
              <a:rPr lang="en-US" sz="2800" spc="-25" dirty="0" smtClean="0">
                <a:latin typeface="Times New Roman"/>
                <a:cs typeface="Times New Roman"/>
              </a:rPr>
              <a:t> </a:t>
            </a:r>
            <a:r>
              <a:rPr lang="en-US" sz="2800" i="1" u="sng" dirty="0" smtClean="0">
                <a:uFill>
                  <a:solidFill>
                    <a:srgbClr val="000000"/>
                  </a:solidFill>
                </a:uFill>
                <a:latin typeface="Times New Roman"/>
                <a:cs typeface="Times New Roman"/>
              </a:rPr>
              <a:t>virus</a:t>
            </a:r>
            <a:r>
              <a:rPr lang="en-US" sz="2800" i="1" u="sng" spc="-30" dirty="0" smtClean="0">
                <a:uFill>
                  <a:solidFill>
                    <a:srgbClr val="000000"/>
                  </a:solidFill>
                </a:uFill>
                <a:latin typeface="Times New Roman"/>
                <a:cs typeface="Times New Roman"/>
              </a:rPr>
              <a:t> </a:t>
            </a:r>
            <a:r>
              <a:rPr lang="en-US" sz="2800" i="1" u="sng" spc="-10" dirty="0" smtClean="0">
                <a:uFill>
                  <a:solidFill>
                    <a:srgbClr val="000000"/>
                  </a:solidFill>
                </a:uFill>
                <a:latin typeface="Times New Roman"/>
                <a:cs typeface="Times New Roman"/>
              </a:rPr>
              <a:t>programs</a:t>
            </a:r>
            <a:r>
              <a:rPr lang="en-US" sz="2800" i="1" spc="-25" dirty="0" smtClean="0">
                <a:latin typeface="Times New Roman"/>
                <a:cs typeface="Times New Roman"/>
              </a:rPr>
              <a:t> </a:t>
            </a:r>
            <a:r>
              <a:rPr lang="en-US" sz="2800" dirty="0" smtClean="0">
                <a:latin typeface="Times New Roman"/>
                <a:cs typeface="Times New Roman"/>
              </a:rPr>
              <a:t>have</a:t>
            </a:r>
            <a:r>
              <a:rPr lang="en-US" sz="2800" spc="-25" dirty="0" smtClean="0">
                <a:latin typeface="Times New Roman"/>
                <a:cs typeface="Times New Roman"/>
              </a:rPr>
              <a:t> </a:t>
            </a:r>
            <a:r>
              <a:rPr lang="en-US" sz="2800" dirty="0" smtClean="0">
                <a:latin typeface="Times New Roman"/>
                <a:cs typeface="Times New Roman"/>
              </a:rPr>
              <a:t>the</a:t>
            </a:r>
            <a:r>
              <a:rPr lang="en-US" sz="2800" spc="-30" dirty="0" smtClean="0">
                <a:latin typeface="Times New Roman"/>
                <a:cs typeface="Times New Roman"/>
              </a:rPr>
              <a:t> </a:t>
            </a:r>
            <a:r>
              <a:rPr lang="en-US" sz="2800" dirty="0" smtClean="0">
                <a:latin typeface="Times New Roman"/>
                <a:cs typeface="Times New Roman"/>
              </a:rPr>
              <a:t>capability</a:t>
            </a:r>
            <a:r>
              <a:rPr lang="en-US" sz="2800" spc="-40" dirty="0" smtClean="0">
                <a:latin typeface="Times New Roman"/>
                <a:cs typeface="Times New Roman"/>
              </a:rPr>
              <a:t> </a:t>
            </a:r>
            <a:r>
              <a:rPr lang="en-US" sz="2800" dirty="0" smtClean="0">
                <a:latin typeface="Times New Roman"/>
                <a:cs typeface="Times New Roman"/>
              </a:rPr>
              <a:t>to</a:t>
            </a:r>
            <a:r>
              <a:rPr lang="en-US" sz="2800" spc="-20" dirty="0" smtClean="0">
                <a:latin typeface="Times New Roman"/>
                <a:cs typeface="Times New Roman"/>
              </a:rPr>
              <a:t> </a:t>
            </a:r>
            <a:r>
              <a:rPr lang="en-US" sz="2800" dirty="0" smtClean="0">
                <a:latin typeface="Times New Roman"/>
                <a:cs typeface="Times New Roman"/>
              </a:rPr>
              <a:t>copy</a:t>
            </a:r>
            <a:r>
              <a:rPr lang="en-US" sz="2800" spc="-30" dirty="0" smtClean="0">
                <a:latin typeface="Times New Roman"/>
                <a:cs typeface="Times New Roman"/>
              </a:rPr>
              <a:t> </a:t>
            </a:r>
            <a:r>
              <a:rPr lang="en-US" sz="2800" dirty="0" smtClean="0">
                <a:latin typeface="Times New Roman"/>
                <a:cs typeface="Times New Roman"/>
              </a:rPr>
              <a:t>into</a:t>
            </a:r>
            <a:r>
              <a:rPr lang="en-US" sz="2800" spc="-30" dirty="0" smtClean="0">
                <a:latin typeface="Times New Roman"/>
                <a:cs typeface="Times New Roman"/>
              </a:rPr>
              <a:t> </a:t>
            </a:r>
            <a:r>
              <a:rPr lang="en-US" sz="2800" dirty="0" smtClean="0">
                <a:latin typeface="Times New Roman"/>
                <a:cs typeface="Times New Roman"/>
              </a:rPr>
              <a:t>multiple</a:t>
            </a:r>
            <a:r>
              <a:rPr lang="en-US" sz="2800" spc="-25" dirty="0" smtClean="0">
                <a:latin typeface="Times New Roman"/>
                <a:cs typeface="Times New Roman"/>
              </a:rPr>
              <a:t> </a:t>
            </a:r>
            <a:r>
              <a:rPr lang="en-US" sz="2800" dirty="0" smtClean="0">
                <a:latin typeface="Times New Roman"/>
                <a:cs typeface="Times New Roman"/>
              </a:rPr>
              <a:t>files</a:t>
            </a:r>
            <a:r>
              <a:rPr lang="en-US" sz="2800" spc="-35" dirty="0" smtClean="0">
                <a:latin typeface="Times New Roman"/>
                <a:cs typeface="Times New Roman"/>
              </a:rPr>
              <a:t> </a:t>
            </a:r>
            <a:r>
              <a:rPr lang="en-US" sz="2800" spc="-20" dirty="0" smtClean="0">
                <a:latin typeface="Times New Roman"/>
                <a:cs typeface="Times New Roman"/>
              </a:rPr>
              <a:t>and, </a:t>
            </a:r>
            <a:r>
              <a:rPr lang="en-US" sz="2800" dirty="0" smtClean="0">
                <a:latin typeface="Times New Roman"/>
                <a:cs typeface="Times New Roman"/>
              </a:rPr>
              <a:t>thus,</a:t>
            </a:r>
            <a:r>
              <a:rPr lang="en-US" sz="2800" spc="-65" dirty="0" smtClean="0">
                <a:latin typeface="Times New Roman"/>
                <a:cs typeface="Times New Roman"/>
              </a:rPr>
              <a:t> </a:t>
            </a:r>
            <a:r>
              <a:rPr lang="en-US" sz="2800" dirty="0" smtClean="0">
                <a:latin typeface="Times New Roman"/>
                <a:cs typeface="Times New Roman"/>
              </a:rPr>
              <a:t>overwhelm</a:t>
            </a:r>
            <a:r>
              <a:rPr lang="en-US" sz="2800" spc="-40" dirty="0" smtClean="0">
                <a:latin typeface="Times New Roman"/>
                <a:cs typeface="Times New Roman"/>
              </a:rPr>
              <a:t> </a:t>
            </a:r>
            <a:r>
              <a:rPr lang="en-US" sz="2800" dirty="0" smtClean="0">
                <a:latin typeface="Times New Roman"/>
                <a:cs typeface="Times New Roman"/>
              </a:rPr>
              <a:t>the</a:t>
            </a:r>
            <a:r>
              <a:rPr lang="en-US" sz="2800" spc="-70" dirty="0" smtClean="0">
                <a:latin typeface="Times New Roman"/>
                <a:cs typeface="Times New Roman"/>
              </a:rPr>
              <a:t> </a:t>
            </a:r>
            <a:r>
              <a:rPr lang="en-US" sz="2800" dirty="0" smtClean="0">
                <a:latin typeface="Times New Roman"/>
                <a:cs typeface="Times New Roman"/>
              </a:rPr>
              <a:t>computer</a:t>
            </a:r>
            <a:r>
              <a:rPr lang="en-US" sz="2800" spc="-35" dirty="0" smtClean="0">
                <a:latin typeface="Times New Roman"/>
                <a:cs typeface="Times New Roman"/>
              </a:rPr>
              <a:t> </a:t>
            </a:r>
            <a:r>
              <a:rPr lang="en-US" sz="2800" dirty="0" smtClean="0">
                <a:latin typeface="Times New Roman"/>
                <a:cs typeface="Times New Roman"/>
              </a:rPr>
              <a:t>processes</a:t>
            </a:r>
            <a:r>
              <a:rPr lang="en-US" sz="2800" spc="-60" dirty="0" smtClean="0">
                <a:latin typeface="Times New Roman"/>
                <a:cs typeface="Times New Roman"/>
              </a:rPr>
              <a:t> </a:t>
            </a:r>
            <a:r>
              <a:rPr lang="en-US" sz="2800" dirty="0" smtClean="0">
                <a:latin typeface="Times New Roman"/>
                <a:cs typeface="Times New Roman"/>
              </a:rPr>
              <a:t>and</a:t>
            </a:r>
            <a:r>
              <a:rPr lang="en-US" sz="2800" spc="-45" dirty="0" smtClean="0">
                <a:latin typeface="Times New Roman"/>
                <a:cs typeface="Times New Roman"/>
              </a:rPr>
              <a:t> </a:t>
            </a:r>
            <a:r>
              <a:rPr lang="en-US" sz="2800" dirty="0" smtClean="0">
                <a:latin typeface="Times New Roman"/>
                <a:cs typeface="Times New Roman"/>
              </a:rPr>
              <a:t>data</a:t>
            </a:r>
            <a:r>
              <a:rPr lang="en-US" sz="2800" spc="-65" dirty="0" smtClean="0">
                <a:latin typeface="Times New Roman"/>
                <a:cs typeface="Times New Roman"/>
              </a:rPr>
              <a:t> </a:t>
            </a:r>
            <a:r>
              <a:rPr lang="en-US" sz="2800" spc="-10" dirty="0" smtClean="0">
                <a:latin typeface="Times New Roman"/>
                <a:cs typeface="Times New Roman"/>
              </a:rPr>
              <a:t>storage.</a:t>
            </a:r>
            <a:endParaRPr lang="en-US" sz="2800" dirty="0" smtClean="0">
              <a:latin typeface="Times New Roman"/>
              <a:cs typeface="Times New Roman"/>
            </a:endParaRPr>
          </a:p>
        </p:txBody>
      </p:sp>
    </p:spTree>
    <p:extLst>
      <p:ext uri="{BB962C8B-B14F-4D97-AF65-F5344CB8AC3E}">
        <p14:creationId xmlns:p14="http://schemas.microsoft.com/office/powerpoint/2010/main" val="33943572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24994"/>
            <a:ext cx="10358120" cy="982653"/>
          </a:xfrm>
          <a:prstGeom prst="rect">
            <a:avLst/>
          </a:prstGeom>
        </p:spPr>
        <p:txBody>
          <a:bodyPr vert="horz" wrap="square" lIns="0" tIns="302590" rIns="0" bIns="0" rtlCol="0">
            <a:spAutoFit/>
          </a:bodyPr>
          <a:lstStyle/>
          <a:p>
            <a:pPr marL="12700" algn="ctr">
              <a:lnSpc>
                <a:spcPct val="100000"/>
              </a:lnSpc>
              <a:spcBef>
                <a:spcPts val="105"/>
              </a:spcBef>
            </a:pPr>
            <a:r>
              <a:rPr lang="en-US" spc="-10" dirty="0"/>
              <a:t>VIRUSES</a:t>
            </a:r>
            <a:endParaRPr spc="-50"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3" name="object 3"/>
          <p:cNvSpPr txBox="1"/>
          <p:nvPr/>
        </p:nvSpPr>
        <p:spPr>
          <a:xfrm>
            <a:off x="916945" y="1804161"/>
            <a:ext cx="9994265" cy="4485843"/>
          </a:xfrm>
          <a:prstGeom prst="rect">
            <a:avLst/>
          </a:prstGeom>
        </p:spPr>
        <p:txBody>
          <a:bodyPr vert="horz" wrap="square" lIns="0" tIns="60960" rIns="0" bIns="0" rtlCol="0">
            <a:spAutoFit/>
          </a:bodyPr>
          <a:lstStyle/>
          <a:p>
            <a:pPr marL="240029" marR="5080" indent="-227965">
              <a:lnSpc>
                <a:spcPts val="3020"/>
              </a:lnSpc>
              <a:spcBef>
                <a:spcPts val="480"/>
              </a:spcBef>
              <a:buFont typeface="Arial MT"/>
              <a:buChar char="•"/>
              <a:tabLst>
                <a:tab pos="241300" algn="l"/>
              </a:tabLst>
            </a:pPr>
            <a:r>
              <a:rPr lang="en-US" sz="2800" dirty="0" smtClean="0">
                <a:latin typeface="Times New Roman"/>
                <a:cs typeface="Times New Roman"/>
              </a:rPr>
              <a:t>The main sources of virus propagation include the following:</a:t>
            </a:r>
          </a:p>
          <a:p>
            <a:pPr marL="240029" marR="5080" indent="-227965">
              <a:lnSpc>
                <a:spcPts val="3020"/>
              </a:lnSpc>
              <a:spcBef>
                <a:spcPts val="480"/>
              </a:spcBef>
              <a:buFont typeface="Arial MT"/>
              <a:buChar char="•"/>
              <a:tabLst>
                <a:tab pos="241300" algn="l"/>
              </a:tabLst>
            </a:pPr>
            <a:r>
              <a:rPr lang="en-US" sz="2800" dirty="0" smtClean="0">
                <a:latin typeface="Times New Roman"/>
                <a:cs typeface="Times New Roman"/>
              </a:rPr>
              <a:t>Copying on hard drive</a:t>
            </a:r>
          </a:p>
          <a:p>
            <a:pPr marL="240029" marR="5080" indent="-227965">
              <a:lnSpc>
                <a:spcPts val="3020"/>
              </a:lnSpc>
              <a:spcBef>
                <a:spcPts val="480"/>
              </a:spcBef>
              <a:buFont typeface="Arial MT"/>
              <a:buChar char="•"/>
              <a:tabLst>
                <a:tab pos="241300" algn="l"/>
              </a:tabLst>
            </a:pPr>
            <a:r>
              <a:rPr lang="en-US" sz="2800" dirty="0" smtClean="0">
                <a:latin typeface="Times New Roman"/>
                <a:cs typeface="Times New Roman"/>
              </a:rPr>
              <a:t>Data copying through flash</a:t>
            </a:r>
          </a:p>
          <a:p>
            <a:pPr marL="240029" marR="5080" indent="-227965">
              <a:lnSpc>
                <a:spcPts val="3020"/>
              </a:lnSpc>
              <a:spcBef>
                <a:spcPts val="480"/>
              </a:spcBef>
              <a:buFont typeface="Arial MT"/>
              <a:buChar char="•"/>
              <a:tabLst>
                <a:tab pos="241300" algn="l"/>
              </a:tabLst>
            </a:pPr>
            <a:r>
              <a:rPr lang="en-US" sz="2800" dirty="0" smtClean="0">
                <a:latin typeface="Times New Roman"/>
                <a:cs typeface="Times New Roman"/>
              </a:rPr>
              <a:t>Email attachments</a:t>
            </a:r>
          </a:p>
          <a:p>
            <a:pPr marL="240029" marR="5080" indent="-227965">
              <a:lnSpc>
                <a:spcPts val="3020"/>
              </a:lnSpc>
              <a:spcBef>
                <a:spcPts val="480"/>
              </a:spcBef>
              <a:buFont typeface="Arial MT"/>
              <a:buChar char="•"/>
              <a:tabLst>
                <a:tab pos="241300" algn="l"/>
              </a:tabLst>
            </a:pPr>
            <a:r>
              <a:rPr lang="en-US" sz="2800" dirty="0" smtClean="0">
                <a:latin typeface="Times New Roman"/>
                <a:cs typeface="Times New Roman"/>
              </a:rPr>
              <a:t>Short text messages</a:t>
            </a:r>
          </a:p>
          <a:p>
            <a:pPr marL="240029" marR="5080" indent="-227965">
              <a:lnSpc>
                <a:spcPts val="3020"/>
              </a:lnSpc>
              <a:spcBef>
                <a:spcPts val="480"/>
              </a:spcBef>
              <a:buFont typeface="Arial MT"/>
              <a:buChar char="•"/>
              <a:tabLst>
                <a:tab pos="241300" algn="l"/>
              </a:tabLst>
            </a:pPr>
            <a:r>
              <a:rPr lang="en-US" sz="2800" dirty="0" smtClean="0">
                <a:latin typeface="Times New Roman"/>
                <a:cs typeface="Times New Roman"/>
              </a:rPr>
              <a:t>Scam websites</a:t>
            </a:r>
          </a:p>
          <a:p>
            <a:pPr marL="240029" marR="5080" indent="-227965">
              <a:lnSpc>
                <a:spcPts val="3020"/>
              </a:lnSpc>
              <a:spcBef>
                <a:spcPts val="480"/>
              </a:spcBef>
              <a:buFont typeface="Arial MT"/>
              <a:buChar char="•"/>
              <a:tabLst>
                <a:tab pos="241300" algn="l"/>
              </a:tabLst>
            </a:pPr>
            <a:r>
              <a:rPr lang="en-US" sz="2800" dirty="0" smtClean="0">
                <a:latin typeface="Times New Roman"/>
                <a:cs typeface="Times New Roman"/>
              </a:rPr>
              <a:t>Scam social media links</a:t>
            </a:r>
          </a:p>
          <a:p>
            <a:pPr marL="240029" marR="5080" indent="-227965">
              <a:lnSpc>
                <a:spcPts val="3020"/>
              </a:lnSpc>
              <a:spcBef>
                <a:spcPts val="480"/>
              </a:spcBef>
              <a:buFont typeface="Arial MT"/>
              <a:buChar char="•"/>
              <a:tabLst>
                <a:tab pos="241300" algn="l"/>
              </a:tabLst>
            </a:pPr>
            <a:r>
              <a:rPr lang="en-US" sz="2800" dirty="0" smtClean="0">
                <a:latin typeface="Times New Roman"/>
                <a:cs typeface="Times New Roman"/>
              </a:rPr>
              <a:t>Infected file downloading from Internet</a:t>
            </a:r>
          </a:p>
          <a:p>
            <a:pPr marL="240029" marR="5080" indent="-227965">
              <a:lnSpc>
                <a:spcPts val="3020"/>
              </a:lnSpc>
              <a:spcBef>
                <a:spcPts val="480"/>
              </a:spcBef>
              <a:buFont typeface="Arial MT"/>
              <a:buChar char="•"/>
              <a:tabLst>
                <a:tab pos="241300" algn="l"/>
              </a:tabLst>
            </a:pPr>
            <a:r>
              <a:rPr lang="en-US" sz="2800" dirty="0" smtClean="0">
                <a:latin typeface="Times New Roman"/>
                <a:cs typeface="Times New Roman"/>
              </a:rPr>
              <a:t>Visiting infected websites</a:t>
            </a:r>
          </a:p>
          <a:p>
            <a:pPr marL="240029" marR="5080" indent="-227965">
              <a:lnSpc>
                <a:spcPts val="3020"/>
              </a:lnSpc>
              <a:spcBef>
                <a:spcPts val="480"/>
              </a:spcBef>
              <a:buFont typeface="Arial MT"/>
              <a:buChar char="•"/>
              <a:tabLst>
                <a:tab pos="241300" algn="l"/>
              </a:tabLst>
            </a:pPr>
            <a:endParaRPr sz="2800" dirty="0">
              <a:latin typeface="Times New Roman"/>
              <a:cs typeface="Times New Roman"/>
            </a:endParaRPr>
          </a:p>
        </p:txBody>
      </p:sp>
    </p:spTree>
    <p:extLst>
      <p:ext uri="{BB962C8B-B14F-4D97-AF65-F5344CB8AC3E}">
        <p14:creationId xmlns:p14="http://schemas.microsoft.com/office/powerpoint/2010/main" val="16224215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24994"/>
            <a:ext cx="10358120" cy="982653"/>
          </a:xfrm>
          <a:prstGeom prst="rect">
            <a:avLst/>
          </a:prstGeom>
        </p:spPr>
        <p:txBody>
          <a:bodyPr vert="horz" wrap="square" lIns="0" tIns="302590" rIns="0" bIns="0" rtlCol="0">
            <a:spAutoFit/>
          </a:bodyPr>
          <a:lstStyle/>
          <a:p>
            <a:pPr marL="12700">
              <a:lnSpc>
                <a:spcPct val="100000"/>
              </a:lnSpc>
              <a:spcBef>
                <a:spcPts val="105"/>
              </a:spcBef>
            </a:pPr>
            <a:r>
              <a:rPr lang="en-US" spc="-10" dirty="0"/>
              <a:t>VIRUSES</a:t>
            </a:r>
            <a:endParaRPr spc="-50"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3" name="object 3"/>
          <p:cNvSpPr txBox="1"/>
          <p:nvPr/>
        </p:nvSpPr>
        <p:spPr>
          <a:xfrm>
            <a:off x="916940" y="1600200"/>
            <a:ext cx="10220325" cy="4861587"/>
          </a:xfrm>
          <a:prstGeom prst="rect">
            <a:avLst/>
          </a:prstGeom>
        </p:spPr>
        <p:txBody>
          <a:bodyPr vert="horz" wrap="square" lIns="0" tIns="54610" rIns="0" bIns="0" rtlCol="0">
            <a:spAutoFit/>
          </a:bodyPr>
          <a:lstStyle/>
          <a:p>
            <a:pPr marL="240029" marR="5080" indent="-227965">
              <a:lnSpc>
                <a:spcPts val="2690"/>
              </a:lnSpc>
              <a:spcBef>
                <a:spcPts val="740"/>
              </a:spcBef>
              <a:buFont typeface="Arial MT"/>
              <a:buChar char="•"/>
              <a:tabLst>
                <a:tab pos="241300" algn="l"/>
              </a:tabLst>
            </a:pPr>
            <a:r>
              <a:rPr lang="en-US" sz="2800" dirty="0" smtClean="0">
                <a:latin typeface="Times New Roman"/>
                <a:cs typeface="Times New Roman"/>
              </a:rPr>
              <a:t>The</a:t>
            </a:r>
            <a:r>
              <a:rPr lang="en-US" sz="2800" spc="-35" dirty="0" smtClean="0">
                <a:latin typeface="Times New Roman"/>
                <a:cs typeface="Times New Roman"/>
              </a:rPr>
              <a:t> </a:t>
            </a:r>
            <a:r>
              <a:rPr lang="en-US" sz="2800" dirty="0" smtClean="0">
                <a:latin typeface="Times New Roman"/>
                <a:cs typeface="Times New Roman"/>
              </a:rPr>
              <a:t>viruses</a:t>
            </a:r>
            <a:r>
              <a:rPr lang="en-US" sz="2800" spc="-40" dirty="0" smtClean="0">
                <a:latin typeface="Times New Roman"/>
                <a:cs typeface="Times New Roman"/>
              </a:rPr>
              <a:t> </a:t>
            </a:r>
            <a:r>
              <a:rPr lang="en-US" sz="2800" dirty="0" smtClean="0">
                <a:latin typeface="Times New Roman"/>
                <a:cs typeface="Times New Roman"/>
              </a:rPr>
              <a:t>are</a:t>
            </a:r>
            <a:r>
              <a:rPr lang="en-US" sz="2800" spc="-35" dirty="0" smtClean="0">
                <a:latin typeface="Times New Roman"/>
                <a:cs typeface="Times New Roman"/>
              </a:rPr>
              <a:t> </a:t>
            </a:r>
            <a:r>
              <a:rPr lang="en-US" sz="2800" dirty="0" smtClean="0">
                <a:latin typeface="Times New Roman"/>
                <a:cs typeface="Times New Roman"/>
              </a:rPr>
              <a:t>just</a:t>
            </a:r>
            <a:r>
              <a:rPr lang="en-US" sz="2800" spc="-35" dirty="0" smtClean="0">
                <a:latin typeface="Times New Roman"/>
                <a:cs typeface="Times New Roman"/>
              </a:rPr>
              <a:t> </a:t>
            </a:r>
            <a:r>
              <a:rPr lang="en-US" sz="2800" dirty="0" smtClean="0">
                <a:latin typeface="Times New Roman"/>
                <a:cs typeface="Times New Roman"/>
              </a:rPr>
              <a:t>programs</a:t>
            </a:r>
            <a:r>
              <a:rPr lang="en-US" sz="2800" spc="-15" dirty="0" smtClean="0">
                <a:latin typeface="Times New Roman"/>
                <a:cs typeface="Times New Roman"/>
              </a:rPr>
              <a:t> </a:t>
            </a:r>
            <a:r>
              <a:rPr lang="en-US" sz="2800" dirty="0" smtClean="0">
                <a:latin typeface="Times New Roman"/>
                <a:cs typeface="Times New Roman"/>
              </a:rPr>
              <a:t>in</a:t>
            </a:r>
            <a:r>
              <a:rPr lang="en-US" sz="2800" spc="-35" dirty="0" smtClean="0">
                <a:latin typeface="Times New Roman"/>
                <a:cs typeface="Times New Roman"/>
              </a:rPr>
              <a:t> </a:t>
            </a:r>
            <a:r>
              <a:rPr lang="en-US" sz="2800" dirty="0" smtClean="0">
                <a:latin typeface="Times New Roman"/>
                <a:cs typeface="Times New Roman"/>
              </a:rPr>
              <a:t>the</a:t>
            </a:r>
            <a:r>
              <a:rPr lang="en-US" sz="2800" spc="-40" dirty="0" smtClean="0">
                <a:latin typeface="Times New Roman"/>
                <a:cs typeface="Times New Roman"/>
              </a:rPr>
              <a:t> </a:t>
            </a:r>
            <a:r>
              <a:rPr lang="en-US" sz="2800" dirty="0" smtClean="0">
                <a:latin typeface="Times New Roman"/>
                <a:cs typeface="Times New Roman"/>
              </a:rPr>
              <a:t>form</a:t>
            </a:r>
            <a:r>
              <a:rPr lang="en-US" sz="2800" spc="-35" dirty="0" smtClean="0">
                <a:latin typeface="Times New Roman"/>
                <a:cs typeface="Times New Roman"/>
              </a:rPr>
              <a:t> </a:t>
            </a:r>
            <a:r>
              <a:rPr lang="en-US" sz="2800" dirty="0" smtClean="0">
                <a:latin typeface="Times New Roman"/>
                <a:cs typeface="Times New Roman"/>
              </a:rPr>
              <a:t>of</a:t>
            </a:r>
            <a:r>
              <a:rPr lang="en-US" sz="2800" spc="-15" dirty="0" smtClean="0">
                <a:latin typeface="Times New Roman"/>
                <a:cs typeface="Times New Roman"/>
              </a:rPr>
              <a:t> </a:t>
            </a:r>
            <a:r>
              <a:rPr lang="en-US" sz="2800" dirty="0" smtClean="0">
                <a:latin typeface="Times New Roman"/>
                <a:cs typeface="Times New Roman"/>
              </a:rPr>
              <a:t>executable</a:t>
            </a:r>
            <a:r>
              <a:rPr lang="en-US" sz="2800" spc="-50" dirty="0" smtClean="0">
                <a:latin typeface="Times New Roman"/>
                <a:cs typeface="Times New Roman"/>
              </a:rPr>
              <a:t> </a:t>
            </a:r>
            <a:r>
              <a:rPr lang="en-US" sz="2800" dirty="0" smtClean="0">
                <a:latin typeface="Times New Roman"/>
                <a:cs typeface="Times New Roman"/>
              </a:rPr>
              <a:t>files.</a:t>
            </a:r>
            <a:r>
              <a:rPr lang="en-US" sz="2800" spc="-90" dirty="0" smtClean="0">
                <a:latin typeface="Times New Roman"/>
                <a:cs typeface="Times New Roman"/>
              </a:rPr>
              <a:t> </a:t>
            </a:r>
            <a:r>
              <a:rPr lang="en-US" sz="2800" dirty="0" smtClean="0">
                <a:latin typeface="Times New Roman"/>
                <a:cs typeface="Times New Roman"/>
              </a:rPr>
              <a:t>They</a:t>
            </a:r>
            <a:r>
              <a:rPr lang="en-US" sz="2800" spc="-25" dirty="0" smtClean="0">
                <a:latin typeface="Times New Roman"/>
                <a:cs typeface="Times New Roman"/>
              </a:rPr>
              <a:t> do 	</a:t>
            </a:r>
            <a:r>
              <a:rPr lang="en-US" sz="2800" dirty="0" smtClean="0">
                <a:latin typeface="Times New Roman"/>
                <a:cs typeface="Times New Roman"/>
              </a:rPr>
              <a:t>not</a:t>
            </a:r>
            <a:r>
              <a:rPr lang="en-US" sz="2800" spc="-45" dirty="0" smtClean="0">
                <a:latin typeface="Times New Roman"/>
                <a:cs typeface="Times New Roman"/>
              </a:rPr>
              <a:t> </a:t>
            </a:r>
            <a:r>
              <a:rPr lang="en-US" sz="2800" dirty="0" smtClean="0">
                <a:latin typeface="Times New Roman"/>
                <a:cs typeface="Times New Roman"/>
              </a:rPr>
              <a:t>get</a:t>
            </a:r>
            <a:r>
              <a:rPr lang="en-US" sz="2800" spc="-35" dirty="0" smtClean="0">
                <a:latin typeface="Times New Roman"/>
                <a:cs typeface="Times New Roman"/>
              </a:rPr>
              <a:t> </a:t>
            </a:r>
            <a:r>
              <a:rPr lang="en-US" sz="2800" dirty="0" smtClean="0">
                <a:latin typeface="Times New Roman"/>
                <a:cs typeface="Times New Roman"/>
              </a:rPr>
              <a:t>activate</a:t>
            </a:r>
            <a:r>
              <a:rPr lang="en-US" sz="2800" spc="-50" dirty="0" smtClean="0">
                <a:latin typeface="Times New Roman"/>
                <a:cs typeface="Times New Roman"/>
              </a:rPr>
              <a:t> </a:t>
            </a:r>
            <a:r>
              <a:rPr lang="en-US" sz="2800" dirty="0" smtClean="0">
                <a:latin typeface="Times New Roman"/>
                <a:cs typeface="Times New Roman"/>
              </a:rPr>
              <a:t>without</a:t>
            </a:r>
            <a:r>
              <a:rPr lang="en-US" sz="2800" spc="-40" dirty="0" smtClean="0">
                <a:latin typeface="Times New Roman"/>
                <a:cs typeface="Times New Roman"/>
              </a:rPr>
              <a:t> </a:t>
            </a:r>
            <a:r>
              <a:rPr lang="en-US" sz="2800" dirty="0" smtClean="0">
                <a:latin typeface="Times New Roman"/>
                <a:cs typeface="Times New Roman"/>
              </a:rPr>
              <a:t>running</a:t>
            </a:r>
            <a:r>
              <a:rPr lang="en-US" sz="2800" spc="-55" dirty="0" smtClean="0">
                <a:latin typeface="Times New Roman"/>
                <a:cs typeface="Times New Roman"/>
              </a:rPr>
              <a:t> </a:t>
            </a:r>
            <a:r>
              <a:rPr lang="en-US" sz="2800" dirty="0" smtClean="0">
                <a:latin typeface="Times New Roman"/>
                <a:cs typeface="Times New Roman"/>
              </a:rPr>
              <a:t>those</a:t>
            </a:r>
            <a:r>
              <a:rPr lang="en-US" sz="2800" spc="-50" dirty="0" smtClean="0">
                <a:latin typeface="Times New Roman"/>
                <a:cs typeface="Times New Roman"/>
              </a:rPr>
              <a:t> </a:t>
            </a:r>
            <a:r>
              <a:rPr lang="en-US" sz="2800" dirty="0" smtClean="0">
                <a:latin typeface="Times New Roman"/>
                <a:cs typeface="Times New Roman"/>
              </a:rPr>
              <a:t>executable</a:t>
            </a:r>
            <a:r>
              <a:rPr lang="en-US" sz="2800" spc="-35" dirty="0" smtClean="0">
                <a:latin typeface="Times New Roman"/>
                <a:cs typeface="Times New Roman"/>
              </a:rPr>
              <a:t> </a:t>
            </a:r>
            <a:r>
              <a:rPr lang="en-US" sz="2800" dirty="0" smtClean="0">
                <a:latin typeface="Times New Roman"/>
                <a:cs typeface="Times New Roman"/>
              </a:rPr>
              <a:t>files</a:t>
            </a:r>
            <a:r>
              <a:rPr lang="en-US" sz="2800" spc="-40" dirty="0" smtClean="0">
                <a:latin typeface="Times New Roman"/>
                <a:cs typeface="Times New Roman"/>
              </a:rPr>
              <a:t> </a:t>
            </a:r>
            <a:r>
              <a:rPr lang="en-US" sz="2800" dirty="0" smtClean="0">
                <a:latin typeface="Times New Roman"/>
                <a:cs typeface="Times New Roman"/>
              </a:rPr>
              <a:t>on</a:t>
            </a:r>
            <a:r>
              <a:rPr lang="en-US" sz="2800" spc="-25" dirty="0" smtClean="0">
                <a:latin typeface="Times New Roman"/>
                <a:cs typeface="Times New Roman"/>
              </a:rPr>
              <a:t> </a:t>
            </a:r>
            <a:r>
              <a:rPr lang="en-US" sz="2800" spc="-20" dirty="0" smtClean="0">
                <a:latin typeface="Times New Roman"/>
                <a:cs typeface="Times New Roman"/>
              </a:rPr>
              <a:t>your 	</a:t>
            </a:r>
            <a:r>
              <a:rPr lang="en-US" sz="2800" spc="-10" dirty="0" smtClean="0">
                <a:latin typeface="Times New Roman"/>
                <a:cs typeface="Times New Roman"/>
              </a:rPr>
              <a:t>computers.</a:t>
            </a:r>
            <a:endParaRPr lang="en-US" sz="2800" dirty="0" smtClean="0">
              <a:latin typeface="Times New Roman"/>
              <a:cs typeface="Times New Roman"/>
            </a:endParaRPr>
          </a:p>
          <a:p>
            <a:pPr marL="12700">
              <a:lnSpc>
                <a:spcPct val="100000"/>
              </a:lnSpc>
              <a:spcBef>
                <a:spcPts val="355"/>
              </a:spcBef>
            </a:pPr>
            <a:r>
              <a:rPr lang="en-US" sz="2800" dirty="0" smtClean="0">
                <a:latin typeface="Times New Roman"/>
                <a:cs typeface="Times New Roman"/>
              </a:rPr>
              <a:t>The</a:t>
            </a:r>
            <a:r>
              <a:rPr lang="en-US" sz="2800" spc="-25" dirty="0" smtClean="0">
                <a:latin typeface="Times New Roman"/>
                <a:cs typeface="Times New Roman"/>
              </a:rPr>
              <a:t> </a:t>
            </a:r>
            <a:r>
              <a:rPr lang="en-US" sz="2800" dirty="0" smtClean="0">
                <a:latin typeface="Times New Roman"/>
                <a:cs typeface="Times New Roman"/>
              </a:rPr>
              <a:t>objectives</a:t>
            </a:r>
            <a:r>
              <a:rPr lang="en-US" sz="2800" spc="-50" dirty="0" smtClean="0">
                <a:latin typeface="Times New Roman"/>
                <a:cs typeface="Times New Roman"/>
              </a:rPr>
              <a:t> </a:t>
            </a:r>
            <a:r>
              <a:rPr lang="en-US" sz="2800" dirty="0" smtClean="0">
                <a:latin typeface="Times New Roman"/>
                <a:cs typeface="Times New Roman"/>
              </a:rPr>
              <a:t>of</a:t>
            </a:r>
            <a:r>
              <a:rPr lang="en-US" sz="2800" spc="-15" dirty="0" smtClean="0">
                <a:latin typeface="Times New Roman"/>
                <a:cs typeface="Times New Roman"/>
              </a:rPr>
              <a:t> </a:t>
            </a:r>
            <a:r>
              <a:rPr lang="en-US" sz="2800" dirty="0" smtClean="0">
                <a:latin typeface="Times New Roman"/>
                <a:cs typeface="Times New Roman"/>
              </a:rPr>
              <a:t>spreading</a:t>
            </a:r>
            <a:r>
              <a:rPr lang="en-US" sz="2800" spc="-30" dirty="0" smtClean="0">
                <a:latin typeface="Times New Roman"/>
                <a:cs typeface="Times New Roman"/>
              </a:rPr>
              <a:t> </a:t>
            </a:r>
            <a:r>
              <a:rPr lang="en-US" sz="2800" dirty="0" smtClean="0">
                <a:latin typeface="Times New Roman"/>
                <a:cs typeface="Times New Roman"/>
              </a:rPr>
              <a:t>a</a:t>
            </a:r>
            <a:r>
              <a:rPr lang="en-US" sz="2800" spc="-30" dirty="0" smtClean="0">
                <a:latin typeface="Times New Roman"/>
                <a:cs typeface="Times New Roman"/>
              </a:rPr>
              <a:t> </a:t>
            </a:r>
            <a:r>
              <a:rPr lang="en-US" sz="2800" dirty="0" smtClean="0">
                <a:latin typeface="Times New Roman"/>
                <a:cs typeface="Times New Roman"/>
              </a:rPr>
              <a:t>virus</a:t>
            </a:r>
            <a:r>
              <a:rPr lang="en-US" sz="2800" spc="-25" dirty="0" smtClean="0">
                <a:latin typeface="Times New Roman"/>
                <a:cs typeface="Times New Roman"/>
              </a:rPr>
              <a:t> </a:t>
            </a:r>
            <a:r>
              <a:rPr lang="en-US" sz="2800" dirty="0" smtClean="0">
                <a:latin typeface="Times New Roman"/>
                <a:cs typeface="Times New Roman"/>
              </a:rPr>
              <a:t>may</a:t>
            </a:r>
            <a:r>
              <a:rPr lang="en-US" sz="2800" spc="-20" dirty="0" smtClean="0">
                <a:latin typeface="Times New Roman"/>
                <a:cs typeface="Times New Roman"/>
              </a:rPr>
              <a:t> </a:t>
            </a:r>
            <a:r>
              <a:rPr lang="en-US" sz="2800" dirty="0" smtClean="0">
                <a:latin typeface="Times New Roman"/>
                <a:cs typeface="Times New Roman"/>
              </a:rPr>
              <a:t>include</a:t>
            </a:r>
            <a:r>
              <a:rPr lang="en-US" sz="2800" spc="-40" dirty="0" smtClean="0">
                <a:latin typeface="Times New Roman"/>
                <a:cs typeface="Times New Roman"/>
              </a:rPr>
              <a:t> </a:t>
            </a:r>
            <a:r>
              <a:rPr lang="en-US" sz="2800" dirty="0" smtClean="0">
                <a:latin typeface="Times New Roman"/>
                <a:cs typeface="Times New Roman"/>
              </a:rPr>
              <a:t>the</a:t>
            </a:r>
            <a:r>
              <a:rPr lang="en-US" sz="2800" spc="-25" dirty="0" smtClean="0">
                <a:latin typeface="Times New Roman"/>
                <a:cs typeface="Times New Roman"/>
              </a:rPr>
              <a:t> </a:t>
            </a:r>
            <a:r>
              <a:rPr lang="en-US" sz="2800" spc="-10" dirty="0" smtClean="0">
                <a:latin typeface="Times New Roman"/>
                <a:cs typeface="Times New Roman"/>
              </a:rPr>
              <a:t>following:</a:t>
            </a:r>
            <a:endParaRPr lang="en-US" sz="2800" dirty="0" smtClean="0">
              <a:latin typeface="Times New Roman"/>
              <a:cs typeface="Times New Roman"/>
            </a:endParaRPr>
          </a:p>
          <a:p>
            <a:pPr marL="240665" indent="-227965">
              <a:lnSpc>
                <a:spcPct val="100000"/>
              </a:lnSpc>
              <a:spcBef>
                <a:spcPts val="325"/>
              </a:spcBef>
              <a:buFont typeface="Arial MT"/>
              <a:buChar char="•"/>
              <a:tabLst>
                <a:tab pos="240665" algn="l"/>
              </a:tabLst>
            </a:pPr>
            <a:r>
              <a:rPr lang="en-US" sz="2800" dirty="0" smtClean="0">
                <a:latin typeface="Times New Roman"/>
                <a:cs typeface="Times New Roman"/>
              </a:rPr>
              <a:t>F</a:t>
            </a:r>
            <a:r>
              <a:rPr lang="en-US" sz="2800" dirty="0" smtClean="0">
                <a:latin typeface="Times New Roman"/>
                <a:cs typeface="Times New Roman"/>
              </a:rPr>
              <a:t>un and</a:t>
            </a:r>
            <a:r>
              <a:rPr lang="en-US" sz="2800" spc="-65" dirty="0" smtClean="0">
                <a:latin typeface="Times New Roman"/>
                <a:cs typeface="Times New Roman"/>
              </a:rPr>
              <a:t> </a:t>
            </a:r>
            <a:r>
              <a:rPr lang="en-US" sz="2800" spc="-10" dirty="0" smtClean="0">
                <a:latin typeface="Times New Roman"/>
                <a:cs typeface="Times New Roman"/>
              </a:rPr>
              <a:t>prank</a:t>
            </a:r>
            <a:endParaRPr lang="en-US" sz="2800" dirty="0" smtClean="0">
              <a:latin typeface="Times New Roman"/>
              <a:cs typeface="Times New Roman"/>
            </a:endParaRPr>
          </a:p>
          <a:p>
            <a:pPr marL="240665" indent="-227965">
              <a:lnSpc>
                <a:spcPct val="100000"/>
              </a:lnSpc>
              <a:spcBef>
                <a:spcPts val="325"/>
              </a:spcBef>
              <a:buFont typeface="Arial MT"/>
              <a:buChar char="•"/>
              <a:tabLst>
                <a:tab pos="240665" algn="l"/>
              </a:tabLst>
            </a:pPr>
            <a:r>
              <a:rPr lang="en-US" sz="2800" dirty="0" smtClean="0">
                <a:latin typeface="Times New Roman"/>
                <a:cs typeface="Times New Roman"/>
              </a:rPr>
              <a:t>Altering</a:t>
            </a:r>
            <a:r>
              <a:rPr lang="en-US" sz="2800" spc="-90" dirty="0" smtClean="0">
                <a:latin typeface="Times New Roman"/>
                <a:cs typeface="Times New Roman"/>
              </a:rPr>
              <a:t> </a:t>
            </a:r>
            <a:r>
              <a:rPr lang="en-US" sz="2800" dirty="0" smtClean="0">
                <a:latin typeface="Times New Roman"/>
                <a:cs typeface="Times New Roman"/>
              </a:rPr>
              <a:t>computer</a:t>
            </a:r>
            <a:r>
              <a:rPr lang="en-US" sz="2800" spc="-75" dirty="0" smtClean="0">
                <a:latin typeface="Times New Roman"/>
                <a:cs typeface="Times New Roman"/>
              </a:rPr>
              <a:t> </a:t>
            </a:r>
            <a:r>
              <a:rPr lang="en-US" sz="2800" spc="-10" dirty="0" smtClean="0">
                <a:latin typeface="Times New Roman"/>
                <a:cs typeface="Times New Roman"/>
              </a:rPr>
              <a:t>functioning</a:t>
            </a:r>
            <a:endParaRPr lang="en-US" sz="2800" dirty="0" smtClean="0">
              <a:latin typeface="Times New Roman"/>
              <a:cs typeface="Times New Roman"/>
            </a:endParaRPr>
          </a:p>
          <a:p>
            <a:pPr marL="240665" indent="-227965">
              <a:lnSpc>
                <a:spcPct val="100000"/>
              </a:lnSpc>
              <a:spcBef>
                <a:spcPts val="335"/>
              </a:spcBef>
              <a:buFont typeface="Arial MT"/>
              <a:buChar char="•"/>
              <a:tabLst>
                <a:tab pos="240665" algn="l"/>
              </a:tabLst>
            </a:pPr>
            <a:r>
              <a:rPr lang="en-US" sz="2800" dirty="0" smtClean="0">
                <a:latin typeface="Times New Roman"/>
                <a:cs typeface="Times New Roman"/>
              </a:rPr>
              <a:t>Corrupting</a:t>
            </a:r>
            <a:r>
              <a:rPr lang="en-US" sz="2800" spc="-45" dirty="0" smtClean="0">
                <a:latin typeface="Times New Roman"/>
                <a:cs typeface="Times New Roman"/>
              </a:rPr>
              <a:t> </a:t>
            </a:r>
            <a:r>
              <a:rPr lang="en-US" sz="2800" dirty="0" smtClean="0">
                <a:latin typeface="Times New Roman"/>
                <a:cs typeface="Times New Roman"/>
              </a:rPr>
              <a:t>data</a:t>
            </a:r>
            <a:r>
              <a:rPr lang="en-US" sz="2800" spc="-30" dirty="0" smtClean="0">
                <a:latin typeface="Times New Roman"/>
                <a:cs typeface="Times New Roman"/>
              </a:rPr>
              <a:t> </a:t>
            </a:r>
            <a:r>
              <a:rPr lang="en-US" sz="2800" dirty="0" smtClean="0">
                <a:latin typeface="Times New Roman"/>
                <a:cs typeface="Times New Roman"/>
              </a:rPr>
              <a:t>files</a:t>
            </a:r>
            <a:r>
              <a:rPr lang="en-US" sz="2800" spc="-30" dirty="0" smtClean="0">
                <a:latin typeface="Times New Roman"/>
                <a:cs typeface="Times New Roman"/>
              </a:rPr>
              <a:t> </a:t>
            </a:r>
            <a:r>
              <a:rPr lang="en-US" sz="2800" dirty="0" smtClean="0">
                <a:latin typeface="Times New Roman"/>
                <a:cs typeface="Times New Roman"/>
              </a:rPr>
              <a:t>on</a:t>
            </a:r>
            <a:r>
              <a:rPr lang="en-US" sz="2800" spc="-35" dirty="0" smtClean="0">
                <a:latin typeface="Times New Roman"/>
                <a:cs typeface="Times New Roman"/>
              </a:rPr>
              <a:t> </a:t>
            </a:r>
            <a:r>
              <a:rPr lang="en-US" sz="2800" spc="-10" dirty="0" smtClean="0">
                <a:latin typeface="Times New Roman"/>
                <a:cs typeface="Times New Roman"/>
              </a:rPr>
              <a:t>computer</a:t>
            </a:r>
            <a:endParaRPr lang="en-US" sz="2800" dirty="0" smtClean="0">
              <a:latin typeface="Times New Roman"/>
              <a:cs typeface="Times New Roman"/>
            </a:endParaRPr>
          </a:p>
          <a:p>
            <a:pPr marL="240029" indent="-227329">
              <a:lnSpc>
                <a:spcPct val="100000"/>
              </a:lnSpc>
              <a:spcBef>
                <a:spcPts val="325"/>
              </a:spcBef>
              <a:buFont typeface="Arial MT"/>
              <a:buChar char="•"/>
              <a:tabLst>
                <a:tab pos="240029" algn="l"/>
              </a:tabLst>
            </a:pPr>
            <a:r>
              <a:rPr lang="en-US" sz="2800" dirty="0" smtClean="0">
                <a:latin typeface="Times New Roman"/>
                <a:cs typeface="Times New Roman"/>
              </a:rPr>
              <a:t>Stealing</a:t>
            </a:r>
            <a:r>
              <a:rPr lang="en-US" sz="2800" spc="-10" dirty="0" smtClean="0">
                <a:latin typeface="Times New Roman"/>
                <a:cs typeface="Times New Roman"/>
              </a:rPr>
              <a:t> credentials</a:t>
            </a:r>
            <a:endParaRPr lang="en-US" sz="2800" dirty="0" smtClean="0">
              <a:latin typeface="Times New Roman"/>
              <a:cs typeface="Times New Roman"/>
            </a:endParaRPr>
          </a:p>
          <a:p>
            <a:pPr marL="240665" indent="-227965">
              <a:lnSpc>
                <a:spcPct val="100000"/>
              </a:lnSpc>
              <a:spcBef>
                <a:spcPts val="330"/>
              </a:spcBef>
              <a:buFont typeface="Arial MT"/>
              <a:buChar char="•"/>
              <a:tabLst>
                <a:tab pos="240665" algn="l"/>
              </a:tabLst>
            </a:pPr>
            <a:r>
              <a:rPr lang="en-US" sz="2800" dirty="0" smtClean="0">
                <a:latin typeface="Times New Roman"/>
                <a:cs typeface="Times New Roman"/>
              </a:rPr>
              <a:t>Sending</a:t>
            </a:r>
            <a:r>
              <a:rPr lang="en-US" sz="2800" spc="-80" dirty="0" smtClean="0">
                <a:latin typeface="Times New Roman"/>
                <a:cs typeface="Times New Roman"/>
              </a:rPr>
              <a:t> </a:t>
            </a:r>
            <a:r>
              <a:rPr lang="en-US" sz="2800" dirty="0" smtClean="0">
                <a:latin typeface="Times New Roman"/>
                <a:cs typeface="Times New Roman"/>
              </a:rPr>
              <a:t>spamming</a:t>
            </a:r>
            <a:r>
              <a:rPr lang="en-US" sz="2800" spc="-50" dirty="0" smtClean="0">
                <a:latin typeface="Times New Roman"/>
                <a:cs typeface="Times New Roman"/>
              </a:rPr>
              <a:t> </a:t>
            </a:r>
            <a:r>
              <a:rPr lang="en-US" sz="2800" dirty="0" smtClean="0">
                <a:latin typeface="Times New Roman"/>
                <a:cs typeface="Times New Roman"/>
              </a:rPr>
              <a:t>emails</a:t>
            </a:r>
            <a:r>
              <a:rPr lang="en-US" sz="2800" spc="-50" dirty="0" smtClean="0">
                <a:latin typeface="Times New Roman"/>
                <a:cs typeface="Times New Roman"/>
              </a:rPr>
              <a:t> </a:t>
            </a:r>
            <a:r>
              <a:rPr lang="en-US" sz="2800" dirty="0" smtClean="0">
                <a:latin typeface="Times New Roman"/>
                <a:cs typeface="Times New Roman"/>
              </a:rPr>
              <a:t>from</a:t>
            </a:r>
            <a:r>
              <a:rPr lang="en-US" sz="2800" spc="-65" dirty="0" smtClean="0">
                <a:latin typeface="Times New Roman"/>
                <a:cs typeface="Times New Roman"/>
              </a:rPr>
              <a:t> </a:t>
            </a:r>
            <a:r>
              <a:rPr lang="en-US" sz="2800" dirty="0" smtClean="0">
                <a:latin typeface="Times New Roman"/>
                <a:cs typeface="Times New Roman"/>
              </a:rPr>
              <a:t>your</a:t>
            </a:r>
            <a:r>
              <a:rPr lang="en-US" sz="2800" spc="-55" dirty="0" smtClean="0">
                <a:latin typeface="Times New Roman"/>
                <a:cs typeface="Times New Roman"/>
              </a:rPr>
              <a:t> </a:t>
            </a:r>
            <a:r>
              <a:rPr lang="en-US" sz="2800" spc="-10" dirty="0" smtClean="0">
                <a:latin typeface="Times New Roman"/>
                <a:cs typeface="Times New Roman"/>
              </a:rPr>
              <a:t>computer</a:t>
            </a:r>
            <a:endParaRPr lang="en-US" sz="2800" dirty="0" smtClean="0">
              <a:latin typeface="Times New Roman"/>
              <a:cs typeface="Times New Roman"/>
            </a:endParaRPr>
          </a:p>
          <a:p>
            <a:pPr marL="240665" indent="-227965">
              <a:lnSpc>
                <a:spcPct val="100000"/>
              </a:lnSpc>
              <a:spcBef>
                <a:spcPts val="335"/>
              </a:spcBef>
              <a:buFont typeface="Arial MT"/>
              <a:buChar char="•"/>
              <a:tabLst>
                <a:tab pos="240665" algn="l"/>
              </a:tabLst>
            </a:pPr>
            <a:r>
              <a:rPr lang="en-US" sz="2800" dirty="0" smtClean="0">
                <a:latin typeface="Times New Roman"/>
                <a:cs typeface="Times New Roman"/>
              </a:rPr>
              <a:t>Erasing</a:t>
            </a:r>
            <a:r>
              <a:rPr lang="en-US" sz="2800" spc="-35" dirty="0" smtClean="0">
                <a:latin typeface="Times New Roman"/>
                <a:cs typeface="Times New Roman"/>
              </a:rPr>
              <a:t> </a:t>
            </a:r>
            <a:r>
              <a:rPr lang="en-US" sz="2800" dirty="0" smtClean="0">
                <a:latin typeface="Times New Roman"/>
                <a:cs typeface="Times New Roman"/>
              </a:rPr>
              <a:t>valuable</a:t>
            </a:r>
            <a:r>
              <a:rPr lang="en-US" sz="2800" spc="-60" dirty="0" smtClean="0">
                <a:latin typeface="Times New Roman"/>
                <a:cs typeface="Times New Roman"/>
              </a:rPr>
              <a:t> </a:t>
            </a:r>
            <a:r>
              <a:rPr lang="en-US" sz="2800" spc="-20" dirty="0" smtClean="0">
                <a:latin typeface="Times New Roman"/>
                <a:cs typeface="Times New Roman"/>
              </a:rPr>
              <a:t>data</a:t>
            </a:r>
            <a:endParaRPr lang="en-US" sz="2800" dirty="0" smtClean="0">
              <a:latin typeface="Times New Roman"/>
              <a:cs typeface="Times New Roman"/>
            </a:endParaRPr>
          </a:p>
          <a:p>
            <a:pPr marL="240029" indent="-227329">
              <a:lnSpc>
                <a:spcPct val="100000"/>
              </a:lnSpc>
              <a:spcBef>
                <a:spcPts val="325"/>
              </a:spcBef>
              <a:buFont typeface="Arial MT"/>
              <a:buChar char="•"/>
              <a:tabLst>
                <a:tab pos="240029" algn="l"/>
              </a:tabLst>
            </a:pPr>
            <a:r>
              <a:rPr lang="en-US" sz="2800" dirty="0" smtClean="0">
                <a:latin typeface="Times New Roman"/>
                <a:cs typeface="Times New Roman"/>
              </a:rPr>
              <a:t>Damaging</a:t>
            </a:r>
            <a:r>
              <a:rPr lang="en-US" sz="2800" spc="-30" dirty="0" smtClean="0">
                <a:latin typeface="Times New Roman"/>
                <a:cs typeface="Times New Roman"/>
              </a:rPr>
              <a:t> </a:t>
            </a:r>
            <a:r>
              <a:rPr lang="en-US" sz="2800" dirty="0" smtClean="0">
                <a:latin typeface="Times New Roman"/>
                <a:cs typeface="Times New Roman"/>
              </a:rPr>
              <a:t>hard</a:t>
            </a:r>
            <a:r>
              <a:rPr lang="en-US" sz="2800" spc="-45" dirty="0" smtClean="0">
                <a:latin typeface="Times New Roman"/>
                <a:cs typeface="Times New Roman"/>
              </a:rPr>
              <a:t> </a:t>
            </a:r>
            <a:r>
              <a:rPr lang="en-US" sz="2800" spc="-10" dirty="0" smtClean="0">
                <a:latin typeface="Times New Roman"/>
                <a:cs typeface="Times New Roman"/>
              </a:rPr>
              <a:t>drives</a:t>
            </a:r>
            <a:endParaRPr lang="en-US" sz="2800" dirty="0" smtClean="0">
              <a:latin typeface="Times New Roman"/>
              <a:cs typeface="Times New Roman"/>
            </a:endParaRPr>
          </a:p>
        </p:txBody>
      </p:sp>
    </p:spTree>
    <p:extLst>
      <p:ext uri="{BB962C8B-B14F-4D97-AF65-F5344CB8AC3E}">
        <p14:creationId xmlns:p14="http://schemas.microsoft.com/office/powerpoint/2010/main" val="36484349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92455"/>
            <a:ext cx="2225675" cy="635000"/>
          </a:xfrm>
          <a:prstGeom prst="rect">
            <a:avLst/>
          </a:prstGeom>
        </p:spPr>
        <p:txBody>
          <a:bodyPr vert="horz" wrap="square" lIns="0" tIns="12065" rIns="0" bIns="0" rtlCol="0">
            <a:spAutoFit/>
          </a:bodyPr>
          <a:lstStyle/>
          <a:p>
            <a:pPr marL="12700">
              <a:lnSpc>
                <a:spcPct val="100000"/>
              </a:lnSpc>
              <a:spcBef>
                <a:spcPts val="95"/>
              </a:spcBef>
            </a:pPr>
            <a:r>
              <a:rPr sz="4000" spc="-10" dirty="0"/>
              <a:t>VIRUSES</a:t>
            </a:r>
            <a:endParaRPr sz="400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3" name="object 3"/>
          <p:cNvSpPr txBox="1"/>
          <p:nvPr/>
        </p:nvSpPr>
        <p:spPr>
          <a:xfrm>
            <a:off x="916939" y="820927"/>
            <a:ext cx="10318750" cy="4903265"/>
          </a:xfrm>
          <a:prstGeom prst="rect">
            <a:avLst/>
          </a:prstGeom>
        </p:spPr>
        <p:txBody>
          <a:bodyPr vert="horz" wrap="square" lIns="0" tIns="57785" rIns="0" bIns="0" rtlCol="0">
            <a:spAutoFit/>
          </a:bodyPr>
          <a:lstStyle/>
          <a:p>
            <a:pPr marL="241300" marR="5080" indent="-229235" algn="just">
              <a:lnSpc>
                <a:spcPts val="2810"/>
              </a:lnSpc>
              <a:spcBef>
                <a:spcPts val="455"/>
              </a:spcBef>
              <a:buFont typeface="Arial MT"/>
              <a:buChar char="•"/>
              <a:tabLst>
                <a:tab pos="241300" algn="l"/>
              </a:tabLst>
            </a:pPr>
            <a:r>
              <a:rPr sz="2600" dirty="0">
                <a:latin typeface="Times New Roman"/>
                <a:cs typeface="Times New Roman"/>
              </a:rPr>
              <a:t>In</a:t>
            </a:r>
            <a:r>
              <a:rPr sz="2600" spc="-25" dirty="0">
                <a:latin typeface="Times New Roman"/>
                <a:cs typeface="Times New Roman"/>
              </a:rPr>
              <a:t> </a:t>
            </a:r>
            <a:r>
              <a:rPr sz="2600" dirty="0">
                <a:latin typeface="Times New Roman"/>
                <a:cs typeface="Times New Roman"/>
              </a:rPr>
              <a:t>the</a:t>
            </a:r>
            <a:r>
              <a:rPr sz="2600" spc="-10" dirty="0">
                <a:latin typeface="Times New Roman"/>
                <a:cs typeface="Times New Roman"/>
              </a:rPr>
              <a:t> </a:t>
            </a:r>
            <a:r>
              <a:rPr sz="2600" dirty="0">
                <a:latin typeface="Times New Roman"/>
                <a:cs typeface="Times New Roman"/>
              </a:rPr>
              <a:t>modern</a:t>
            </a:r>
            <a:r>
              <a:rPr sz="2600" spc="-25" dirty="0">
                <a:latin typeface="Times New Roman"/>
                <a:cs typeface="Times New Roman"/>
              </a:rPr>
              <a:t> </a:t>
            </a:r>
            <a:r>
              <a:rPr sz="2600" dirty="0">
                <a:latin typeface="Times New Roman"/>
                <a:cs typeface="Times New Roman"/>
              </a:rPr>
              <a:t>world,</a:t>
            </a:r>
            <a:r>
              <a:rPr sz="2600" spc="-45" dirty="0">
                <a:latin typeface="Times New Roman"/>
                <a:cs typeface="Times New Roman"/>
              </a:rPr>
              <a:t> </a:t>
            </a:r>
            <a:r>
              <a:rPr sz="2600" dirty="0">
                <a:latin typeface="Times New Roman"/>
                <a:cs typeface="Times New Roman"/>
              </a:rPr>
              <a:t>the</a:t>
            </a:r>
            <a:r>
              <a:rPr sz="2600" spc="-5" dirty="0">
                <a:latin typeface="Times New Roman"/>
                <a:cs typeface="Times New Roman"/>
              </a:rPr>
              <a:t> </a:t>
            </a:r>
            <a:r>
              <a:rPr sz="2600" dirty="0">
                <a:latin typeface="Times New Roman"/>
                <a:cs typeface="Times New Roman"/>
              </a:rPr>
              <a:t>creation</a:t>
            </a:r>
            <a:r>
              <a:rPr sz="2600" spc="-15" dirty="0">
                <a:latin typeface="Times New Roman"/>
                <a:cs typeface="Times New Roman"/>
              </a:rPr>
              <a:t> </a:t>
            </a:r>
            <a:r>
              <a:rPr sz="2600" dirty="0">
                <a:latin typeface="Times New Roman"/>
                <a:cs typeface="Times New Roman"/>
              </a:rPr>
              <a:t>of</a:t>
            </a:r>
            <a:r>
              <a:rPr sz="2600" spc="-25" dirty="0">
                <a:latin typeface="Times New Roman"/>
                <a:cs typeface="Times New Roman"/>
              </a:rPr>
              <a:t> </a:t>
            </a:r>
            <a:r>
              <a:rPr sz="2600" dirty="0">
                <a:latin typeface="Times New Roman"/>
                <a:cs typeface="Times New Roman"/>
              </a:rPr>
              <a:t>computer</a:t>
            </a:r>
            <a:r>
              <a:rPr sz="2600" spc="-30" dirty="0">
                <a:latin typeface="Times New Roman"/>
                <a:cs typeface="Times New Roman"/>
              </a:rPr>
              <a:t> </a:t>
            </a:r>
            <a:r>
              <a:rPr sz="2600" dirty="0">
                <a:latin typeface="Times New Roman"/>
                <a:cs typeface="Times New Roman"/>
              </a:rPr>
              <a:t>virus</a:t>
            </a:r>
            <a:r>
              <a:rPr sz="2600" spc="-10" dirty="0">
                <a:latin typeface="Times New Roman"/>
                <a:cs typeface="Times New Roman"/>
              </a:rPr>
              <a:t> </a:t>
            </a:r>
            <a:r>
              <a:rPr sz="2600" dirty="0">
                <a:latin typeface="Times New Roman"/>
                <a:cs typeface="Times New Roman"/>
              </a:rPr>
              <a:t>is</a:t>
            </a:r>
            <a:r>
              <a:rPr sz="2600" spc="-15" dirty="0">
                <a:latin typeface="Times New Roman"/>
                <a:cs typeface="Times New Roman"/>
              </a:rPr>
              <a:t> </a:t>
            </a:r>
            <a:r>
              <a:rPr sz="2600" dirty="0">
                <a:latin typeface="Times New Roman"/>
                <a:cs typeface="Times New Roman"/>
              </a:rPr>
              <a:t>motivated</a:t>
            </a:r>
            <a:r>
              <a:rPr sz="2600" spc="-10" dirty="0">
                <a:latin typeface="Times New Roman"/>
                <a:cs typeface="Times New Roman"/>
              </a:rPr>
              <a:t> </a:t>
            </a:r>
            <a:r>
              <a:rPr sz="2600" dirty="0">
                <a:latin typeface="Times New Roman"/>
                <a:cs typeface="Times New Roman"/>
              </a:rPr>
              <a:t>by</a:t>
            </a:r>
            <a:r>
              <a:rPr sz="2600" spc="-30" dirty="0">
                <a:latin typeface="Times New Roman"/>
                <a:cs typeface="Times New Roman"/>
              </a:rPr>
              <a:t> </a:t>
            </a:r>
            <a:r>
              <a:rPr sz="2600" spc="-10" dirty="0">
                <a:latin typeface="Times New Roman"/>
                <a:cs typeface="Times New Roman"/>
              </a:rPr>
              <a:t>gaining </a:t>
            </a:r>
            <a:r>
              <a:rPr sz="2600" dirty="0">
                <a:latin typeface="Times New Roman"/>
                <a:cs typeface="Times New Roman"/>
              </a:rPr>
              <a:t>some</a:t>
            </a:r>
            <a:r>
              <a:rPr sz="2600" spc="-25" dirty="0">
                <a:latin typeface="Times New Roman"/>
                <a:cs typeface="Times New Roman"/>
              </a:rPr>
              <a:t> </a:t>
            </a:r>
            <a:r>
              <a:rPr sz="2600" dirty="0">
                <a:latin typeface="Times New Roman"/>
                <a:cs typeface="Times New Roman"/>
              </a:rPr>
              <a:t>financial</a:t>
            </a:r>
            <a:r>
              <a:rPr sz="2600" spc="-20" dirty="0">
                <a:latin typeface="Times New Roman"/>
                <a:cs typeface="Times New Roman"/>
              </a:rPr>
              <a:t> </a:t>
            </a:r>
            <a:r>
              <a:rPr sz="2600" dirty="0">
                <a:latin typeface="Times New Roman"/>
                <a:cs typeface="Times New Roman"/>
              </a:rPr>
              <a:t>benefits</a:t>
            </a:r>
            <a:r>
              <a:rPr sz="2600" spc="-25" dirty="0">
                <a:latin typeface="Times New Roman"/>
                <a:cs typeface="Times New Roman"/>
              </a:rPr>
              <a:t> </a:t>
            </a:r>
            <a:r>
              <a:rPr sz="2600" dirty="0">
                <a:latin typeface="Times New Roman"/>
                <a:cs typeface="Times New Roman"/>
              </a:rPr>
              <a:t>on</a:t>
            </a:r>
            <a:r>
              <a:rPr sz="2600" spc="-35" dirty="0">
                <a:latin typeface="Times New Roman"/>
                <a:cs typeface="Times New Roman"/>
              </a:rPr>
              <a:t> </a:t>
            </a:r>
            <a:r>
              <a:rPr sz="2600" dirty="0">
                <a:latin typeface="Times New Roman"/>
                <a:cs typeface="Times New Roman"/>
              </a:rPr>
              <a:t>the</a:t>
            </a:r>
            <a:r>
              <a:rPr sz="2600" spc="-15" dirty="0">
                <a:latin typeface="Times New Roman"/>
                <a:cs typeface="Times New Roman"/>
              </a:rPr>
              <a:t> </a:t>
            </a:r>
            <a:r>
              <a:rPr sz="2600" dirty="0">
                <a:latin typeface="Times New Roman"/>
                <a:cs typeface="Times New Roman"/>
              </a:rPr>
              <a:t>Internet,</a:t>
            </a:r>
            <a:r>
              <a:rPr sz="2600" spc="-35" dirty="0">
                <a:latin typeface="Times New Roman"/>
                <a:cs typeface="Times New Roman"/>
              </a:rPr>
              <a:t> </a:t>
            </a:r>
            <a:r>
              <a:rPr sz="2600" dirty="0">
                <a:latin typeface="Times New Roman"/>
                <a:cs typeface="Times New Roman"/>
              </a:rPr>
              <a:t>e.g.</a:t>
            </a:r>
            <a:r>
              <a:rPr sz="2600" spc="-20" dirty="0">
                <a:latin typeface="Times New Roman"/>
                <a:cs typeface="Times New Roman"/>
              </a:rPr>
              <a:t> </a:t>
            </a:r>
            <a:r>
              <a:rPr sz="2600" u="sng" dirty="0">
                <a:uFill>
                  <a:solidFill>
                    <a:srgbClr val="000000"/>
                  </a:solidFill>
                </a:uFill>
                <a:latin typeface="Times New Roman"/>
                <a:cs typeface="Times New Roman"/>
              </a:rPr>
              <a:t>stealing</a:t>
            </a:r>
            <a:r>
              <a:rPr sz="2600" u="sng" spc="-5" dirty="0">
                <a:uFill>
                  <a:solidFill>
                    <a:srgbClr val="000000"/>
                  </a:solidFill>
                </a:uFill>
                <a:latin typeface="Times New Roman"/>
                <a:cs typeface="Times New Roman"/>
              </a:rPr>
              <a:t> </a:t>
            </a:r>
            <a:r>
              <a:rPr sz="2600" u="sng" dirty="0">
                <a:uFill>
                  <a:solidFill>
                    <a:srgbClr val="000000"/>
                  </a:solidFill>
                </a:uFill>
                <a:latin typeface="Times New Roman"/>
                <a:cs typeface="Times New Roman"/>
              </a:rPr>
              <a:t>data</a:t>
            </a:r>
            <a:r>
              <a:rPr sz="2600" u="sng" spc="-25" dirty="0">
                <a:uFill>
                  <a:solidFill>
                    <a:srgbClr val="000000"/>
                  </a:solidFill>
                </a:uFill>
                <a:latin typeface="Times New Roman"/>
                <a:cs typeface="Times New Roman"/>
              </a:rPr>
              <a:t> </a:t>
            </a:r>
            <a:r>
              <a:rPr sz="2600" u="sng" dirty="0">
                <a:uFill>
                  <a:solidFill>
                    <a:srgbClr val="000000"/>
                  </a:solidFill>
                </a:uFill>
                <a:latin typeface="Times New Roman"/>
                <a:cs typeface="Times New Roman"/>
              </a:rPr>
              <a:t>and</a:t>
            </a:r>
            <a:r>
              <a:rPr sz="2600" u="sng" spc="-40" dirty="0">
                <a:uFill>
                  <a:solidFill>
                    <a:srgbClr val="000000"/>
                  </a:solidFill>
                </a:uFill>
                <a:latin typeface="Times New Roman"/>
                <a:cs typeface="Times New Roman"/>
              </a:rPr>
              <a:t> </a:t>
            </a:r>
            <a:r>
              <a:rPr sz="2600" u="sng" dirty="0">
                <a:uFill>
                  <a:solidFill>
                    <a:srgbClr val="000000"/>
                  </a:solidFill>
                </a:uFill>
                <a:latin typeface="Times New Roman"/>
                <a:cs typeface="Times New Roman"/>
              </a:rPr>
              <a:t>selling</a:t>
            </a:r>
            <a:r>
              <a:rPr sz="2600" u="sng" spc="-5" dirty="0">
                <a:uFill>
                  <a:solidFill>
                    <a:srgbClr val="000000"/>
                  </a:solidFill>
                </a:uFill>
                <a:latin typeface="Times New Roman"/>
                <a:cs typeface="Times New Roman"/>
              </a:rPr>
              <a:t> </a:t>
            </a:r>
            <a:r>
              <a:rPr sz="2600" u="sng" dirty="0">
                <a:uFill>
                  <a:solidFill>
                    <a:srgbClr val="000000"/>
                  </a:solidFill>
                </a:uFill>
                <a:latin typeface="Times New Roman"/>
                <a:cs typeface="Times New Roman"/>
              </a:rPr>
              <a:t>it</a:t>
            </a:r>
            <a:r>
              <a:rPr sz="2600" u="sng" spc="-20" dirty="0">
                <a:uFill>
                  <a:solidFill>
                    <a:srgbClr val="000000"/>
                  </a:solidFill>
                </a:uFill>
                <a:latin typeface="Times New Roman"/>
                <a:cs typeface="Times New Roman"/>
              </a:rPr>
              <a:t> </a:t>
            </a:r>
            <a:r>
              <a:rPr sz="2600" u="sng" dirty="0">
                <a:uFill>
                  <a:solidFill>
                    <a:srgbClr val="000000"/>
                  </a:solidFill>
                </a:uFill>
                <a:latin typeface="Times New Roman"/>
                <a:cs typeface="Times New Roman"/>
              </a:rPr>
              <a:t>to</a:t>
            </a:r>
            <a:r>
              <a:rPr sz="2600" u="sng" spc="-15" dirty="0">
                <a:uFill>
                  <a:solidFill>
                    <a:srgbClr val="000000"/>
                  </a:solidFill>
                </a:uFill>
                <a:latin typeface="Times New Roman"/>
                <a:cs typeface="Times New Roman"/>
              </a:rPr>
              <a:t> </a:t>
            </a:r>
            <a:r>
              <a:rPr sz="2600" u="sng" spc="-25" dirty="0">
                <a:uFill>
                  <a:solidFill>
                    <a:srgbClr val="000000"/>
                  </a:solidFill>
                </a:uFill>
                <a:latin typeface="Times New Roman"/>
                <a:cs typeface="Times New Roman"/>
              </a:rPr>
              <a:t>the</a:t>
            </a:r>
            <a:r>
              <a:rPr sz="2600" spc="-25" dirty="0">
                <a:latin typeface="Times New Roman"/>
                <a:cs typeface="Times New Roman"/>
              </a:rPr>
              <a:t> </a:t>
            </a:r>
            <a:r>
              <a:rPr sz="2600" u="sng" dirty="0">
                <a:uFill>
                  <a:solidFill>
                    <a:srgbClr val="000000"/>
                  </a:solidFill>
                </a:uFill>
                <a:latin typeface="Times New Roman"/>
                <a:cs typeface="Times New Roman"/>
              </a:rPr>
              <a:t>third</a:t>
            </a:r>
            <a:r>
              <a:rPr sz="2600" u="sng" spc="-20" dirty="0">
                <a:uFill>
                  <a:solidFill>
                    <a:srgbClr val="000000"/>
                  </a:solidFill>
                </a:uFill>
                <a:latin typeface="Times New Roman"/>
                <a:cs typeface="Times New Roman"/>
              </a:rPr>
              <a:t> </a:t>
            </a:r>
            <a:r>
              <a:rPr sz="2600" u="sng" spc="-10" dirty="0">
                <a:uFill>
                  <a:solidFill>
                    <a:srgbClr val="000000"/>
                  </a:solidFill>
                </a:uFill>
                <a:latin typeface="Times New Roman"/>
                <a:cs typeface="Times New Roman"/>
              </a:rPr>
              <a:t>party</a:t>
            </a:r>
            <a:r>
              <a:rPr sz="2600" spc="-10" dirty="0">
                <a:latin typeface="Times New Roman"/>
                <a:cs typeface="Times New Roman"/>
              </a:rPr>
              <a:t>,</a:t>
            </a:r>
            <a:r>
              <a:rPr sz="2600" spc="-35" dirty="0">
                <a:latin typeface="Times New Roman"/>
                <a:cs typeface="Times New Roman"/>
              </a:rPr>
              <a:t> </a:t>
            </a:r>
            <a:r>
              <a:rPr sz="2600" dirty="0">
                <a:latin typeface="Times New Roman"/>
                <a:cs typeface="Times New Roman"/>
              </a:rPr>
              <a:t>or</a:t>
            </a:r>
            <a:r>
              <a:rPr sz="2600" spc="-35" dirty="0">
                <a:latin typeface="Times New Roman"/>
                <a:cs typeface="Times New Roman"/>
              </a:rPr>
              <a:t> </a:t>
            </a:r>
            <a:r>
              <a:rPr sz="2600" u="sng" dirty="0">
                <a:uFill>
                  <a:solidFill>
                    <a:srgbClr val="000000"/>
                  </a:solidFill>
                </a:uFill>
                <a:latin typeface="Times New Roman"/>
                <a:cs typeface="Times New Roman"/>
              </a:rPr>
              <a:t>using</a:t>
            </a:r>
            <a:r>
              <a:rPr sz="2600" u="sng" spc="-20" dirty="0">
                <a:uFill>
                  <a:solidFill>
                    <a:srgbClr val="000000"/>
                  </a:solidFill>
                </a:uFill>
                <a:latin typeface="Times New Roman"/>
                <a:cs typeface="Times New Roman"/>
              </a:rPr>
              <a:t> </a:t>
            </a:r>
            <a:r>
              <a:rPr sz="2600" u="sng" dirty="0">
                <a:uFill>
                  <a:solidFill>
                    <a:srgbClr val="000000"/>
                  </a:solidFill>
                </a:uFill>
                <a:latin typeface="Times New Roman"/>
                <a:cs typeface="Times New Roman"/>
              </a:rPr>
              <a:t>that</a:t>
            </a:r>
            <a:r>
              <a:rPr sz="2600" u="sng" spc="-30" dirty="0">
                <a:uFill>
                  <a:solidFill>
                    <a:srgbClr val="000000"/>
                  </a:solidFill>
                </a:uFill>
                <a:latin typeface="Times New Roman"/>
                <a:cs typeface="Times New Roman"/>
              </a:rPr>
              <a:t> </a:t>
            </a:r>
            <a:r>
              <a:rPr sz="2600" u="sng" dirty="0">
                <a:uFill>
                  <a:solidFill>
                    <a:srgbClr val="000000"/>
                  </a:solidFill>
                </a:uFill>
                <a:latin typeface="Times New Roman"/>
                <a:cs typeface="Times New Roman"/>
              </a:rPr>
              <a:t>data</a:t>
            </a:r>
            <a:r>
              <a:rPr sz="2600" u="sng" spc="-25" dirty="0">
                <a:uFill>
                  <a:solidFill>
                    <a:srgbClr val="000000"/>
                  </a:solidFill>
                </a:uFill>
                <a:latin typeface="Times New Roman"/>
                <a:cs typeface="Times New Roman"/>
              </a:rPr>
              <a:t> </a:t>
            </a:r>
            <a:r>
              <a:rPr sz="2600" u="sng" dirty="0">
                <a:uFill>
                  <a:solidFill>
                    <a:srgbClr val="000000"/>
                  </a:solidFill>
                </a:uFill>
                <a:latin typeface="Times New Roman"/>
                <a:cs typeface="Times New Roman"/>
              </a:rPr>
              <a:t>for</a:t>
            </a:r>
            <a:r>
              <a:rPr sz="2600" u="sng" spc="-35" dirty="0">
                <a:uFill>
                  <a:solidFill>
                    <a:srgbClr val="000000"/>
                  </a:solidFill>
                </a:uFill>
                <a:latin typeface="Times New Roman"/>
                <a:cs typeface="Times New Roman"/>
              </a:rPr>
              <a:t> </a:t>
            </a:r>
            <a:r>
              <a:rPr sz="2600" u="sng" dirty="0">
                <a:uFill>
                  <a:solidFill>
                    <a:srgbClr val="000000"/>
                  </a:solidFill>
                </a:uFill>
                <a:latin typeface="Times New Roman"/>
                <a:cs typeface="Times New Roman"/>
              </a:rPr>
              <a:t>malicious</a:t>
            </a:r>
            <a:r>
              <a:rPr sz="2600" u="sng" spc="-15" dirty="0">
                <a:uFill>
                  <a:solidFill>
                    <a:srgbClr val="000000"/>
                  </a:solidFill>
                </a:uFill>
                <a:latin typeface="Times New Roman"/>
                <a:cs typeface="Times New Roman"/>
              </a:rPr>
              <a:t> </a:t>
            </a:r>
            <a:r>
              <a:rPr sz="2600" u="sng" dirty="0">
                <a:uFill>
                  <a:solidFill>
                    <a:srgbClr val="000000"/>
                  </a:solidFill>
                </a:uFill>
                <a:latin typeface="Times New Roman"/>
                <a:cs typeface="Times New Roman"/>
              </a:rPr>
              <a:t>financial</a:t>
            </a:r>
            <a:r>
              <a:rPr sz="2600" u="sng" spc="-40" dirty="0">
                <a:uFill>
                  <a:solidFill>
                    <a:srgbClr val="000000"/>
                  </a:solidFill>
                </a:uFill>
                <a:latin typeface="Times New Roman"/>
                <a:cs typeface="Times New Roman"/>
              </a:rPr>
              <a:t> </a:t>
            </a:r>
            <a:r>
              <a:rPr sz="2600" u="sng" spc="-10" dirty="0">
                <a:uFill>
                  <a:solidFill>
                    <a:srgbClr val="000000"/>
                  </a:solidFill>
                </a:uFill>
                <a:latin typeface="Times New Roman"/>
                <a:cs typeface="Times New Roman"/>
              </a:rPr>
              <a:t>transactions</a:t>
            </a:r>
            <a:r>
              <a:rPr sz="2600" spc="-10" dirty="0">
                <a:latin typeface="Times New Roman"/>
                <a:cs typeface="Times New Roman"/>
              </a:rPr>
              <a:t>.</a:t>
            </a:r>
            <a:endParaRPr sz="2600" dirty="0">
              <a:latin typeface="Times New Roman"/>
              <a:cs typeface="Times New Roman"/>
            </a:endParaRPr>
          </a:p>
          <a:p>
            <a:pPr marL="12700" algn="just">
              <a:lnSpc>
                <a:spcPct val="100000"/>
              </a:lnSpc>
              <a:spcBef>
                <a:spcPts val="650"/>
              </a:spcBef>
            </a:pPr>
            <a:r>
              <a:rPr sz="2600" dirty="0">
                <a:latin typeface="Times New Roman"/>
                <a:cs typeface="Times New Roman"/>
              </a:rPr>
              <a:t>The</a:t>
            </a:r>
            <a:r>
              <a:rPr sz="2600" spc="-35" dirty="0">
                <a:latin typeface="Times New Roman"/>
                <a:cs typeface="Times New Roman"/>
              </a:rPr>
              <a:t> </a:t>
            </a:r>
            <a:r>
              <a:rPr sz="2600" dirty="0">
                <a:latin typeface="Times New Roman"/>
                <a:cs typeface="Times New Roman"/>
              </a:rPr>
              <a:t>main symptoms</a:t>
            </a:r>
            <a:r>
              <a:rPr sz="2600" spc="-10" dirty="0">
                <a:latin typeface="Times New Roman"/>
                <a:cs typeface="Times New Roman"/>
              </a:rPr>
              <a:t> </a:t>
            </a:r>
            <a:r>
              <a:rPr sz="2600" dirty="0">
                <a:latin typeface="Times New Roman"/>
                <a:cs typeface="Times New Roman"/>
              </a:rPr>
              <a:t>of</a:t>
            </a:r>
            <a:r>
              <a:rPr sz="2600" spc="-15" dirty="0">
                <a:latin typeface="Times New Roman"/>
                <a:cs typeface="Times New Roman"/>
              </a:rPr>
              <a:t> </a:t>
            </a:r>
            <a:r>
              <a:rPr sz="2600" dirty="0">
                <a:latin typeface="Times New Roman"/>
                <a:cs typeface="Times New Roman"/>
              </a:rPr>
              <a:t>a </a:t>
            </a:r>
            <a:r>
              <a:rPr sz="2600" spc="-10" dirty="0">
                <a:latin typeface="Times New Roman"/>
                <a:cs typeface="Times New Roman"/>
              </a:rPr>
              <a:t>virus-</a:t>
            </a:r>
            <a:r>
              <a:rPr sz="2600" dirty="0">
                <a:latin typeface="Times New Roman"/>
                <a:cs typeface="Times New Roman"/>
              </a:rPr>
              <a:t>infected</a:t>
            </a:r>
            <a:r>
              <a:rPr sz="2600" spc="-15" dirty="0">
                <a:latin typeface="Times New Roman"/>
                <a:cs typeface="Times New Roman"/>
              </a:rPr>
              <a:t> </a:t>
            </a:r>
            <a:r>
              <a:rPr sz="2600" dirty="0">
                <a:latin typeface="Times New Roman"/>
                <a:cs typeface="Times New Roman"/>
              </a:rPr>
              <a:t>computer</a:t>
            </a:r>
            <a:r>
              <a:rPr sz="2600" spc="-35" dirty="0">
                <a:latin typeface="Times New Roman"/>
                <a:cs typeface="Times New Roman"/>
              </a:rPr>
              <a:t> </a:t>
            </a:r>
            <a:r>
              <a:rPr sz="2600" dirty="0">
                <a:latin typeface="Times New Roman"/>
                <a:cs typeface="Times New Roman"/>
              </a:rPr>
              <a:t>may</a:t>
            </a:r>
            <a:r>
              <a:rPr sz="2600" spc="5" dirty="0">
                <a:latin typeface="Times New Roman"/>
                <a:cs typeface="Times New Roman"/>
              </a:rPr>
              <a:t> </a:t>
            </a:r>
            <a:r>
              <a:rPr sz="2600" dirty="0">
                <a:latin typeface="Times New Roman"/>
                <a:cs typeface="Times New Roman"/>
              </a:rPr>
              <a:t>include</a:t>
            </a:r>
            <a:r>
              <a:rPr sz="2600" spc="-25" dirty="0">
                <a:latin typeface="Times New Roman"/>
                <a:cs typeface="Times New Roman"/>
              </a:rPr>
              <a:t> </a:t>
            </a:r>
            <a:r>
              <a:rPr sz="2600" dirty="0">
                <a:latin typeface="Times New Roman"/>
                <a:cs typeface="Times New Roman"/>
              </a:rPr>
              <a:t>the </a:t>
            </a:r>
            <a:r>
              <a:rPr sz="2600" spc="-10" dirty="0">
                <a:latin typeface="Times New Roman"/>
                <a:cs typeface="Times New Roman"/>
              </a:rPr>
              <a:t>following:</a:t>
            </a:r>
            <a:endParaRPr sz="2600" dirty="0">
              <a:latin typeface="Times New Roman"/>
              <a:cs typeface="Times New Roman"/>
            </a:endParaRPr>
          </a:p>
          <a:p>
            <a:pPr marL="698500" lvl="1" indent="-228600">
              <a:lnSpc>
                <a:spcPct val="100000"/>
              </a:lnSpc>
              <a:spcBef>
                <a:spcPts val="245"/>
              </a:spcBef>
              <a:buFont typeface="Arial MT"/>
              <a:buChar char="•"/>
              <a:tabLst>
                <a:tab pos="698500" algn="l"/>
              </a:tabLst>
            </a:pPr>
            <a:r>
              <a:rPr lang="en-US" sz="2200" dirty="0" smtClean="0">
                <a:latin typeface="Times New Roman"/>
                <a:cs typeface="Times New Roman"/>
              </a:rPr>
              <a:t>Frequent pop-ups and unwanted messages</a:t>
            </a:r>
          </a:p>
          <a:p>
            <a:pPr marL="698500" lvl="1" indent="-228600">
              <a:lnSpc>
                <a:spcPct val="100000"/>
              </a:lnSpc>
              <a:spcBef>
                <a:spcPts val="245"/>
              </a:spcBef>
              <a:buFont typeface="Arial MT"/>
              <a:buChar char="•"/>
              <a:tabLst>
                <a:tab pos="698500" algn="l"/>
              </a:tabLst>
            </a:pPr>
            <a:r>
              <a:rPr lang="en-US" sz="2200" dirty="0" smtClean="0">
                <a:latin typeface="Times New Roman"/>
                <a:cs typeface="Times New Roman"/>
              </a:rPr>
              <a:t>Home screen/settings changed without permission</a:t>
            </a:r>
          </a:p>
          <a:p>
            <a:pPr marL="698500" lvl="1" indent="-228600">
              <a:lnSpc>
                <a:spcPct val="100000"/>
              </a:lnSpc>
              <a:spcBef>
                <a:spcPts val="245"/>
              </a:spcBef>
              <a:buFont typeface="Arial MT"/>
              <a:buChar char="•"/>
              <a:tabLst>
                <a:tab pos="698500" algn="l"/>
              </a:tabLst>
            </a:pPr>
            <a:r>
              <a:rPr lang="en-US" sz="2200" dirty="0" smtClean="0">
                <a:latin typeface="Times New Roman"/>
                <a:cs typeface="Times New Roman"/>
              </a:rPr>
              <a:t>Unusual email activity (large incoming/outgoing spam)</a:t>
            </a:r>
          </a:p>
          <a:p>
            <a:pPr marL="698500" lvl="1" indent="-228600">
              <a:lnSpc>
                <a:spcPct val="100000"/>
              </a:lnSpc>
              <a:spcBef>
                <a:spcPts val="245"/>
              </a:spcBef>
              <a:buFont typeface="Arial MT"/>
              <a:buChar char="•"/>
              <a:tabLst>
                <a:tab pos="698500" algn="l"/>
              </a:tabLst>
            </a:pPr>
            <a:r>
              <a:rPr lang="en-US" sz="2200" dirty="0" smtClean="0">
                <a:latin typeface="Times New Roman"/>
                <a:cs typeface="Times New Roman"/>
              </a:rPr>
              <a:t>Slow performance of the computer</a:t>
            </a:r>
          </a:p>
          <a:p>
            <a:pPr marL="698500" lvl="1" indent="-228600">
              <a:lnSpc>
                <a:spcPct val="100000"/>
              </a:lnSpc>
              <a:spcBef>
                <a:spcPts val="245"/>
              </a:spcBef>
              <a:buFont typeface="Arial MT"/>
              <a:buChar char="•"/>
              <a:tabLst>
                <a:tab pos="698500" algn="l"/>
              </a:tabLst>
            </a:pPr>
            <a:r>
              <a:rPr lang="en-US" sz="2200" dirty="0" smtClean="0">
                <a:latin typeface="Times New Roman"/>
                <a:cs typeface="Times New Roman"/>
              </a:rPr>
              <a:t>Unknown programs running in background</a:t>
            </a:r>
          </a:p>
          <a:p>
            <a:pPr marL="698500" lvl="1" indent="-228600">
              <a:lnSpc>
                <a:spcPct val="100000"/>
              </a:lnSpc>
              <a:spcBef>
                <a:spcPts val="245"/>
              </a:spcBef>
              <a:buFont typeface="Arial MT"/>
              <a:buChar char="•"/>
              <a:tabLst>
                <a:tab pos="698500" algn="l"/>
              </a:tabLst>
            </a:pPr>
            <a:r>
              <a:rPr lang="en-US" sz="2200" dirty="0" smtClean="0">
                <a:latin typeface="Times New Roman"/>
                <a:cs typeface="Times New Roman"/>
              </a:rPr>
              <a:t>Passwords altered, especially admin accounts</a:t>
            </a:r>
          </a:p>
          <a:p>
            <a:pPr marL="698500" lvl="1" indent="-228600">
              <a:lnSpc>
                <a:spcPct val="100000"/>
              </a:lnSpc>
              <a:spcBef>
                <a:spcPts val="245"/>
              </a:spcBef>
              <a:buFont typeface="Arial MT"/>
              <a:buChar char="•"/>
              <a:tabLst>
                <a:tab pos="698500" algn="l"/>
              </a:tabLst>
            </a:pPr>
            <a:r>
              <a:rPr lang="en-US" sz="2200" dirty="0" smtClean="0">
                <a:latin typeface="Times New Roman"/>
                <a:cs typeface="Times New Roman"/>
              </a:rPr>
              <a:t>Frequent system crashes and errors</a:t>
            </a:r>
          </a:p>
          <a:p>
            <a:pPr marL="698500" lvl="1" indent="-228600">
              <a:lnSpc>
                <a:spcPct val="100000"/>
              </a:lnSpc>
              <a:spcBef>
                <a:spcPts val="245"/>
              </a:spcBef>
              <a:buFont typeface="Arial MT"/>
              <a:buChar char="•"/>
              <a:tabLst>
                <a:tab pos="698500" algn="l"/>
              </a:tabLst>
            </a:pPr>
            <a:r>
              <a:rPr lang="en-US" sz="2200" dirty="0" smtClean="0">
                <a:latin typeface="Times New Roman"/>
                <a:cs typeface="Times New Roman"/>
              </a:rPr>
              <a:t>Unexpected restarts of the computer</a:t>
            </a:r>
          </a:p>
          <a:p>
            <a:pPr marL="698500" lvl="1" indent="-228600">
              <a:lnSpc>
                <a:spcPct val="100000"/>
              </a:lnSpc>
              <a:spcBef>
                <a:spcPts val="245"/>
              </a:spcBef>
              <a:buFont typeface="Arial MT"/>
              <a:buChar char="•"/>
              <a:tabLst>
                <a:tab pos="698500" algn="l"/>
              </a:tabLst>
            </a:pPr>
            <a:r>
              <a:rPr lang="en-US" sz="2200" dirty="0" smtClean="0">
                <a:latin typeface="Times New Roman"/>
                <a:cs typeface="Times New Roman"/>
              </a:rPr>
              <a:t>Any other abnormal or suspicious behavior</a:t>
            </a:r>
            <a:endParaRPr sz="2200" dirty="0">
              <a:latin typeface="Times New Roman"/>
              <a:cs typeface="Times New Roman"/>
            </a:endParaRPr>
          </a:p>
        </p:txBody>
      </p:sp>
    </p:spTree>
    <p:extLst>
      <p:ext uri="{BB962C8B-B14F-4D97-AF65-F5344CB8AC3E}">
        <p14:creationId xmlns:p14="http://schemas.microsoft.com/office/powerpoint/2010/main" val="23079335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95757"/>
            <a:ext cx="2225675" cy="635000"/>
          </a:xfrm>
          <a:prstGeom prst="rect">
            <a:avLst/>
          </a:prstGeom>
        </p:spPr>
        <p:txBody>
          <a:bodyPr vert="horz" wrap="square" lIns="0" tIns="12065" rIns="0" bIns="0" rtlCol="0">
            <a:spAutoFit/>
          </a:bodyPr>
          <a:lstStyle/>
          <a:p>
            <a:pPr marL="12700">
              <a:lnSpc>
                <a:spcPct val="100000"/>
              </a:lnSpc>
              <a:spcBef>
                <a:spcPts val="95"/>
              </a:spcBef>
            </a:pPr>
            <a:r>
              <a:rPr sz="4000" spc="-10" dirty="0"/>
              <a:t>VIRUSES</a:t>
            </a:r>
            <a:endParaRPr sz="400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3" name="object 3"/>
          <p:cNvSpPr txBox="1"/>
          <p:nvPr/>
        </p:nvSpPr>
        <p:spPr>
          <a:xfrm>
            <a:off x="916939" y="852297"/>
            <a:ext cx="10142220" cy="4643964"/>
          </a:xfrm>
          <a:prstGeom prst="rect">
            <a:avLst/>
          </a:prstGeom>
        </p:spPr>
        <p:txBody>
          <a:bodyPr vert="horz" wrap="square" lIns="0" tIns="112395" rIns="0" bIns="0" rtlCol="0">
            <a:spAutoFit/>
          </a:bodyPr>
          <a:lstStyle/>
          <a:p>
            <a:pPr marL="12065" marR="184785" algn="just">
              <a:lnSpc>
                <a:spcPct val="70000"/>
              </a:lnSpc>
              <a:spcBef>
                <a:spcPts val="885"/>
              </a:spcBef>
              <a:tabLst>
                <a:tab pos="241300" algn="l"/>
              </a:tabLst>
            </a:pPr>
            <a:r>
              <a:rPr sz="2800" dirty="0">
                <a:latin typeface="Times New Roman"/>
                <a:cs typeface="Times New Roman"/>
              </a:rPr>
              <a:t>The</a:t>
            </a:r>
            <a:r>
              <a:rPr sz="2800" spc="-50" dirty="0">
                <a:latin typeface="Times New Roman"/>
                <a:cs typeface="Times New Roman"/>
              </a:rPr>
              <a:t> </a:t>
            </a:r>
            <a:r>
              <a:rPr sz="2800" dirty="0">
                <a:latin typeface="Times New Roman"/>
                <a:cs typeface="Times New Roman"/>
              </a:rPr>
              <a:t>solution</a:t>
            </a:r>
            <a:r>
              <a:rPr sz="2800" spc="-45" dirty="0">
                <a:latin typeface="Times New Roman"/>
                <a:cs typeface="Times New Roman"/>
              </a:rPr>
              <a:t> </a:t>
            </a:r>
            <a:r>
              <a:rPr sz="2800" dirty="0">
                <a:latin typeface="Times New Roman"/>
                <a:cs typeface="Times New Roman"/>
              </a:rPr>
              <a:t>to</a:t>
            </a:r>
            <a:r>
              <a:rPr sz="2800" spc="-45" dirty="0">
                <a:latin typeface="Times New Roman"/>
                <a:cs typeface="Times New Roman"/>
              </a:rPr>
              <a:t> </a:t>
            </a:r>
            <a:r>
              <a:rPr sz="2800" dirty="0">
                <a:latin typeface="Times New Roman"/>
                <a:cs typeface="Times New Roman"/>
              </a:rPr>
              <a:t>the</a:t>
            </a:r>
            <a:r>
              <a:rPr sz="2800" spc="-50" dirty="0">
                <a:latin typeface="Times New Roman"/>
                <a:cs typeface="Times New Roman"/>
              </a:rPr>
              <a:t> </a:t>
            </a:r>
            <a:r>
              <a:rPr sz="2800" dirty="0">
                <a:latin typeface="Times New Roman"/>
                <a:cs typeface="Times New Roman"/>
              </a:rPr>
              <a:t>menace</a:t>
            </a:r>
            <a:r>
              <a:rPr sz="2800" spc="-25" dirty="0">
                <a:latin typeface="Times New Roman"/>
                <a:cs typeface="Times New Roman"/>
              </a:rPr>
              <a:t> </a:t>
            </a:r>
            <a:r>
              <a:rPr sz="2800" dirty="0">
                <a:latin typeface="Times New Roman"/>
                <a:cs typeface="Times New Roman"/>
              </a:rPr>
              <a:t>of</a:t>
            </a:r>
            <a:r>
              <a:rPr sz="2800" spc="-45" dirty="0">
                <a:latin typeface="Times New Roman"/>
                <a:cs typeface="Times New Roman"/>
              </a:rPr>
              <a:t> </a:t>
            </a:r>
            <a:r>
              <a:rPr sz="2800" dirty="0">
                <a:latin typeface="Times New Roman"/>
                <a:cs typeface="Times New Roman"/>
              </a:rPr>
              <a:t>computer</a:t>
            </a:r>
            <a:r>
              <a:rPr sz="2800" spc="-20" dirty="0">
                <a:latin typeface="Times New Roman"/>
                <a:cs typeface="Times New Roman"/>
              </a:rPr>
              <a:t> </a:t>
            </a:r>
            <a:r>
              <a:rPr sz="2800" dirty="0">
                <a:latin typeface="Times New Roman"/>
                <a:cs typeface="Times New Roman"/>
              </a:rPr>
              <a:t>virus</a:t>
            </a:r>
            <a:r>
              <a:rPr sz="2800" spc="-60" dirty="0">
                <a:latin typeface="Times New Roman"/>
                <a:cs typeface="Times New Roman"/>
              </a:rPr>
              <a:t> </a:t>
            </a:r>
            <a:r>
              <a:rPr sz="2800" dirty="0">
                <a:latin typeface="Times New Roman"/>
                <a:cs typeface="Times New Roman"/>
              </a:rPr>
              <a:t>is</a:t>
            </a:r>
            <a:r>
              <a:rPr sz="2800" spc="-45" dirty="0">
                <a:latin typeface="Times New Roman"/>
                <a:cs typeface="Times New Roman"/>
              </a:rPr>
              <a:t> </a:t>
            </a:r>
            <a:r>
              <a:rPr sz="2800" dirty="0">
                <a:latin typeface="Times New Roman"/>
                <a:cs typeface="Times New Roman"/>
              </a:rPr>
              <a:t>to</a:t>
            </a:r>
            <a:r>
              <a:rPr sz="2800" spc="-35" dirty="0">
                <a:latin typeface="Times New Roman"/>
                <a:cs typeface="Times New Roman"/>
              </a:rPr>
              <a:t> </a:t>
            </a:r>
            <a:r>
              <a:rPr sz="2800" dirty="0">
                <a:latin typeface="Times New Roman"/>
                <a:cs typeface="Times New Roman"/>
              </a:rPr>
              <a:t>use</a:t>
            </a:r>
            <a:r>
              <a:rPr sz="2800" spc="-60" dirty="0">
                <a:latin typeface="Times New Roman"/>
                <a:cs typeface="Times New Roman"/>
              </a:rPr>
              <a:t> </a:t>
            </a:r>
            <a:r>
              <a:rPr sz="2800" dirty="0">
                <a:latin typeface="Times New Roman"/>
                <a:cs typeface="Times New Roman"/>
              </a:rPr>
              <a:t>updated</a:t>
            </a:r>
            <a:r>
              <a:rPr sz="2800" spc="-50" dirty="0">
                <a:latin typeface="Times New Roman"/>
                <a:cs typeface="Times New Roman"/>
              </a:rPr>
              <a:t> </a:t>
            </a:r>
            <a:r>
              <a:rPr sz="2800" dirty="0">
                <a:latin typeface="Times New Roman"/>
                <a:cs typeface="Times New Roman"/>
              </a:rPr>
              <a:t>antivirus</a:t>
            </a:r>
            <a:r>
              <a:rPr sz="2800" spc="-45" dirty="0">
                <a:latin typeface="Times New Roman"/>
                <a:cs typeface="Times New Roman"/>
              </a:rPr>
              <a:t> </a:t>
            </a:r>
            <a:r>
              <a:rPr sz="2800" dirty="0">
                <a:latin typeface="Times New Roman"/>
                <a:cs typeface="Times New Roman"/>
              </a:rPr>
              <a:t>software</a:t>
            </a:r>
            <a:r>
              <a:rPr sz="2800" spc="-40" dirty="0">
                <a:latin typeface="Times New Roman"/>
                <a:cs typeface="Times New Roman"/>
              </a:rPr>
              <a:t> </a:t>
            </a:r>
            <a:r>
              <a:rPr sz="2800" spc="-20" dirty="0">
                <a:latin typeface="Times New Roman"/>
                <a:cs typeface="Times New Roman"/>
              </a:rPr>
              <a:t>from well-</a:t>
            </a:r>
            <a:r>
              <a:rPr sz="2800" dirty="0">
                <a:latin typeface="Times New Roman"/>
                <a:cs typeface="Times New Roman"/>
              </a:rPr>
              <a:t>known</a:t>
            </a:r>
            <a:r>
              <a:rPr sz="2800" spc="-45" dirty="0">
                <a:latin typeface="Times New Roman"/>
                <a:cs typeface="Times New Roman"/>
              </a:rPr>
              <a:t> </a:t>
            </a:r>
            <a:r>
              <a:rPr sz="2800" dirty="0">
                <a:latin typeface="Times New Roman"/>
                <a:cs typeface="Times New Roman"/>
              </a:rPr>
              <a:t>antivirus</a:t>
            </a:r>
            <a:r>
              <a:rPr sz="2800" spc="-65" dirty="0">
                <a:latin typeface="Times New Roman"/>
                <a:cs typeface="Times New Roman"/>
              </a:rPr>
              <a:t> </a:t>
            </a:r>
            <a:r>
              <a:rPr sz="2800" dirty="0">
                <a:latin typeface="Times New Roman"/>
                <a:cs typeface="Times New Roman"/>
              </a:rPr>
              <a:t>software</a:t>
            </a:r>
            <a:r>
              <a:rPr sz="2800" spc="-35" dirty="0">
                <a:latin typeface="Times New Roman"/>
                <a:cs typeface="Times New Roman"/>
              </a:rPr>
              <a:t> </a:t>
            </a:r>
            <a:r>
              <a:rPr sz="2800" spc="-10" dirty="0">
                <a:latin typeface="Times New Roman"/>
                <a:cs typeface="Times New Roman"/>
              </a:rPr>
              <a:t>companies.</a:t>
            </a:r>
            <a:endParaRPr sz="2800" dirty="0">
              <a:latin typeface="Times New Roman"/>
              <a:cs typeface="Times New Roman"/>
            </a:endParaRPr>
          </a:p>
          <a:p>
            <a:pPr marL="12700" marR="795655" algn="just">
              <a:lnSpc>
                <a:spcPct val="70000"/>
              </a:lnSpc>
              <a:spcBef>
                <a:spcPts val="1000"/>
              </a:spcBef>
            </a:pPr>
            <a:r>
              <a:rPr sz="2800" spc="-85" dirty="0">
                <a:latin typeface="Times New Roman"/>
                <a:cs typeface="Times New Roman"/>
              </a:rPr>
              <a:t>We</a:t>
            </a:r>
            <a:r>
              <a:rPr sz="2800" spc="-45" dirty="0">
                <a:latin typeface="Times New Roman"/>
                <a:cs typeface="Times New Roman"/>
              </a:rPr>
              <a:t> </a:t>
            </a:r>
            <a:r>
              <a:rPr sz="2800" dirty="0">
                <a:latin typeface="Times New Roman"/>
                <a:cs typeface="Times New Roman"/>
              </a:rPr>
              <a:t>can</a:t>
            </a:r>
            <a:r>
              <a:rPr sz="2800" spc="-40" dirty="0">
                <a:latin typeface="Times New Roman"/>
                <a:cs typeface="Times New Roman"/>
              </a:rPr>
              <a:t> </a:t>
            </a:r>
            <a:r>
              <a:rPr sz="2800" dirty="0">
                <a:latin typeface="Times New Roman"/>
                <a:cs typeface="Times New Roman"/>
              </a:rPr>
              <a:t>save</a:t>
            </a:r>
            <a:r>
              <a:rPr sz="2800" spc="-40" dirty="0">
                <a:latin typeface="Times New Roman"/>
                <a:cs typeface="Times New Roman"/>
              </a:rPr>
              <a:t> </a:t>
            </a:r>
            <a:r>
              <a:rPr sz="2800" dirty="0">
                <a:latin typeface="Times New Roman"/>
                <a:cs typeface="Times New Roman"/>
              </a:rPr>
              <a:t>our</a:t>
            </a:r>
            <a:r>
              <a:rPr sz="2800" spc="-35" dirty="0">
                <a:latin typeface="Times New Roman"/>
                <a:cs typeface="Times New Roman"/>
              </a:rPr>
              <a:t> </a:t>
            </a:r>
            <a:r>
              <a:rPr sz="2800" dirty="0">
                <a:latin typeface="Times New Roman"/>
                <a:cs typeface="Times New Roman"/>
              </a:rPr>
              <a:t>computers</a:t>
            </a:r>
            <a:r>
              <a:rPr sz="2800" spc="-35" dirty="0">
                <a:latin typeface="Times New Roman"/>
                <a:cs typeface="Times New Roman"/>
              </a:rPr>
              <a:t> </a:t>
            </a:r>
            <a:r>
              <a:rPr sz="2800" dirty="0">
                <a:latin typeface="Times New Roman"/>
                <a:cs typeface="Times New Roman"/>
              </a:rPr>
              <a:t>from</a:t>
            </a:r>
            <a:r>
              <a:rPr sz="2800" spc="-30" dirty="0">
                <a:latin typeface="Times New Roman"/>
                <a:cs typeface="Times New Roman"/>
              </a:rPr>
              <a:t> </a:t>
            </a:r>
            <a:r>
              <a:rPr sz="2800" dirty="0">
                <a:latin typeface="Times New Roman"/>
                <a:cs typeface="Times New Roman"/>
              </a:rPr>
              <a:t>the</a:t>
            </a:r>
            <a:r>
              <a:rPr sz="2800" spc="-40" dirty="0">
                <a:latin typeface="Times New Roman"/>
                <a:cs typeface="Times New Roman"/>
              </a:rPr>
              <a:t> </a:t>
            </a:r>
            <a:r>
              <a:rPr sz="2800" dirty="0">
                <a:latin typeface="Times New Roman"/>
                <a:cs typeface="Times New Roman"/>
              </a:rPr>
              <a:t>attack</a:t>
            </a:r>
            <a:r>
              <a:rPr sz="2800" spc="-40" dirty="0">
                <a:latin typeface="Times New Roman"/>
                <a:cs typeface="Times New Roman"/>
              </a:rPr>
              <a:t> </a:t>
            </a:r>
            <a:r>
              <a:rPr sz="2800" dirty="0">
                <a:latin typeface="Times New Roman"/>
                <a:cs typeface="Times New Roman"/>
              </a:rPr>
              <a:t>of</a:t>
            </a:r>
            <a:r>
              <a:rPr sz="2800" spc="-45" dirty="0">
                <a:latin typeface="Times New Roman"/>
                <a:cs typeface="Times New Roman"/>
              </a:rPr>
              <a:t> </a:t>
            </a:r>
            <a:r>
              <a:rPr sz="2800" dirty="0">
                <a:latin typeface="Times New Roman"/>
                <a:cs typeface="Times New Roman"/>
              </a:rPr>
              <a:t>nasty</a:t>
            </a:r>
            <a:r>
              <a:rPr sz="2800" spc="-45" dirty="0">
                <a:latin typeface="Times New Roman"/>
                <a:cs typeface="Times New Roman"/>
              </a:rPr>
              <a:t> </a:t>
            </a:r>
            <a:r>
              <a:rPr sz="2800" dirty="0">
                <a:latin typeface="Times New Roman"/>
                <a:cs typeface="Times New Roman"/>
              </a:rPr>
              <a:t>viruses</a:t>
            </a:r>
            <a:r>
              <a:rPr sz="2800" spc="-55" dirty="0">
                <a:latin typeface="Times New Roman"/>
                <a:cs typeface="Times New Roman"/>
              </a:rPr>
              <a:t> </a:t>
            </a:r>
            <a:r>
              <a:rPr sz="2800" dirty="0">
                <a:latin typeface="Times New Roman"/>
                <a:cs typeface="Times New Roman"/>
              </a:rPr>
              <a:t>by</a:t>
            </a:r>
            <a:r>
              <a:rPr sz="2800" spc="-40" dirty="0">
                <a:latin typeface="Times New Roman"/>
                <a:cs typeface="Times New Roman"/>
              </a:rPr>
              <a:t> </a:t>
            </a:r>
            <a:r>
              <a:rPr sz="2800" dirty="0">
                <a:latin typeface="Times New Roman"/>
                <a:cs typeface="Times New Roman"/>
              </a:rPr>
              <a:t>taking</a:t>
            </a:r>
            <a:r>
              <a:rPr sz="2800" spc="-30" dirty="0">
                <a:latin typeface="Times New Roman"/>
                <a:cs typeface="Times New Roman"/>
              </a:rPr>
              <a:t> </a:t>
            </a:r>
            <a:r>
              <a:rPr sz="2800" dirty="0">
                <a:latin typeface="Times New Roman"/>
                <a:cs typeface="Times New Roman"/>
              </a:rPr>
              <a:t>the</a:t>
            </a:r>
            <a:r>
              <a:rPr sz="2800" spc="-50" dirty="0">
                <a:latin typeface="Times New Roman"/>
                <a:cs typeface="Times New Roman"/>
              </a:rPr>
              <a:t> </a:t>
            </a:r>
            <a:r>
              <a:rPr sz="2800" spc="-10" dirty="0">
                <a:latin typeface="Times New Roman"/>
                <a:cs typeface="Times New Roman"/>
              </a:rPr>
              <a:t>following measures:</a:t>
            </a:r>
            <a:endParaRPr sz="2800" dirty="0">
              <a:latin typeface="Times New Roman"/>
              <a:cs typeface="Times New Roman"/>
            </a:endParaRPr>
          </a:p>
          <a:p>
            <a:pPr marL="241300" indent="-228600" algn="just">
              <a:lnSpc>
                <a:spcPct val="100000"/>
              </a:lnSpc>
              <a:spcBef>
                <a:spcPts val="204"/>
              </a:spcBef>
              <a:buFont typeface="Arial MT"/>
              <a:buChar char="•"/>
              <a:tabLst>
                <a:tab pos="241300" algn="l"/>
              </a:tabLst>
            </a:pPr>
            <a:r>
              <a:rPr lang="en-US" sz="2800" spc="-20" dirty="0" smtClean="0">
                <a:latin typeface="Times New Roman"/>
                <a:cs typeface="Times New Roman"/>
              </a:rPr>
              <a:t>Use updated antivirus software from trusted companies.</a:t>
            </a:r>
          </a:p>
          <a:p>
            <a:pPr marL="241300" indent="-228600" algn="just">
              <a:lnSpc>
                <a:spcPct val="100000"/>
              </a:lnSpc>
              <a:spcBef>
                <a:spcPts val="204"/>
              </a:spcBef>
              <a:buFont typeface="Arial MT"/>
              <a:buChar char="•"/>
              <a:tabLst>
                <a:tab pos="241300" algn="l"/>
              </a:tabLst>
            </a:pPr>
            <a:r>
              <a:rPr lang="en-US" sz="2800" spc="-20" dirty="0" smtClean="0">
                <a:latin typeface="Times New Roman"/>
                <a:cs typeface="Times New Roman"/>
              </a:rPr>
              <a:t>Avoid insecure and suspicious websites.</a:t>
            </a:r>
          </a:p>
          <a:p>
            <a:pPr marL="241300" indent="-228600" algn="just">
              <a:lnSpc>
                <a:spcPct val="100000"/>
              </a:lnSpc>
              <a:spcBef>
                <a:spcPts val="204"/>
              </a:spcBef>
              <a:buFont typeface="Arial MT"/>
              <a:buChar char="•"/>
              <a:tabLst>
                <a:tab pos="241300" algn="l"/>
              </a:tabLst>
            </a:pPr>
            <a:r>
              <a:rPr lang="en-US" sz="2800" spc="-20" dirty="0" smtClean="0">
                <a:latin typeface="Times New Roman"/>
                <a:cs typeface="Times New Roman"/>
              </a:rPr>
              <a:t>Keep your operating system and antivirus updated.</a:t>
            </a:r>
          </a:p>
          <a:p>
            <a:pPr marL="241300" indent="-228600" algn="just">
              <a:lnSpc>
                <a:spcPct val="100000"/>
              </a:lnSpc>
              <a:spcBef>
                <a:spcPts val="204"/>
              </a:spcBef>
              <a:buFont typeface="Arial MT"/>
              <a:buChar char="•"/>
              <a:tabLst>
                <a:tab pos="241300" algn="l"/>
              </a:tabLst>
            </a:pPr>
            <a:r>
              <a:rPr lang="en-US" sz="2800" spc="-20" dirty="0" smtClean="0">
                <a:latin typeface="Times New Roman"/>
                <a:cs typeface="Times New Roman"/>
              </a:rPr>
              <a:t>Enable firewall and configure browser security.</a:t>
            </a:r>
          </a:p>
          <a:p>
            <a:pPr marL="241300" indent="-228600" algn="just">
              <a:lnSpc>
                <a:spcPct val="100000"/>
              </a:lnSpc>
              <a:spcBef>
                <a:spcPts val="204"/>
              </a:spcBef>
              <a:buFont typeface="Arial MT"/>
              <a:buChar char="•"/>
              <a:tabLst>
                <a:tab pos="241300" algn="l"/>
              </a:tabLst>
            </a:pPr>
            <a:r>
              <a:rPr lang="en-US" sz="2800" spc="-20" dirty="0" smtClean="0">
                <a:latin typeface="Times New Roman"/>
                <a:cs typeface="Times New Roman"/>
              </a:rPr>
              <a:t>Avoid installing free or unsafe plugins.</a:t>
            </a:r>
          </a:p>
          <a:p>
            <a:pPr marL="241300" indent="-228600" algn="just">
              <a:lnSpc>
                <a:spcPct val="100000"/>
              </a:lnSpc>
              <a:spcBef>
                <a:spcPts val="204"/>
              </a:spcBef>
              <a:buFont typeface="Arial MT"/>
              <a:buChar char="•"/>
              <a:tabLst>
                <a:tab pos="241300" algn="l"/>
              </a:tabLst>
            </a:pPr>
            <a:r>
              <a:rPr lang="en-US" sz="2800" spc="-20" dirty="0" smtClean="0">
                <a:latin typeface="Times New Roman"/>
                <a:cs typeface="Times New Roman"/>
              </a:rPr>
              <a:t>Scan all external storage devices before use.</a:t>
            </a:r>
          </a:p>
          <a:p>
            <a:pPr marL="241300" indent="-228600" algn="just">
              <a:lnSpc>
                <a:spcPct val="100000"/>
              </a:lnSpc>
              <a:spcBef>
                <a:spcPts val="204"/>
              </a:spcBef>
              <a:buFont typeface="Arial MT"/>
              <a:buChar char="•"/>
              <a:tabLst>
                <a:tab pos="241300" algn="l"/>
              </a:tabLst>
            </a:pPr>
            <a:r>
              <a:rPr lang="en-US" sz="2800" spc="-20" dirty="0" smtClean="0">
                <a:latin typeface="Times New Roman"/>
                <a:cs typeface="Times New Roman"/>
              </a:rPr>
              <a:t>Do not open emails or attachments from unknown sources.</a:t>
            </a:r>
            <a:endParaRPr sz="2800" dirty="0">
              <a:latin typeface="Times New Roman"/>
              <a:cs typeface="Times New Roman"/>
            </a:endParaRPr>
          </a:p>
        </p:txBody>
      </p:sp>
    </p:spTree>
    <p:extLst>
      <p:ext uri="{BB962C8B-B14F-4D97-AF65-F5344CB8AC3E}">
        <p14:creationId xmlns:p14="http://schemas.microsoft.com/office/powerpoint/2010/main" val="37687556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7319" rIns="0" bIns="0" rtlCol="0">
            <a:spAutoFit/>
          </a:bodyPr>
          <a:lstStyle/>
          <a:p>
            <a:pPr marL="12700">
              <a:lnSpc>
                <a:spcPct val="100000"/>
              </a:lnSpc>
              <a:spcBef>
                <a:spcPts val="105"/>
              </a:spcBef>
            </a:pPr>
            <a:r>
              <a:rPr dirty="0"/>
              <a:t>TROJAN</a:t>
            </a:r>
            <a:r>
              <a:rPr spc="-15" dirty="0"/>
              <a:t> </a:t>
            </a:r>
            <a:r>
              <a:rPr spc="-10" dirty="0"/>
              <a:t>HORSE</a:t>
            </a:r>
          </a:p>
        </p:txBody>
      </p:sp>
      <p:pic>
        <p:nvPicPr>
          <p:cNvPr id="3" name="object 3"/>
          <p:cNvPicPr/>
          <p:nvPr/>
        </p:nvPicPr>
        <p:blipFill>
          <a:blip r:embed="rId2" cstate="print"/>
          <a:stretch>
            <a:fillRect/>
          </a:stretch>
        </p:blipFill>
        <p:spPr>
          <a:xfrm>
            <a:off x="3041904" y="1825751"/>
            <a:ext cx="6108192" cy="4351020"/>
          </a:xfrm>
          <a:prstGeom prst="rect">
            <a:avLst/>
          </a:prstGeom>
        </p:spPr>
      </p:pic>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Tree>
    <p:extLst>
      <p:ext uri="{BB962C8B-B14F-4D97-AF65-F5344CB8AC3E}">
        <p14:creationId xmlns:p14="http://schemas.microsoft.com/office/powerpoint/2010/main" val="36732517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35127" rIns="0" bIns="0" rtlCol="0">
            <a:spAutoFit/>
          </a:bodyPr>
          <a:lstStyle/>
          <a:p>
            <a:pPr marL="12700">
              <a:lnSpc>
                <a:spcPct val="100000"/>
              </a:lnSpc>
              <a:spcBef>
                <a:spcPts val="105"/>
              </a:spcBef>
            </a:pPr>
            <a:r>
              <a:rPr dirty="0"/>
              <a:t>TROJAN</a:t>
            </a:r>
            <a:r>
              <a:rPr spc="-15" dirty="0"/>
              <a:t> </a:t>
            </a:r>
            <a:r>
              <a:rPr spc="-10" dirty="0"/>
              <a:t>HORSE</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3" name="object 3"/>
          <p:cNvSpPr txBox="1"/>
          <p:nvPr/>
        </p:nvSpPr>
        <p:spPr>
          <a:xfrm>
            <a:off x="916939" y="1804161"/>
            <a:ext cx="10097135" cy="3779520"/>
          </a:xfrm>
          <a:prstGeom prst="rect">
            <a:avLst/>
          </a:prstGeom>
        </p:spPr>
        <p:txBody>
          <a:bodyPr vert="horz" wrap="square" lIns="0" tIns="54610" rIns="0" bIns="0" rtlCol="0">
            <a:spAutoFit/>
          </a:bodyPr>
          <a:lstStyle/>
          <a:p>
            <a:pPr marL="240029" marR="424815" indent="-227965">
              <a:lnSpc>
                <a:spcPct val="90000"/>
              </a:lnSpc>
              <a:spcBef>
                <a:spcPts val="430"/>
              </a:spcBef>
              <a:buFont typeface="Arial MT"/>
              <a:buChar char="•"/>
              <a:tabLst>
                <a:tab pos="241300" algn="l"/>
              </a:tabLst>
            </a:pPr>
            <a:r>
              <a:rPr sz="2800" i="1" u="sng" spc="-30" dirty="0">
                <a:uFill>
                  <a:solidFill>
                    <a:srgbClr val="000000"/>
                  </a:solidFill>
                </a:uFill>
                <a:latin typeface="Times New Roman"/>
                <a:cs typeface="Times New Roman"/>
              </a:rPr>
              <a:t>Trojan</a:t>
            </a:r>
            <a:r>
              <a:rPr sz="2800" i="1" u="sng" spc="-50" dirty="0">
                <a:uFill>
                  <a:solidFill>
                    <a:srgbClr val="000000"/>
                  </a:solidFill>
                </a:uFill>
                <a:latin typeface="Times New Roman"/>
                <a:cs typeface="Times New Roman"/>
              </a:rPr>
              <a:t> </a:t>
            </a:r>
            <a:r>
              <a:rPr sz="2800" i="1" u="sng" dirty="0">
                <a:uFill>
                  <a:solidFill>
                    <a:srgbClr val="000000"/>
                  </a:solidFill>
                </a:uFill>
                <a:latin typeface="Times New Roman"/>
                <a:cs typeface="Times New Roman"/>
              </a:rPr>
              <a:t>horse</a:t>
            </a:r>
            <a:r>
              <a:rPr sz="2800" i="1" spc="-45" dirty="0">
                <a:latin typeface="Times New Roman"/>
                <a:cs typeface="Times New Roman"/>
              </a:rPr>
              <a:t> </a:t>
            </a:r>
            <a:r>
              <a:rPr sz="2800" dirty="0">
                <a:latin typeface="Times New Roman"/>
                <a:cs typeface="Times New Roman"/>
              </a:rPr>
              <a:t>collects</a:t>
            </a:r>
            <a:r>
              <a:rPr sz="2800" spc="-50" dirty="0">
                <a:latin typeface="Times New Roman"/>
                <a:cs typeface="Times New Roman"/>
              </a:rPr>
              <a:t> </a:t>
            </a:r>
            <a:r>
              <a:rPr sz="2800" dirty="0">
                <a:latin typeface="Times New Roman"/>
                <a:cs typeface="Times New Roman"/>
              </a:rPr>
              <a:t>the</a:t>
            </a:r>
            <a:r>
              <a:rPr sz="2800" spc="-50" dirty="0">
                <a:latin typeface="Times New Roman"/>
                <a:cs typeface="Times New Roman"/>
              </a:rPr>
              <a:t> </a:t>
            </a:r>
            <a:r>
              <a:rPr sz="2800" dirty="0">
                <a:latin typeface="Times New Roman"/>
                <a:cs typeface="Times New Roman"/>
              </a:rPr>
              <a:t>information</a:t>
            </a:r>
            <a:r>
              <a:rPr sz="2800" spc="-45" dirty="0">
                <a:latin typeface="Times New Roman"/>
                <a:cs typeface="Times New Roman"/>
              </a:rPr>
              <a:t> </a:t>
            </a:r>
            <a:r>
              <a:rPr sz="2800" dirty="0">
                <a:latin typeface="Times New Roman"/>
                <a:cs typeface="Times New Roman"/>
              </a:rPr>
              <a:t>about</a:t>
            </a:r>
            <a:r>
              <a:rPr sz="2800" spc="-50" dirty="0">
                <a:latin typeface="Times New Roman"/>
                <a:cs typeface="Times New Roman"/>
              </a:rPr>
              <a:t> </a:t>
            </a:r>
            <a:r>
              <a:rPr sz="2800" dirty="0">
                <a:latin typeface="Times New Roman"/>
                <a:cs typeface="Times New Roman"/>
              </a:rPr>
              <a:t>the</a:t>
            </a:r>
            <a:r>
              <a:rPr sz="2800" spc="-45" dirty="0">
                <a:latin typeface="Times New Roman"/>
                <a:cs typeface="Times New Roman"/>
              </a:rPr>
              <a:t> </a:t>
            </a:r>
            <a:r>
              <a:rPr sz="2800" dirty="0">
                <a:latin typeface="Times New Roman"/>
                <a:cs typeface="Times New Roman"/>
              </a:rPr>
              <a:t>user</a:t>
            </a:r>
            <a:r>
              <a:rPr sz="2800" spc="-45" dirty="0">
                <a:latin typeface="Times New Roman"/>
                <a:cs typeface="Times New Roman"/>
              </a:rPr>
              <a:t> </a:t>
            </a:r>
            <a:r>
              <a:rPr sz="2800" spc="-10" dirty="0">
                <a:latin typeface="Times New Roman"/>
                <a:cs typeface="Times New Roman"/>
              </a:rPr>
              <a:t>behavior, 	</a:t>
            </a:r>
            <a:r>
              <a:rPr sz="2800" dirty="0">
                <a:latin typeface="Times New Roman"/>
                <a:cs typeface="Times New Roman"/>
              </a:rPr>
              <a:t>credentials,</a:t>
            </a:r>
            <a:r>
              <a:rPr sz="2800" spc="-30" dirty="0">
                <a:latin typeface="Times New Roman"/>
                <a:cs typeface="Times New Roman"/>
              </a:rPr>
              <a:t> </a:t>
            </a:r>
            <a:r>
              <a:rPr sz="2800" dirty="0">
                <a:latin typeface="Times New Roman"/>
                <a:cs typeface="Times New Roman"/>
              </a:rPr>
              <a:t>and</a:t>
            </a:r>
            <a:r>
              <a:rPr sz="2800" spc="-20" dirty="0">
                <a:latin typeface="Times New Roman"/>
                <a:cs typeface="Times New Roman"/>
              </a:rPr>
              <a:t> </a:t>
            </a:r>
            <a:r>
              <a:rPr sz="2800" dirty="0">
                <a:latin typeface="Times New Roman"/>
                <a:cs typeface="Times New Roman"/>
              </a:rPr>
              <a:t>other</a:t>
            </a:r>
            <a:r>
              <a:rPr sz="2800" spc="-30" dirty="0">
                <a:latin typeface="Times New Roman"/>
                <a:cs typeface="Times New Roman"/>
              </a:rPr>
              <a:t> </a:t>
            </a:r>
            <a:r>
              <a:rPr sz="2800" dirty="0">
                <a:latin typeface="Times New Roman"/>
                <a:cs typeface="Times New Roman"/>
              </a:rPr>
              <a:t>activities</a:t>
            </a:r>
            <a:r>
              <a:rPr sz="2800" spc="-45" dirty="0">
                <a:latin typeface="Times New Roman"/>
                <a:cs typeface="Times New Roman"/>
              </a:rPr>
              <a:t> </a:t>
            </a:r>
            <a:r>
              <a:rPr sz="2800" dirty="0">
                <a:latin typeface="Times New Roman"/>
                <a:cs typeface="Times New Roman"/>
              </a:rPr>
              <a:t>on</a:t>
            </a:r>
            <a:r>
              <a:rPr sz="2800" spc="-10" dirty="0">
                <a:latin typeface="Times New Roman"/>
                <a:cs typeface="Times New Roman"/>
              </a:rPr>
              <a:t> </a:t>
            </a:r>
            <a:r>
              <a:rPr sz="2800" dirty="0">
                <a:latin typeface="Times New Roman"/>
                <a:cs typeface="Times New Roman"/>
              </a:rPr>
              <a:t>the</a:t>
            </a:r>
            <a:r>
              <a:rPr sz="2800" spc="-15" dirty="0">
                <a:latin typeface="Times New Roman"/>
                <a:cs typeface="Times New Roman"/>
              </a:rPr>
              <a:t> </a:t>
            </a:r>
            <a:r>
              <a:rPr sz="2800" dirty="0">
                <a:latin typeface="Times New Roman"/>
                <a:cs typeface="Times New Roman"/>
              </a:rPr>
              <a:t>computer</a:t>
            </a:r>
            <a:r>
              <a:rPr sz="2800" spc="-20" dirty="0">
                <a:latin typeface="Times New Roman"/>
                <a:cs typeface="Times New Roman"/>
              </a:rPr>
              <a:t> </a:t>
            </a:r>
            <a:r>
              <a:rPr sz="2800" dirty="0">
                <a:latin typeface="Times New Roman"/>
                <a:cs typeface="Times New Roman"/>
              </a:rPr>
              <a:t>silently</a:t>
            </a:r>
            <a:r>
              <a:rPr sz="2800" spc="-30" dirty="0">
                <a:latin typeface="Times New Roman"/>
                <a:cs typeface="Times New Roman"/>
              </a:rPr>
              <a:t> </a:t>
            </a:r>
            <a:r>
              <a:rPr sz="2800" dirty="0">
                <a:latin typeface="Times New Roman"/>
                <a:cs typeface="Times New Roman"/>
              </a:rPr>
              <a:t>and</a:t>
            </a:r>
            <a:r>
              <a:rPr sz="2800" spc="-20" dirty="0">
                <a:latin typeface="Times New Roman"/>
                <a:cs typeface="Times New Roman"/>
              </a:rPr>
              <a:t> </a:t>
            </a:r>
            <a:r>
              <a:rPr sz="2800" spc="-10" dirty="0">
                <a:latin typeface="Times New Roman"/>
                <a:cs typeface="Times New Roman"/>
              </a:rPr>
              <a:t>sends 	</a:t>
            </a:r>
            <a:r>
              <a:rPr sz="2800" dirty="0">
                <a:latin typeface="Times New Roman"/>
                <a:cs typeface="Times New Roman"/>
              </a:rPr>
              <a:t>those</a:t>
            </a:r>
            <a:r>
              <a:rPr sz="2800" spc="-70" dirty="0">
                <a:latin typeface="Times New Roman"/>
                <a:cs typeface="Times New Roman"/>
              </a:rPr>
              <a:t> </a:t>
            </a:r>
            <a:r>
              <a:rPr sz="2800" dirty="0">
                <a:latin typeface="Times New Roman"/>
                <a:cs typeface="Times New Roman"/>
              </a:rPr>
              <a:t>to</a:t>
            </a:r>
            <a:r>
              <a:rPr sz="2800" spc="-45" dirty="0">
                <a:latin typeface="Times New Roman"/>
                <a:cs typeface="Times New Roman"/>
              </a:rPr>
              <a:t> </a:t>
            </a:r>
            <a:r>
              <a:rPr sz="2800" dirty="0">
                <a:latin typeface="Times New Roman"/>
                <a:cs typeface="Times New Roman"/>
              </a:rPr>
              <a:t>its</a:t>
            </a:r>
            <a:r>
              <a:rPr sz="2800" spc="-45" dirty="0">
                <a:latin typeface="Times New Roman"/>
                <a:cs typeface="Times New Roman"/>
              </a:rPr>
              <a:t> </a:t>
            </a:r>
            <a:r>
              <a:rPr sz="2800" dirty="0">
                <a:latin typeface="Times New Roman"/>
                <a:cs typeface="Times New Roman"/>
              </a:rPr>
              <a:t>command</a:t>
            </a:r>
            <a:r>
              <a:rPr sz="2800" spc="-35" dirty="0">
                <a:latin typeface="Times New Roman"/>
                <a:cs typeface="Times New Roman"/>
              </a:rPr>
              <a:t> </a:t>
            </a:r>
            <a:r>
              <a:rPr sz="2800" dirty="0">
                <a:latin typeface="Times New Roman"/>
                <a:cs typeface="Times New Roman"/>
              </a:rPr>
              <a:t>and</a:t>
            </a:r>
            <a:r>
              <a:rPr sz="2800" spc="-55" dirty="0">
                <a:latin typeface="Times New Roman"/>
                <a:cs typeface="Times New Roman"/>
              </a:rPr>
              <a:t> </a:t>
            </a:r>
            <a:r>
              <a:rPr sz="2800" dirty="0">
                <a:latin typeface="Times New Roman"/>
                <a:cs typeface="Times New Roman"/>
              </a:rPr>
              <a:t>control</a:t>
            </a:r>
            <a:r>
              <a:rPr sz="2800" spc="-75" dirty="0">
                <a:latin typeface="Times New Roman"/>
                <a:cs typeface="Times New Roman"/>
              </a:rPr>
              <a:t> </a:t>
            </a:r>
            <a:r>
              <a:rPr sz="2800" dirty="0">
                <a:latin typeface="Times New Roman"/>
                <a:cs typeface="Times New Roman"/>
              </a:rPr>
              <a:t>center</a:t>
            </a:r>
            <a:r>
              <a:rPr sz="2800" spc="-45" dirty="0">
                <a:latin typeface="Times New Roman"/>
                <a:cs typeface="Times New Roman"/>
              </a:rPr>
              <a:t> </a:t>
            </a:r>
            <a:r>
              <a:rPr sz="2800" dirty="0">
                <a:latin typeface="Times New Roman"/>
                <a:cs typeface="Times New Roman"/>
              </a:rPr>
              <a:t>from</a:t>
            </a:r>
            <a:r>
              <a:rPr sz="2800" spc="-55" dirty="0">
                <a:latin typeface="Times New Roman"/>
                <a:cs typeface="Times New Roman"/>
              </a:rPr>
              <a:t> </a:t>
            </a:r>
            <a:r>
              <a:rPr sz="2800" dirty="0">
                <a:latin typeface="Times New Roman"/>
                <a:cs typeface="Times New Roman"/>
              </a:rPr>
              <a:t>where</a:t>
            </a:r>
            <a:r>
              <a:rPr sz="2800" spc="-50" dirty="0">
                <a:latin typeface="Times New Roman"/>
                <a:cs typeface="Times New Roman"/>
              </a:rPr>
              <a:t> </a:t>
            </a:r>
            <a:r>
              <a:rPr sz="2800" dirty="0">
                <a:latin typeface="Times New Roman"/>
                <a:cs typeface="Times New Roman"/>
              </a:rPr>
              <a:t>the</a:t>
            </a:r>
            <a:r>
              <a:rPr sz="2800" spc="-45" dirty="0">
                <a:latin typeface="Times New Roman"/>
                <a:cs typeface="Times New Roman"/>
              </a:rPr>
              <a:t> </a:t>
            </a:r>
            <a:r>
              <a:rPr sz="2800" spc="-10" dirty="0">
                <a:latin typeface="Times New Roman"/>
                <a:cs typeface="Times New Roman"/>
              </a:rPr>
              <a:t>other 	</a:t>
            </a:r>
            <a:r>
              <a:rPr sz="2800" dirty="0">
                <a:latin typeface="Times New Roman"/>
                <a:cs typeface="Times New Roman"/>
              </a:rPr>
              <a:t>malicious</a:t>
            </a:r>
            <a:r>
              <a:rPr sz="2800" spc="-40" dirty="0">
                <a:latin typeface="Times New Roman"/>
                <a:cs typeface="Times New Roman"/>
              </a:rPr>
              <a:t> </a:t>
            </a:r>
            <a:r>
              <a:rPr sz="2800" dirty="0">
                <a:latin typeface="Times New Roman"/>
                <a:cs typeface="Times New Roman"/>
              </a:rPr>
              <a:t>attacks</a:t>
            </a:r>
            <a:r>
              <a:rPr sz="2800" spc="-40" dirty="0">
                <a:latin typeface="Times New Roman"/>
                <a:cs typeface="Times New Roman"/>
              </a:rPr>
              <a:t> </a:t>
            </a:r>
            <a:r>
              <a:rPr sz="2800" dirty="0">
                <a:latin typeface="Times New Roman"/>
                <a:cs typeface="Times New Roman"/>
              </a:rPr>
              <a:t>can</a:t>
            </a:r>
            <a:r>
              <a:rPr sz="2800" spc="-40" dirty="0">
                <a:latin typeface="Times New Roman"/>
                <a:cs typeface="Times New Roman"/>
              </a:rPr>
              <a:t> </a:t>
            </a:r>
            <a:r>
              <a:rPr sz="2800" spc="-10" dirty="0">
                <a:latin typeface="Times New Roman"/>
                <a:cs typeface="Times New Roman"/>
              </a:rPr>
              <a:t>originate.</a:t>
            </a:r>
            <a:endParaRPr sz="2800">
              <a:latin typeface="Times New Roman"/>
              <a:cs typeface="Times New Roman"/>
            </a:endParaRPr>
          </a:p>
          <a:p>
            <a:pPr marL="240029" marR="57785" indent="-227965">
              <a:lnSpc>
                <a:spcPts val="3020"/>
              </a:lnSpc>
              <a:spcBef>
                <a:spcPts val="1055"/>
              </a:spcBef>
              <a:buFont typeface="Arial MT"/>
              <a:buChar char="•"/>
              <a:tabLst>
                <a:tab pos="241300" algn="l"/>
              </a:tabLst>
            </a:pPr>
            <a:r>
              <a:rPr sz="2800" dirty="0">
                <a:latin typeface="Times New Roman"/>
                <a:cs typeface="Times New Roman"/>
              </a:rPr>
              <a:t>Hackers</a:t>
            </a:r>
            <a:r>
              <a:rPr sz="2800" spc="-35" dirty="0">
                <a:latin typeface="Times New Roman"/>
                <a:cs typeface="Times New Roman"/>
              </a:rPr>
              <a:t> </a:t>
            </a:r>
            <a:r>
              <a:rPr sz="2800" dirty="0">
                <a:latin typeface="Times New Roman"/>
                <a:cs typeface="Times New Roman"/>
              </a:rPr>
              <a:t>use</a:t>
            </a:r>
            <a:r>
              <a:rPr sz="2800" spc="-110" dirty="0">
                <a:latin typeface="Times New Roman"/>
                <a:cs typeface="Times New Roman"/>
              </a:rPr>
              <a:t> </a:t>
            </a:r>
            <a:r>
              <a:rPr sz="2800" dirty="0">
                <a:latin typeface="Times New Roman"/>
                <a:cs typeface="Times New Roman"/>
              </a:rPr>
              <a:t>Trojan</a:t>
            </a:r>
            <a:r>
              <a:rPr sz="2800" spc="-50" dirty="0">
                <a:latin typeface="Times New Roman"/>
                <a:cs typeface="Times New Roman"/>
              </a:rPr>
              <a:t> </a:t>
            </a:r>
            <a:r>
              <a:rPr sz="2800" dirty="0">
                <a:latin typeface="Times New Roman"/>
                <a:cs typeface="Times New Roman"/>
              </a:rPr>
              <a:t>to</a:t>
            </a:r>
            <a:r>
              <a:rPr sz="2800" spc="-45" dirty="0">
                <a:latin typeface="Times New Roman"/>
                <a:cs typeface="Times New Roman"/>
              </a:rPr>
              <a:t> </a:t>
            </a:r>
            <a:r>
              <a:rPr sz="2800" dirty="0">
                <a:latin typeface="Times New Roman"/>
                <a:cs typeface="Times New Roman"/>
              </a:rPr>
              <a:t>open</a:t>
            </a:r>
            <a:r>
              <a:rPr sz="2800" spc="-55" dirty="0">
                <a:latin typeface="Times New Roman"/>
                <a:cs typeface="Times New Roman"/>
              </a:rPr>
              <a:t> </a:t>
            </a:r>
            <a:r>
              <a:rPr sz="2800" dirty="0">
                <a:latin typeface="Times New Roman"/>
                <a:cs typeface="Times New Roman"/>
              </a:rPr>
              <a:t>the</a:t>
            </a:r>
            <a:r>
              <a:rPr sz="2800" spc="-55" dirty="0">
                <a:latin typeface="Times New Roman"/>
                <a:cs typeface="Times New Roman"/>
              </a:rPr>
              <a:t> </a:t>
            </a:r>
            <a:r>
              <a:rPr sz="2800" dirty="0">
                <a:latin typeface="Times New Roman"/>
                <a:cs typeface="Times New Roman"/>
              </a:rPr>
              <a:t>backdoor</a:t>
            </a:r>
            <a:r>
              <a:rPr sz="2800" spc="-55" dirty="0">
                <a:latin typeface="Times New Roman"/>
                <a:cs typeface="Times New Roman"/>
              </a:rPr>
              <a:t> </a:t>
            </a:r>
            <a:r>
              <a:rPr sz="2800" dirty="0">
                <a:latin typeface="Times New Roman"/>
                <a:cs typeface="Times New Roman"/>
              </a:rPr>
              <a:t>on</a:t>
            </a:r>
            <a:r>
              <a:rPr sz="2800" spc="-40" dirty="0">
                <a:latin typeface="Times New Roman"/>
                <a:cs typeface="Times New Roman"/>
              </a:rPr>
              <a:t> </a:t>
            </a:r>
            <a:r>
              <a:rPr sz="2800" dirty="0">
                <a:latin typeface="Times New Roman"/>
                <a:cs typeface="Times New Roman"/>
              </a:rPr>
              <a:t>your</a:t>
            </a:r>
            <a:r>
              <a:rPr sz="2800" spc="-50" dirty="0">
                <a:latin typeface="Times New Roman"/>
                <a:cs typeface="Times New Roman"/>
              </a:rPr>
              <a:t> </a:t>
            </a:r>
            <a:r>
              <a:rPr sz="2800" dirty="0">
                <a:latin typeface="Times New Roman"/>
                <a:cs typeface="Times New Roman"/>
              </a:rPr>
              <a:t>computer</a:t>
            </a:r>
            <a:r>
              <a:rPr sz="2800" spc="-40" dirty="0">
                <a:latin typeface="Times New Roman"/>
                <a:cs typeface="Times New Roman"/>
              </a:rPr>
              <a:t> </a:t>
            </a:r>
            <a:r>
              <a:rPr sz="2800" dirty="0">
                <a:latin typeface="Times New Roman"/>
                <a:cs typeface="Times New Roman"/>
              </a:rPr>
              <a:t>to</a:t>
            </a:r>
            <a:r>
              <a:rPr sz="2800" spc="-55" dirty="0">
                <a:latin typeface="Times New Roman"/>
                <a:cs typeface="Times New Roman"/>
              </a:rPr>
              <a:t> </a:t>
            </a:r>
            <a:r>
              <a:rPr sz="2800" spc="-10" dirty="0">
                <a:latin typeface="Times New Roman"/>
                <a:cs typeface="Times New Roman"/>
              </a:rPr>
              <a:t>access 	</a:t>
            </a:r>
            <a:r>
              <a:rPr sz="2800" dirty="0">
                <a:latin typeface="Times New Roman"/>
                <a:cs typeface="Times New Roman"/>
              </a:rPr>
              <a:t>your</a:t>
            </a:r>
            <a:r>
              <a:rPr sz="2800" spc="-40" dirty="0">
                <a:latin typeface="Times New Roman"/>
                <a:cs typeface="Times New Roman"/>
              </a:rPr>
              <a:t> </a:t>
            </a:r>
            <a:r>
              <a:rPr sz="2800" dirty="0">
                <a:latin typeface="Times New Roman"/>
                <a:cs typeface="Times New Roman"/>
              </a:rPr>
              <a:t>computer</a:t>
            </a:r>
            <a:r>
              <a:rPr sz="2800" spc="-15" dirty="0">
                <a:latin typeface="Times New Roman"/>
                <a:cs typeface="Times New Roman"/>
              </a:rPr>
              <a:t> </a:t>
            </a:r>
            <a:r>
              <a:rPr sz="2800" dirty="0">
                <a:latin typeface="Times New Roman"/>
                <a:cs typeface="Times New Roman"/>
              </a:rPr>
              <a:t>and</a:t>
            </a:r>
            <a:r>
              <a:rPr sz="2800" spc="-30" dirty="0">
                <a:latin typeface="Times New Roman"/>
                <a:cs typeface="Times New Roman"/>
              </a:rPr>
              <a:t> </a:t>
            </a:r>
            <a:r>
              <a:rPr sz="2800" dirty="0">
                <a:latin typeface="Times New Roman"/>
                <a:cs typeface="Times New Roman"/>
              </a:rPr>
              <a:t>establish</a:t>
            </a:r>
            <a:r>
              <a:rPr sz="2800" spc="-45" dirty="0">
                <a:latin typeface="Times New Roman"/>
                <a:cs typeface="Times New Roman"/>
              </a:rPr>
              <a:t> </a:t>
            </a:r>
            <a:r>
              <a:rPr sz="2800" dirty="0">
                <a:latin typeface="Times New Roman"/>
                <a:cs typeface="Times New Roman"/>
              </a:rPr>
              <a:t>control</a:t>
            </a:r>
            <a:r>
              <a:rPr sz="2800" spc="-45" dirty="0">
                <a:latin typeface="Times New Roman"/>
                <a:cs typeface="Times New Roman"/>
              </a:rPr>
              <a:t> </a:t>
            </a:r>
            <a:r>
              <a:rPr sz="2800" dirty="0">
                <a:latin typeface="Times New Roman"/>
                <a:cs typeface="Times New Roman"/>
              </a:rPr>
              <a:t>on</a:t>
            </a:r>
            <a:r>
              <a:rPr sz="2800" spc="-20" dirty="0">
                <a:latin typeface="Times New Roman"/>
                <a:cs typeface="Times New Roman"/>
              </a:rPr>
              <a:t> </a:t>
            </a:r>
            <a:r>
              <a:rPr sz="2800" dirty="0">
                <a:latin typeface="Times New Roman"/>
                <a:cs typeface="Times New Roman"/>
              </a:rPr>
              <a:t>your</a:t>
            </a:r>
            <a:r>
              <a:rPr sz="2800" spc="-25" dirty="0">
                <a:latin typeface="Times New Roman"/>
                <a:cs typeface="Times New Roman"/>
              </a:rPr>
              <a:t> </a:t>
            </a:r>
            <a:r>
              <a:rPr sz="2800" spc="-10" dirty="0">
                <a:latin typeface="Times New Roman"/>
                <a:cs typeface="Times New Roman"/>
              </a:rPr>
              <a:t>machine.</a:t>
            </a:r>
            <a:endParaRPr sz="2800">
              <a:latin typeface="Times New Roman"/>
              <a:cs typeface="Times New Roman"/>
            </a:endParaRPr>
          </a:p>
          <a:p>
            <a:pPr marL="240029" marR="5080" indent="-227965">
              <a:lnSpc>
                <a:spcPts val="3020"/>
              </a:lnSpc>
              <a:spcBef>
                <a:spcPts val="1010"/>
              </a:spcBef>
              <a:buFont typeface="Arial MT"/>
              <a:buChar char="•"/>
              <a:tabLst>
                <a:tab pos="241300" algn="l"/>
              </a:tabLst>
            </a:pPr>
            <a:r>
              <a:rPr sz="2800" dirty="0">
                <a:latin typeface="Times New Roman"/>
                <a:cs typeface="Times New Roman"/>
              </a:rPr>
              <a:t>The</a:t>
            </a:r>
            <a:r>
              <a:rPr sz="2800" spc="-55" dirty="0">
                <a:latin typeface="Times New Roman"/>
                <a:cs typeface="Times New Roman"/>
              </a:rPr>
              <a:t> </a:t>
            </a:r>
            <a:r>
              <a:rPr sz="2800" dirty="0">
                <a:latin typeface="Times New Roman"/>
                <a:cs typeface="Times New Roman"/>
              </a:rPr>
              <a:t>concept</a:t>
            </a:r>
            <a:r>
              <a:rPr sz="2800" spc="-65" dirty="0">
                <a:latin typeface="Times New Roman"/>
                <a:cs typeface="Times New Roman"/>
              </a:rPr>
              <a:t> </a:t>
            </a:r>
            <a:r>
              <a:rPr sz="2800" dirty="0">
                <a:latin typeface="Times New Roman"/>
                <a:cs typeface="Times New Roman"/>
              </a:rPr>
              <a:t>of</a:t>
            </a:r>
            <a:r>
              <a:rPr sz="2800" spc="-40" dirty="0">
                <a:latin typeface="Times New Roman"/>
                <a:cs typeface="Times New Roman"/>
              </a:rPr>
              <a:t> </a:t>
            </a:r>
            <a:r>
              <a:rPr sz="2800" dirty="0">
                <a:latin typeface="Times New Roman"/>
                <a:cs typeface="Times New Roman"/>
              </a:rPr>
              <a:t>the</a:t>
            </a:r>
            <a:r>
              <a:rPr sz="2800" spc="-100" dirty="0">
                <a:latin typeface="Times New Roman"/>
                <a:cs typeface="Times New Roman"/>
              </a:rPr>
              <a:t> </a:t>
            </a:r>
            <a:r>
              <a:rPr sz="2800" dirty="0">
                <a:latin typeface="Times New Roman"/>
                <a:cs typeface="Times New Roman"/>
              </a:rPr>
              <a:t>Trojan</a:t>
            </a:r>
            <a:r>
              <a:rPr sz="2800" spc="-50" dirty="0">
                <a:latin typeface="Times New Roman"/>
                <a:cs typeface="Times New Roman"/>
              </a:rPr>
              <a:t> </a:t>
            </a:r>
            <a:r>
              <a:rPr sz="2800" dirty="0">
                <a:latin typeface="Times New Roman"/>
                <a:cs typeface="Times New Roman"/>
              </a:rPr>
              <a:t>horse</a:t>
            </a:r>
            <a:r>
              <a:rPr sz="2800" spc="-70" dirty="0">
                <a:latin typeface="Times New Roman"/>
                <a:cs typeface="Times New Roman"/>
              </a:rPr>
              <a:t> </a:t>
            </a:r>
            <a:r>
              <a:rPr sz="2800" dirty="0">
                <a:latin typeface="Times New Roman"/>
                <a:cs typeface="Times New Roman"/>
              </a:rPr>
              <a:t>in</a:t>
            </a:r>
            <a:r>
              <a:rPr sz="2800" spc="-50" dirty="0">
                <a:latin typeface="Times New Roman"/>
                <a:cs typeface="Times New Roman"/>
              </a:rPr>
              <a:t> </a:t>
            </a:r>
            <a:r>
              <a:rPr sz="2800" dirty="0">
                <a:latin typeface="Times New Roman"/>
                <a:cs typeface="Times New Roman"/>
              </a:rPr>
              <a:t>the</a:t>
            </a:r>
            <a:r>
              <a:rPr sz="2800" spc="-50" dirty="0">
                <a:latin typeface="Times New Roman"/>
                <a:cs typeface="Times New Roman"/>
              </a:rPr>
              <a:t> </a:t>
            </a:r>
            <a:r>
              <a:rPr sz="2800" dirty="0">
                <a:latin typeface="Times New Roman"/>
                <a:cs typeface="Times New Roman"/>
              </a:rPr>
              <a:t>modern</a:t>
            </a:r>
            <a:r>
              <a:rPr sz="2800" spc="-50" dirty="0">
                <a:latin typeface="Times New Roman"/>
                <a:cs typeface="Times New Roman"/>
              </a:rPr>
              <a:t> </a:t>
            </a:r>
            <a:r>
              <a:rPr sz="2800" dirty="0">
                <a:latin typeface="Times New Roman"/>
                <a:cs typeface="Times New Roman"/>
              </a:rPr>
              <a:t>computer</a:t>
            </a:r>
            <a:r>
              <a:rPr sz="2800" spc="-45" dirty="0">
                <a:latin typeface="Times New Roman"/>
                <a:cs typeface="Times New Roman"/>
              </a:rPr>
              <a:t> </a:t>
            </a:r>
            <a:r>
              <a:rPr sz="2800" spc="-10" dirty="0">
                <a:latin typeface="Times New Roman"/>
                <a:cs typeface="Times New Roman"/>
              </a:rPr>
              <a:t>terminology 	</a:t>
            </a:r>
            <a:r>
              <a:rPr sz="2800" dirty="0">
                <a:latin typeface="Times New Roman"/>
                <a:cs typeface="Times New Roman"/>
              </a:rPr>
              <a:t>resembles</a:t>
            </a:r>
            <a:r>
              <a:rPr sz="2800" spc="-40" dirty="0">
                <a:latin typeface="Times New Roman"/>
                <a:cs typeface="Times New Roman"/>
              </a:rPr>
              <a:t> </a:t>
            </a:r>
            <a:r>
              <a:rPr sz="2800" dirty="0">
                <a:latin typeface="Times New Roman"/>
                <a:cs typeface="Times New Roman"/>
              </a:rPr>
              <a:t>100%</a:t>
            </a:r>
            <a:r>
              <a:rPr sz="2800" spc="-40" dirty="0">
                <a:latin typeface="Times New Roman"/>
                <a:cs typeface="Times New Roman"/>
              </a:rPr>
              <a:t> </a:t>
            </a:r>
            <a:r>
              <a:rPr sz="2800" dirty="0">
                <a:latin typeface="Times New Roman"/>
                <a:cs typeface="Times New Roman"/>
              </a:rPr>
              <a:t>with</a:t>
            </a:r>
            <a:r>
              <a:rPr sz="2800" spc="-40" dirty="0">
                <a:latin typeface="Times New Roman"/>
                <a:cs typeface="Times New Roman"/>
              </a:rPr>
              <a:t> </a:t>
            </a:r>
            <a:r>
              <a:rPr sz="2800" dirty="0">
                <a:latin typeface="Times New Roman"/>
                <a:cs typeface="Times New Roman"/>
              </a:rPr>
              <a:t>the</a:t>
            </a:r>
            <a:r>
              <a:rPr sz="2800" spc="-60" dirty="0">
                <a:latin typeface="Times New Roman"/>
                <a:cs typeface="Times New Roman"/>
              </a:rPr>
              <a:t> </a:t>
            </a:r>
            <a:r>
              <a:rPr sz="2800" dirty="0">
                <a:latin typeface="Times New Roman"/>
                <a:cs typeface="Times New Roman"/>
              </a:rPr>
              <a:t>story</a:t>
            </a:r>
            <a:r>
              <a:rPr sz="2800" spc="-45" dirty="0">
                <a:latin typeface="Times New Roman"/>
                <a:cs typeface="Times New Roman"/>
              </a:rPr>
              <a:t> </a:t>
            </a:r>
            <a:r>
              <a:rPr sz="2800" dirty="0">
                <a:latin typeface="Times New Roman"/>
                <a:cs typeface="Times New Roman"/>
              </a:rPr>
              <a:t>of</a:t>
            </a:r>
            <a:r>
              <a:rPr sz="2800" spc="-75" dirty="0">
                <a:latin typeface="Times New Roman"/>
                <a:cs typeface="Times New Roman"/>
              </a:rPr>
              <a:t> </a:t>
            </a:r>
            <a:r>
              <a:rPr sz="2800" dirty="0">
                <a:latin typeface="Times New Roman"/>
                <a:cs typeface="Times New Roman"/>
              </a:rPr>
              <a:t>Trojan</a:t>
            </a:r>
            <a:r>
              <a:rPr sz="2800" spc="-40" dirty="0">
                <a:latin typeface="Times New Roman"/>
                <a:cs typeface="Times New Roman"/>
              </a:rPr>
              <a:t> </a:t>
            </a:r>
            <a:r>
              <a:rPr sz="2800" dirty="0">
                <a:latin typeface="Times New Roman"/>
                <a:cs typeface="Times New Roman"/>
              </a:rPr>
              <a:t>horse</a:t>
            </a:r>
            <a:r>
              <a:rPr sz="2800" spc="-45" dirty="0">
                <a:latin typeface="Times New Roman"/>
                <a:cs typeface="Times New Roman"/>
              </a:rPr>
              <a:t> </a:t>
            </a:r>
            <a:r>
              <a:rPr sz="2800" dirty="0">
                <a:latin typeface="Times New Roman"/>
                <a:cs typeface="Times New Roman"/>
              </a:rPr>
              <a:t>in</a:t>
            </a:r>
            <a:r>
              <a:rPr sz="2800" spc="-45" dirty="0">
                <a:latin typeface="Times New Roman"/>
                <a:cs typeface="Times New Roman"/>
              </a:rPr>
              <a:t> </a:t>
            </a:r>
            <a:r>
              <a:rPr sz="2800" dirty="0">
                <a:latin typeface="Times New Roman"/>
                <a:cs typeface="Times New Roman"/>
              </a:rPr>
              <a:t>the</a:t>
            </a:r>
            <a:r>
              <a:rPr sz="2800" spc="-45" dirty="0">
                <a:latin typeface="Times New Roman"/>
                <a:cs typeface="Times New Roman"/>
              </a:rPr>
              <a:t> </a:t>
            </a:r>
            <a:r>
              <a:rPr sz="2800" spc="-10" dirty="0">
                <a:latin typeface="Times New Roman"/>
                <a:cs typeface="Times New Roman"/>
              </a:rPr>
              <a:t>Greek 	mythology.</a:t>
            </a:r>
            <a:endParaRPr sz="2800">
              <a:latin typeface="Times New Roman"/>
              <a:cs typeface="Times New Roman"/>
            </a:endParaRPr>
          </a:p>
        </p:txBody>
      </p:sp>
    </p:spTree>
    <p:extLst>
      <p:ext uri="{BB962C8B-B14F-4D97-AF65-F5344CB8AC3E}">
        <p14:creationId xmlns:p14="http://schemas.microsoft.com/office/powerpoint/2010/main" val="20640836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35127" rIns="0" bIns="0" rtlCol="0">
            <a:spAutoFit/>
          </a:bodyPr>
          <a:lstStyle/>
          <a:p>
            <a:pPr marL="12700">
              <a:lnSpc>
                <a:spcPct val="100000"/>
              </a:lnSpc>
              <a:spcBef>
                <a:spcPts val="105"/>
              </a:spcBef>
            </a:pPr>
            <a:r>
              <a:rPr dirty="0"/>
              <a:t>TROJAN</a:t>
            </a:r>
            <a:r>
              <a:rPr spc="-15" dirty="0"/>
              <a:t> </a:t>
            </a:r>
            <a:r>
              <a:rPr spc="-10" dirty="0"/>
              <a:t>HORSE</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3" name="object 3"/>
          <p:cNvSpPr txBox="1">
            <a:spLocks noGrp="1"/>
          </p:cNvSpPr>
          <p:nvPr>
            <p:ph type="body" idx="1"/>
          </p:nvPr>
        </p:nvSpPr>
        <p:spPr>
          <a:prstGeom prst="rect">
            <a:avLst/>
          </a:prstGeom>
        </p:spPr>
        <p:txBody>
          <a:bodyPr vert="horz" wrap="square" lIns="0" tIns="423417" rIns="0" bIns="0" rtlCol="0">
            <a:spAutoFit/>
          </a:bodyPr>
          <a:lstStyle/>
          <a:p>
            <a:pPr marL="240029" marR="153670" indent="-227965">
              <a:lnSpc>
                <a:spcPts val="2690"/>
              </a:lnSpc>
              <a:spcBef>
                <a:spcPts val="740"/>
              </a:spcBef>
              <a:buFont typeface="Arial MT"/>
              <a:buChar char="•"/>
              <a:tabLst>
                <a:tab pos="241300" algn="l"/>
              </a:tabLst>
            </a:pPr>
            <a:r>
              <a:rPr spc="-30" dirty="0"/>
              <a:t>A</a:t>
            </a:r>
            <a:r>
              <a:rPr spc="-200" dirty="0"/>
              <a:t> </a:t>
            </a:r>
            <a:r>
              <a:rPr dirty="0"/>
              <a:t>Trojan</a:t>
            </a:r>
            <a:r>
              <a:rPr spc="-75" dirty="0"/>
              <a:t> </a:t>
            </a:r>
            <a:r>
              <a:rPr dirty="0"/>
              <a:t>horse</a:t>
            </a:r>
            <a:r>
              <a:rPr spc="-50" dirty="0"/>
              <a:t> </a:t>
            </a:r>
            <a:r>
              <a:rPr dirty="0"/>
              <a:t>comes</a:t>
            </a:r>
            <a:r>
              <a:rPr spc="-50" dirty="0"/>
              <a:t> </a:t>
            </a:r>
            <a:r>
              <a:rPr dirty="0"/>
              <a:t>in</a:t>
            </a:r>
            <a:r>
              <a:rPr spc="-50" dirty="0"/>
              <a:t> </a:t>
            </a:r>
            <a:r>
              <a:rPr dirty="0"/>
              <a:t>through</a:t>
            </a:r>
            <a:r>
              <a:rPr spc="-50" dirty="0"/>
              <a:t> </a:t>
            </a:r>
            <a:r>
              <a:rPr dirty="0"/>
              <a:t>some</a:t>
            </a:r>
            <a:r>
              <a:rPr spc="-45" dirty="0"/>
              <a:t> </a:t>
            </a:r>
            <a:r>
              <a:rPr dirty="0"/>
              <a:t>social</a:t>
            </a:r>
            <a:r>
              <a:rPr spc="-65" dirty="0"/>
              <a:t> </a:t>
            </a:r>
            <a:r>
              <a:rPr dirty="0"/>
              <a:t>engineering</a:t>
            </a:r>
            <a:r>
              <a:rPr spc="-60" dirty="0"/>
              <a:t> </a:t>
            </a:r>
            <a:r>
              <a:rPr dirty="0"/>
              <a:t>tactics</a:t>
            </a:r>
            <a:r>
              <a:rPr spc="-65" dirty="0"/>
              <a:t> </a:t>
            </a:r>
            <a:r>
              <a:rPr spc="-20" dirty="0"/>
              <a:t>such 	</a:t>
            </a:r>
            <a:r>
              <a:rPr dirty="0"/>
              <a:t>as</a:t>
            </a:r>
            <a:r>
              <a:rPr spc="-40" dirty="0"/>
              <a:t> </a:t>
            </a:r>
            <a:r>
              <a:rPr dirty="0"/>
              <a:t>emails,</a:t>
            </a:r>
            <a:r>
              <a:rPr spc="-25" dirty="0"/>
              <a:t> </a:t>
            </a:r>
            <a:r>
              <a:rPr dirty="0"/>
              <a:t>disguised</a:t>
            </a:r>
            <a:r>
              <a:rPr spc="-55" dirty="0"/>
              <a:t> </a:t>
            </a:r>
            <a:r>
              <a:rPr dirty="0"/>
              <a:t>links,</a:t>
            </a:r>
            <a:r>
              <a:rPr spc="-65" dirty="0"/>
              <a:t> </a:t>
            </a:r>
            <a:r>
              <a:rPr dirty="0"/>
              <a:t>and</a:t>
            </a:r>
            <a:r>
              <a:rPr spc="-40" dirty="0"/>
              <a:t> </a:t>
            </a:r>
            <a:r>
              <a:rPr dirty="0"/>
              <a:t>other</a:t>
            </a:r>
            <a:r>
              <a:rPr spc="-5" dirty="0"/>
              <a:t> </a:t>
            </a:r>
            <a:r>
              <a:rPr spc="-10" dirty="0"/>
              <a:t>sources.</a:t>
            </a:r>
          </a:p>
          <a:p>
            <a:pPr marL="240029" marR="231775" indent="-227965">
              <a:lnSpc>
                <a:spcPts val="2690"/>
              </a:lnSpc>
              <a:spcBef>
                <a:spcPts val="1010"/>
              </a:spcBef>
              <a:buFont typeface="Arial MT"/>
              <a:buChar char="•"/>
              <a:tabLst>
                <a:tab pos="241300" algn="l"/>
              </a:tabLst>
            </a:pPr>
            <a:r>
              <a:rPr dirty="0"/>
              <a:t>They</a:t>
            </a:r>
            <a:r>
              <a:rPr spc="-40" dirty="0"/>
              <a:t> </a:t>
            </a:r>
            <a:r>
              <a:rPr dirty="0"/>
              <a:t>would</a:t>
            </a:r>
            <a:r>
              <a:rPr spc="-40" dirty="0"/>
              <a:t> </a:t>
            </a:r>
            <a:r>
              <a:rPr dirty="0"/>
              <a:t>sit</a:t>
            </a:r>
            <a:r>
              <a:rPr spc="-35" dirty="0"/>
              <a:t> </a:t>
            </a:r>
            <a:r>
              <a:rPr dirty="0"/>
              <a:t>on</a:t>
            </a:r>
            <a:r>
              <a:rPr spc="-40" dirty="0"/>
              <a:t> </a:t>
            </a:r>
            <a:r>
              <a:rPr dirty="0"/>
              <a:t>the</a:t>
            </a:r>
            <a:r>
              <a:rPr spc="-40" dirty="0"/>
              <a:t> </a:t>
            </a:r>
            <a:r>
              <a:rPr dirty="0"/>
              <a:t>computers</a:t>
            </a:r>
            <a:r>
              <a:rPr spc="-35" dirty="0"/>
              <a:t> </a:t>
            </a:r>
            <a:r>
              <a:rPr dirty="0"/>
              <a:t>and</a:t>
            </a:r>
            <a:r>
              <a:rPr spc="-30" dirty="0"/>
              <a:t> </a:t>
            </a:r>
            <a:r>
              <a:rPr dirty="0"/>
              <a:t>start</a:t>
            </a:r>
            <a:r>
              <a:rPr spc="-40" dirty="0"/>
              <a:t> </a:t>
            </a:r>
            <a:r>
              <a:rPr dirty="0"/>
              <a:t>spying,</a:t>
            </a:r>
            <a:r>
              <a:rPr spc="-50" dirty="0"/>
              <a:t> </a:t>
            </a:r>
            <a:r>
              <a:rPr dirty="0"/>
              <a:t>making</a:t>
            </a:r>
            <a:r>
              <a:rPr spc="-40" dirty="0"/>
              <a:t> </a:t>
            </a:r>
            <a:r>
              <a:rPr dirty="0"/>
              <a:t>changes</a:t>
            </a:r>
            <a:r>
              <a:rPr spc="-50" dirty="0"/>
              <a:t> </a:t>
            </a:r>
            <a:r>
              <a:rPr spc="-25" dirty="0"/>
              <a:t>in 	</a:t>
            </a:r>
            <a:r>
              <a:rPr dirty="0"/>
              <a:t>credentials</a:t>
            </a:r>
            <a:r>
              <a:rPr spc="-35" dirty="0"/>
              <a:t> </a:t>
            </a:r>
            <a:r>
              <a:rPr dirty="0"/>
              <a:t>and</a:t>
            </a:r>
            <a:r>
              <a:rPr spc="-35" dirty="0"/>
              <a:t> </a:t>
            </a:r>
            <a:r>
              <a:rPr dirty="0"/>
              <a:t>doing</a:t>
            </a:r>
            <a:r>
              <a:rPr spc="-35" dirty="0"/>
              <a:t> </a:t>
            </a:r>
            <a:r>
              <a:rPr dirty="0"/>
              <a:t>other</a:t>
            </a:r>
            <a:r>
              <a:rPr spc="-30" dirty="0"/>
              <a:t> </a:t>
            </a:r>
            <a:r>
              <a:rPr dirty="0"/>
              <a:t>such</a:t>
            </a:r>
            <a:r>
              <a:rPr spc="-40" dirty="0"/>
              <a:t> </a:t>
            </a:r>
            <a:r>
              <a:rPr dirty="0"/>
              <a:t>malicious</a:t>
            </a:r>
            <a:r>
              <a:rPr spc="-30" dirty="0"/>
              <a:t> </a:t>
            </a:r>
            <a:r>
              <a:rPr spc="-10" dirty="0"/>
              <a:t>activities.</a:t>
            </a:r>
          </a:p>
          <a:p>
            <a:pPr marL="240029" marR="448309" indent="-227965">
              <a:lnSpc>
                <a:spcPts val="2690"/>
              </a:lnSpc>
              <a:spcBef>
                <a:spcPts val="990"/>
              </a:spcBef>
              <a:buFont typeface="Arial MT"/>
              <a:buChar char="•"/>
              <a:tabLst>
                <a:tab pos="241300" algn="l"/>
              </a:tabLst>
            </a:pPr>
            <a:r>
              <a:rPr dirty="0"/>
              <a:t>The</a:t>
            </a:r>
            <a:r>
              <a:rPr spc="-40" dirty="0"/>
              <a:t> </a:t>
            </a:r>
            <a:r>
              <a:rPr dirty="0"/>
              <a:t>main</a:t>
            </a:r>
            <a:r>
              <a:rPr spc="-30" dirty="0"/>
              <a:t> </a:t>
            </a:r>
            <a:r>
              <a:rPr dirty="0"/>
              <a:t>objectives</a:t>
            </a:r>
            <a:r>
              <a:rPr spc="-60" dirty="0"/>
              <a:t> </a:t>
            </a:r>
            <a:r>
              <a:rPr dirty="0"/>
              <a:t>of</a:t>
            </a:r>
            <a:r>
              <a:rPr spc="-75" dirty="0"/>
              <a:t> </a:t>
            </a:r>
            <a:r>
              <a:rPr dirty="0"/>
              <a:t>Trojan</a:t>
            </a:r>
            <a:r>
              <a:rPr spc="-40" dirty="0"/>
              <a:t> </a:t>
            </a:r>
            <a:r>
              <a:rPr dirty="0"/>
              <a:t>horse</a:t>
            </a:r>
            <a:r>
              <a:rPr spc="-55" dirty="0"/>
              <a:t> </a:t>
            </a:r>
            <a:r>
              <a:rPr dirty="0"/>
              <a:t>are</a:t>
            </a:r>
            <a:r>
              <a:rPr spc="-40" dirty="0"/>
              <a:t> </a:t>
            </a:r>
            <a:r>
              <a:rPr dirty="0"/>
              <a:t>to</a:t>
            </a:r>
            <a:r>
              <a:rPr spc="-30" dirty="0"/>
              <a:t> </a:t>
            </a:r>
            <a:r>
              <a:rPr dirty="0"/>
              <a:t>spy</a:t>
            </a:r>
            <a:r>
              <a:rPr spc="-35" dirty="0"/>
              <a:t> </a:t>
            </a:r>
            <a:r>
              <a:rPr dirty="0"/>
              <a:t>on</a:t>
            </a:r>
            <a:r>
              <a:rPr spc="-30" dirty="0"/>
              <a:t> </a:t>
            </a:r>
            <a:r>
              <a:rPr dirty="0"/>
              <a:t>the</a:t>
            </a:r>
            <a:r>
              <a:rPr spc="-45" dirty="0"/>
              <a:t> </a:t>
            </a:r>
            <a:r>
              <a:rPr dirty="0"/>
              <a:t>user</a:t>
            </a:r>
            <a:r>
              <a:rPr spc="-40" dirty="0"/>
              <a:t> </a:t>
            </a:r>
            <a:r>
              <a:rPr spc="-10" dirty="0"/>
              <a:t>activities 	</a:t>
            </a:r>
            <a:r>
              <a:rPr dirty="0"/>
              <a:t>and</a:t>
            </a:r>
            <a:r>
              <a:rPr spc="-15" dirty="0"/>
              <a:t> </a:t>
            </a:r>
            <a:r>
              <a:rPr dirty="0"/>
              <a:t>send</a:t>
            </a:r>
            <a:r>
              <a:rPr spc="-20" dirty="0"/>
              <a:t> </a:t>
            </a:r>
            <a:r>
              <a:rPr dirty="0"/>
              <a:t>back</a:t>
            </a:r>
            <a:r>
              <a:rPr spc="-15" dirty="0"/>
              <a:t> </a:t>
            </a:r>
            <a:r>
              <a:rPr dirty="0"/>
              <a:t>to</a:t>
            </a:r>
            <a:r>
              <a:rPr spc="-15" dirty="0"/>
              <a:t> </a:t>
            </a:r>
            <a:r>
              <a:rPr dirty="0"/>
              <a:t>its</a:t>
            </a:r>
            <a:r>
              <a:rPr spc="-25" dirty="0"/>
              <a:t> </a:t>
            </a:r>
            <a:r>
              <a:rPr dirty="0"/>
              <a:t>master</a:t>
            </a:r>
            <a:r>
              <a:rPr spc="10" dirty="0"/>
              <a:t> </a:t>
            </a:r>
            <a:r>
              <a:rPr spc="-10" dirty="0"/>
              <a:t>control.</a:t>
            </a:r>
          </a:p>
          <a:p>
            <a:pPr marL="240029" marR="141605" indent="-227965">
              <a:lnSpc>
                <a:spcPct val="80000"/>
              </a:lnSpc>
              <a:spcBef>
                <a:spcPts val="1019"/>
              </a:spcBef>
              <a:buFont typeface="Arial MT"/>
              <a:buChar char="•"/>
              <a:tabLst>
                <a:tab pos="241300" algn="l"/>
              </a:tabLst>
            </a:pPr>
            <a:r>
              <a:rPr dirty="0"/>
              <a:t>Based</a:t>
            </a:r>
            <a:r>
              <a:rPr spc="-35" dirty="0"/>
              <a:t> </a:t>
            </a:r>
            <a:r>
              <a:rPr dirty="0"/>
              <a:t>on</a:t>
            </a:r>
            <a:r>
              <a:rPr spc="-25" dirty="0"/>
              <a:t> </a:t>
            </a:r>
            <a:r>
              <a:rPr dirty="0"/>
              <a:t>the</a:t>
            </a:r>
            <a:r>
              <a:rPr spc="-45" dirty="0"/>
              <a:t> </a:t>
            </a:r>
            <a:r>
              <a:rPr dirty="0"/>
              <a:t>information,</a:t>
            </a:r>
            <a:r>
              <a:rPr spc="-35" dirty="0"/>
              <a:t> </a:t>
            </a:r>
            <a:r>
              <a:rPr dirty="0"/>
              <a:t>backdoor</a:t>
            </a:r>
            <a:r>
              <a:rPr spc="-45" dirty="0"/>
              <a:t> </a:t>
            </a:r>
            <a:r>
              <a:rPr dirty="0"/>
              <a:t>access</a:t>
            </a:r>
            <a:r>
              <a:rPr spc="-30" dirty="0"/>
              <a:t> </a:t>
            </a:r>
            <a:r>
              <a:rPr dirty="0"/>
              <a:t>on</a:t>
            </a:r>
            <a:r>
              <a:rPr spc="-30" dirty="0"/>
              <a:t> </a:t>
            </a:r>
            <a:r>
              <a:rPr dirty="0"/>
              <a:t>the</a:t>
            </a:r>
            <a:r>
              <a:rPr spc="-35" dirty="0"/>
              <a:t> </a:t>
            </a:r>
            <a:r>
              <a:rPr dirty="0"/>
              <a:t>computer</a:t>
            </a:r>
            <a:r>
              <a:rPr spc="-35" dirty="0"/>
              <a:t> </a:t>
            </a:r>
            <a:r>
              <a:rPr dirty="0"/>
              <a:t>is</a:t>
            </a:r>
            <a:r>
              <a:rPr spc="10" dirty="0"/>
              <a:t> </a:t>
            </a:r>
            <a:r>
              <a:rPr spc="-10" dirty="0"/>
              <a:t>created 	</a:t>
            </a:r>
            <a:r>
              <a:rPr dirty="0"/>
              <a:t>to</a:t>
            </a:r>
            <a:r>
              <a:rPr spc="-40" dirty="0"/>
              <a:t> </a:t>
            </a:r>
            <a:r>
              <a:rPr dirty="0"/>
              <a:t>get</a:t>
            </a:r>
            <a:r>
              <a:rPr spc="-45" dirty="0"/>
              <a:t> </a:t>
            </a:r>
            <a:r>
              <a:rPr dirty="0"/>
              <a:t>control</a:t>
            </a:r>
            <a:r>
              <a:rPr spc="-40" dirty="0"/>
              <a:t> </a:t>
            </a:r>
            <a:r>
              <a:rPr dirty="0"/>
              <a:t>over</a:t>
            </a:r>
            <a:r>
              <a:rPr spc="-35" dirty="0"/>
              <a:t> </a:t>
            </a:r>
            <a:r>
              <a:rPr dirty="0"/>
              <a:t>the</a:t>
            </a:r>
            <a:r>
              <a:rPr spc="-30" dirty="0"/>
              <a:t> </a:t>
            </a:r>
            <a:r>
              <a:rPr dirty="0"/>
              <a:t>computer</a:t>
            </a:r>
            <a:r>
              <a:rPr spc="-35" dirty="0"/>
              <a:t> </a:t>
            </a:r>
            <a:r>
              <a:rPr dirty="0"/>
              <a:t>for</a:t>
            </a:r>
            <a:r>
              <a:rPr spc="-30" dirty="0"/>
              <a:t> </a:t>
            </a:r>
            <a:r>
              <a:rPr dirty="0"/>
              <a:t>malicious</a:t>
            </a:r>
            <a:r>
              <a:rPr spc="-35" dirty="0"/>
              <a:t> </a:t>
            </a:r>
            <a:r>
              <a:rPr spc="-10" dirty="0"/>
              <a:t>activities.</a:t>
            </a:r>
          </a:p>
          <a:p>
            <a:pPr marL="240029" marR="5080" indent="-227965">
              <a:lnSpc>
                <a:spcPts val="2690"/>
              </a:lnSpc>
              <a:spcBef>
                <a:spcPts val="985"/>
              </a:spcBef>
              <a:buFont typeface="Arial MT"/>
              <a:buChar char="•"/>
              <a:tabLst>
                <a:tab pos="241300" algn="l"/>
              </a:tabLst>
            </a:pPr>
            <a:r>
              <a:rPr dirty="0"/>
              <a:t>The</a:t>
            </a:r>
            <a:r>
              <a:rPr spc="-100" dirty="0"/>
              <a:t> </a:t>
            </a:r>
            <a:r>
              <a:rPr dirty="0"/>
              <a:t>Trojan</a:t>
            </a:r>
            <a:r>
              <a:rPr spc="-60" dirty="0"/>
              <a:t> </a:t>
            </a:r>
            <a:r>
              <a:rPr dirty="0"/>
              <a:t>horses</a:t>
            </a:r>
            <a:r>
              <a:rPr spc="-75" dirty="0"/>
              <a:t> </a:t>
            </a:r>
            <a:r>
              <a:rPr dirty="0"/>
              <a:t>cannot</a:t>
            </a:r>
            <a:r>
              <a:rPr spc="-70" dirty="0"/>
              <a:t> </a:t>
            </a:r>
            <a:r>
              <a:rPr dirty="0"/>
              <a:t>replicate</a:t>
            </a:r>
            <a:r>
              <a:rPr spc="-75" dirty="0"/>
              <a:t> </a:t>
            </a:r>
            <a:r>
              <a:rPr dirty="0"/>
              <a:t>as</a:t>
            </a:r>
            <a:r>
              <a:rPr spc="-60" dirty="0"/>
              <a:t> </a:t>
            </a:r>
            <a:r>
              <a:rPr dirty="0"/>
              <a:t>the</a:t>
            </a:r>
            <a:r>
              <a:rPr spc="-60" dirty="0"/>
              <a:t> </a:t>
            </a:r>
            <a:r>
              <a:rPr dirty="0"/>
              <a:t>virus</a:t>
            </a:r>
            <a:r>
              <a:rPr spc="-65" dirty="0"/>
              <a:t> </a:t>
            </a:r>
            <a:r>
              <a:rPr dirty="0"/>
              <a:t>or</a:t>
            </a:r>
            <a:r>
              <a:rPr spc="-50" dirty="0"/>
              <a:t> </a:t>
            </a:r>
            <a:r>
              <a:rPr dirty="0"/>
              <a:t>computer</a:t>
            </a:r>
            <a:r>
              <a:rPr spc="-50" dirty="0"/>
              <a:t> </a:t>
            </a:r>
            <a:r>
              <a:rPr dirty="0"/>
              <a:t>worms</a:t>
            </a:r>
            <a:r>
              <a:rPr spc="-40" dirty="0"/>
              <a:t> </a:t>
            </a:r>
            <a:r>
              <a:rPr spc="-25" dirty="0"/>
              <a:t>can 	do.</a:t>
            </a:r>
          </a:p>
        </p:txBody>
      </p:sp>
    </p:spTree>
    <p:extLst>
      <p:ext uri="{BB962C8B-B14F-4D97-AF65-F5344CB8AC3E}">
        <p14:creationId xmlns:p14="http://schemas.microsoft.com/office/powerpoint/2010/main" val="42836815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35127" rIns="0" bIns="0" rtlCol="0">
            <a:spAutoFit/>
          </a:bodyPr>
          <a:lstStyle/>
          <a:p>
            <a:pPr marL="12700">
              <a:lnSpc>
                <a:spcPct val="100000"/>
              </a:lnSpc>
              <a:spcBef>
                <a:spcPts val="105"/>
              </a:spcBef>
            </a:pPr>
            <a:r>
              <a:rPr dirty="0"/>
              <a:t>TROJAN</a:t>
            </a:r>
            <a:r>
              <a:rPr spc="-15" dirty="0"/>
              <a:t> </a:t>
            </a:r>
            <a:r>
              <a:rPr spc="-10" dirty="0"/>
              <a:t>HORSE</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3" name="object 3"/>
          <p:cNvSpPr txBox="1"/>
          <p:nvPr/>
        </p:nvSpPr>
        <p:spPr>
          <a:xfrm>
            <a:off x="916939" y="1804161"/>
            <a:ext cx="9045575" cy="3902710"/>
          </a:xfrm>
          <a:prstGeom prst="rect">
            <a:avLst/>
          </a:prstGeom>
        </p:spPr>
        <p:txBody>
          <a:bodyPr vert="horz" wrap="square" lIns="0" tIns="60960" rIns="0" bIns="0" rtlCol="0">
            <a:spAutoFit/>
          </a:bodyPr>
          <a:lstStyle/>
          <a:p>
            <a:pPr marL="12700" marR="5080">
              <a:lnSpc>
                <a:spcPts val="3020"/>
              </a:lnSpc>
              <a:spcBef>
                <a:spcPts val="480"/>
              </a:spcBef>
            </a:pPr>
            <a:r>
              <a:rPr sz="2800" dirty="0">
                <a:latin typeface="Times New Roman"/>
                <a:cs typeface="Times New Roman"/>
              </a:rPr>
              <a:t>Generally</a:t>
            </a:r>
            <a:r>
              <a:rPr sz="2800" spc="-60" dirty="0">
                <a:latin typeface="Times New Roman"/>
                <a:cs typeface="Times New Roman"/>
              </a:rPr>
              <a:t> </a:t>
            </a:r>
            <a:r>
              <a:rPr sz="2800" dirty="0">
                <a:latin typeface="Times New Roman"/>
                <a:cs typeface="Times New Roman"/>
              </a:rPr>
              <a:t>recognized</a:t>
            </a:r>
            <a:r>
              <a:rPr sz="2800" spc="-65" dirty="0">
                <a:latin typeface="Times New Roman"/>
                <a:cs typeface="Times New Roman"/>
              </a:rPr>
              <a:t> </a:t>
            </a:r>
            <a:r>
              <a:rPr sz="2800" dirty="0">
                <a:latin typeface="Times New Roman"/>
                <a:cs typeface="Times New Roman"/>
              </a:rPr>
              <a:t>activities</a:t>
            </a:r>
            <a:r>
              <a:rPr sz="2800" spc="-75" dirty="0">
                <a:latin typeface="Times New Roman"/>
                <a:cs typeface="Times New Roman"/>
              </a:rPr>
              <a:t> </a:t>
            </a:r>
            <a:r>
              <a:rPr sz="2800" dirty="0">
                <a:latin typeface="Times New Roman"/>
                <a:cs typeface="Times New Roman"/>
              </a:rPr>
              <a:t>of</a:t>
            </a:r>
            <a:r>
              <a:rPr sz="2800" spc="-50" dirty="0">
                <a:latin typeface="Times New Roman"/>
                <a:cs typeface="Times New Roman"/>
              </a:rPr>
              <a:t> </a:t>
            </a:r>
            <a:r>
              <a:rPr sz="2800" dirty="0">
                <a:latin typeface="Times New Roman"/>
                <a:cs typeface="Times New Roman"/>
              </a:rPr>
              <a:t>a</a:t>
            </a:r>
            <a:r>
              <a:rPr sz="2800" spc="-100" dirty="0">
                <a:latin typeface="Times New Roman"/>
                <a:cs typeface="Times New Roman"/>
              </a:rPr>
              <a:t> </a:t>
            </a:r>
            <a:r>
              <a:rPr sz="2800" dirty="0">
                <a:latin typeface="Times New Roman"/>
                <a:cs typeface="Times New Roman"/>
              </a:rPr>
              <a:t>Trojan</a:t>
            </a:r>
            <a:r>
              <a:rPr sz="2800" spc="-60" dirty="0">
                <a:latin typeface="Times New Roman"/>
                <a:cs typeface="Times New Roman"/>
              </a:rPr>
              <a:t> </a:t>
            </a:r>
            <a:r>
              <a:rPr sz="2800" dirty="0">
                <a:latin typeface="Times New Roman"/>
                <a:cs typeface="Times New Roman"/>
              </a:rPr>
              <a:t>horse</a:t>
            </a:r>
            <a:r>
              <a:rPr sz="2800" spc="-75" dirty="0">
                <a:latin typeface="Times New Roman"/>
                <a:cs typeface="Times New Roman"/>
              </a:rPr>
              <a:t> </a:t>
            </a:r>
            <a:r>
              <a:rPr sz="2800" dirty="0">
                <a:latin typeface="Times New Roman"/>
                <a:cs typeface="Times New Roman"/>
              </a:rPr>
              <a:t>on</a:t>
            </a:r>
            <a:r>
              <a:rPr sz="2800" spc="-50" dirty="0">
                <a:latin typeface="Times New Roman"/>
                <a:cs typeface="Times New Roman"/>
              </a:rPr>
              <a:t> </a:t>
            </a:r>
            <a:r>
              <a:rPr sz="2800" dirty="0">
                <a:latin typeface="Times New Roman"/>
                <a:cs typeface="Times New Roman"/>
              </a:rPr>
              <a:t>an</a:t>
            </a:r>
            <a:r>
              <a:rPr sz="2800" spc="-60" dirty="0">
                <a:latin typeface="Times New Roman"/>
                <a:cs typeface="Times New Roman"/>
              </a:rPr>
              <a:t> </a:t>
            </a:r>
            <a:r>
              <a:rPr sz="2800" spc="-10" dirty="0">
                <a:latin typeface="Times New Roman"/>
                <a:cs typeface="Times New Roman"/>
              </a:rPr>
              <a:t>infected </a:t>
            </a:r>
            <a:r>
              <a:rPr sz="2800" dirty="0">
                <a:latin typeface="Times New Roman"/>
                <a:cs typeface="Times New Roman"/>
              </a:rPr>
              <a:t>computer</a:t>
            </a:r>
            <a:r>
              <a:rPr sz="2800" spc="-20" dirty="0">
                <a:latin typeface="Times New Roman"/>
                <a:cs typeface="Times New Roman"/>
              </a:rPr>
              <a:t> </a:t>
            </a:r>
            <a:r>
              <a:rPr sz="2800" dirty="0">
                <a:latin typeface="Times New Roman"/>
                <a:cs typeface="Times New Roman"/>
              </a:rPr>
              <a:t>include</a:t>
            </a:r>
            <a:r>
              <a:rPr sz="2800" spc="-45" dirty="0">
                <a:latin typeface="Times New Roman"/>
                <a:cs typeface="Times New Roman"/>
              </a:rPr>
              <a:t> </a:t>
            </a:r>
            <a:r>
              <a:rPr sz="2800" dirty="0">
                <a:latin typeface="Times New Roman"/>
                <a:cs typeface="Times New Roman"/>
              </a:rPr>
              <a:t>the </a:t>
            </a:r>
            <a:r>
              <a:rPr sz="2800" spc="-10" dirty="0">
                <a:latin typeface="Times New Roman"/>
                <a:cs typeface="Times New Roman"/>
              </a:rPr>
              <a:t>following:</a:t>
            </a:r>
            <a:endParaRPr sz="2800">
              <a:latin typeface="Times New Roman"/>
              <a:cs typeface="Times New Roman"/>
            </a:endParaRPr>
          </a:p>
          <a:p>
            <a:pPr marL="240665" indent="-227965">
              <a:lnSpc>
                <a:spcPct val="100000"/>
              </a:lnSpc>
              <a:spcBef>
                <a:spcPts val="635"/>
              </a:spcBef>
              <a:buFont typeface="Arial MT"/>
              <a:buChar char="•"/>
              <a:tabLst>
                <a:tab pos="240665" algn="l"/>
              </a:tabLst>
            </a:pPr>
            <a:r>
              <a:rPr sz="2800" dirty="0">
                <a:latin typeface="Times New Roman"/>
                <a:cs typeface="Times New Roman"/>
              </a:rPr>
              <a:t>Collecting</a:t>
            </a:r>
            <a:r>
              <a:rPr sz="2800" spc="-55" dirty="0">
                <a:latin typeface="Times New Roman"/>
                <a:cs typeface="Times New Roman"/>
              </a:rPr>
              <a:t> </a:t>
            </a:r>
            <a:r>
              <a:rPr sz="2800" dirty="0">
                <a:latin typeface="Times New Roman"/>
                <a:cs typeface="Times New Roman"/>
              </a:rPr>
              <a:t>data</a:t>
            </a:r>
            <a:r>
              <a:rPr sz="2800" spc="-40" dirty="0">
                <a:latin typeface="Times New Roman"/>
                <a:cs typeface="Times New Roman"/>
              </a:rPr>
              <a:t> </a:t>
            </a:r>
            <a:r>
              <a:rPr sz="2800" dirty="0">
                <a:latin typeface="Times New Roman"/>
                <a:cs typeface="Times New Roman"/>
              </a:rPr>
              <a:t>and</a:t>
            </a:r>
            <a:r>
              <a:rPr sz="2800" spc="-30" dirty="0">
                <a:latin typeface="Times New Roman"/>
                <a:cs typeface="Times New Roman"/>
              </a:rPr>
              <a:t> </a:t>
            </a:r>
            <a:r>
              <a:rPr sz="2800" dirty="0">
                <a:latin typeface="Times New Roman"/>
                <a:cs typeface="Times New Roman"/>
              </a:rPr>
              <a:t>sending</a:t>
            </a:r>
            <a:r>
              <a:rPr sz="2800" spc="-60" dirty="0">
                <a:latin typeface="Times New Roman"/>
                <a:cs typeface="Times New Roman"/>
              </a:rPr>
              <a:t> </a:t>
            </a:r>
            <a:r>
              <a:rPr sz="2800" dirty="0">
                <a:latin typeface="Times New Roman"/>
                <a:cs typeface="Times New Roman"/>
              </a:rPr>
              <a:t>to</a:t>
            </a:r>
            <a:r>
              <a:rPr sz="2800" spc="-40" dirty="0">
                <a:latin typeface="Times New Roman"/>
                <a:cs typeface="Times New Roman"/>
              </a:rPr>
              <a:t> </a:t>
            </a:r>
            <a:r>
              <a:rPr sz="2800" dirty="0">
                <a:latin typeface="Times New Roman"/>
                <a:cs typeface="Times New Roman"/>
              </a:rPr>
              <a:t>command</a:t>
            </a:r>
            <a:r>
              <a:rPr sz="2800" spc="-25" dirty="0">
                <a:latin typeface="Times New Roman"/>
                <a:cs typeface="Times New Roman"/>
              </a:rPr>
              <a:t> </a:t>
            </a:r>
            <a:r>
              <a:rPr sz="2800" dirty="0">
                <a:latin typeface="Times New Roman"/>
                <a:cs typeface="Times New Roman"/>
              </a:rPr>
              <a:t>and</a:t>
            </a:r>
            <a:r>
              <a:rPr sz="2800" spc="-50" dirty="0">
                <a:latin typeface="Times New Roman"/>
                <a:cs typeface="Times New Roman"/>
              </a:rPr>
              <a:t> </a:t>
            </a:r>
            <a:r>
              <a:rPr sz="2800" dirty="0">
                <a:latin typeface="Times New Roman"/>
                <a:cs typeface="Times New Roman"/>
              </a:rPr>
              <a:t>control</a:t>
            </a:r>
            <a:r>
              <a:rPr sz="2800" spc="-30" dirty="0">
                <a:latin typeface="Times New Roman"/>
                <a:cs typeface="Times New Roman"/>
              </a:rPr>
              <a:t> </a:t>
            </a:r>
            <a:r>
              <a:rPr sz="2800" spc="-10" dirty="0">
                <a:latin typeface="Times New Roman"/>
                <a:cs typeface="Times New Roman"/>
              </a:rPr>
              <a:t>center</a:t>
            </a:r>
            <a:endParaRPr sz="2800">
              <a:latin typeface="Times New Roman"/>
              <a:cs typeface="Times New Roman"/>
            </a:endParaRPr>
          </a:p>
          <a:p>
            <a:pPr marL="240665" indent="-227965">
              <a:lnSpc>
                <a:spcPct val="100000"/>
              </a:lnSpc>
              <a:spcBef>
                <a:spcPts val="660"/>
              </a:spcBef>
              <a:buFont typeface="Arial MT"/>
              <a:buChar char="•"/>
              <a:tabLst>
                <a:tab pos="240665" algn="l"/>
              </a:tabLst>
            </a:pPr>
            <a:r>
              <a:rPr sz="2800" dirty="0">
                <a:latin typeface="Times New Roman"/>
                <a:cs typeface="Times New Roman"/>
              </a:rPr>
              <a:t>Copying</a:t>
            </a:r>
            <a:r>
              <a:rPr sz="2800" spc="-50" dirty="0">
                <a:latin typeface="Times New Roman"/>
                <a:cs typeface="Times New Roman"/>
              </a:rPr>
              <a:t> </a:t>
            </a:r>
            <a:r>
              <a:rPr sz="2800" dirty="0">
                <a:latin typeface="Times New Roman"/>
                <a:cs typeface="Times New Roman"/>
              </a:rPr>
              <a:t>the</a:t>
            </a:r>
            <a:r>
              <a:rPr sz="2800" spc="-35" dirty="0">
                <a:latin typeface="Times New Roman"/>
                <a:cs typeface="Times New Roman"/>
              </a:rPr>
              <a:t> </a:t>
            </a:r>
            <a:r>
              <a:rPr sz="2800" dirty="0">
                <a:latin typeface="Times New Roman"/>
                <a:cs typeface="Times New Roman"/>
              </a:rPr>
              <a:t>files</a:t>
            </a:r>
            <a:r>
              <a:rPr sz="2800" spc="-35" dirty="0">
                <a:latin typeface="Times New Roman"/>
                <a:cs typeface="Times New Roman"/>
              </a:rPr>
              <a:t> </a:t>
            </a:r>
            <a:r>
              <a:rPr sz="2800" dirty="0">
                <a:latin typeface="Times New Roman"/>
                <a:cs typeface="Times New Roman"/>
              </a:rPr>
              <a:t>and</a:t>
            </a:r>
            <a:r>
              <a:rPr sz="2800" spc="-35" dirty="0">
                <a:latin typeface="Times New Roman"/>
                <a:cs typeface="Times New Roman"/>
              </a:rPr>
              <a:t> </a:t>
            </a:r>
            <a:r>
              <a:rPr sz="2800" dirty="0">
                <a:latin typeface="Times New Roman"/>
                <a:cs typeface="Times New Roman"/>
              </a:rPr>
              <a:t>credential</a:t>
            </a:r>
            <a:r>
              <a:rPr sz="2800" spc="-25" dirty="0">
                <a:latin typeface="Times New Roman"/>
                <a:cs typeface="Times New Roman"/>
              </a:rPr>
              <a:t> </a:t>
            </a:r>
            <a:r>
              <a:rPr sz="2800" spc="-10" dirty="0">
                <a:latin typeface="Times New Roman"/>
                <a:cs typeface="Times New Roman"/>
              </a:rPr>
              <a:t>information</a:t>
            </a:r>
            <a:endParaRPr sz="2800">
              <a:latin typeface="Times New Roman"/>
              <a:cs typeface="Times New Roman"/>
            </a:endParaRPr>
          </a:p>
          <a:p>
            <a:pPr marL="240665" indent="-227965">
              <a:lnSpc>
                <a:spcPct val="100000"/>
              </a:lnSpc>
              <a:spcBef>
                <a:spcPts val="660"/>
              </a:spcBef>
              <a:buFont typeface="Arial MT"/>
              <a:buChar char="•"/>
              <a:tabLst>
                <a:tab pos="240665" algn="l"/>
              </a:tabLst>
            </a:pPr>
            <a:r>
              <a:rPr sz="2800" dirty="0">
                <a:latin typeface="Times New Roman"/>
                <a:cs typeface="Times New Roman"/>
              </a:rPr>
              <a:t>Blocking</a:t>
            </a:r>
            <a:r>
              <a:rPr sz="2800" spc="-30" dirty="0">
                <a:latin typeface="Times New Roman"/>
                <a:cs typeface="Times New Roman"/>
              </a:rPr>
              <a:t> </a:t>
            </a:r>
            <a:r>
              <a:rPr sz="2800" dirty="0">
                <a:latin typeface="Times New Roman"/>
                <a:cs typeface="Times New Roman"/>
              </a:rPr>
              <a:t>of</a:t>
            </a:r>
            <a:r>
              <a:rPr sz="2800" spc="5" dirty="0">
                <a:latin typeface="Times New Roman"/>
                <a:cs typeface="Times New Roman"/>
              </a:rPr>
              <a:t> </a:t>
            </a:r>
            <a:r>
              <a:rPr sz="2800" dirty="0">
                <a:latin typeface="Times New Roman"/>
                <a:cs typeface="Times New Roman"/>
              </a:rPr>
              <a:t>the</a:t>
            </a:r>
            <a:r>
              <a:rPr sz="2800" spc="-25" dirty="0">
                <a:latin typeface="Times New Roman"/>
                <a:cs typeface="Times New Roman"/>
              </a:rPr>
              <a:t> </a:t>
            </a:r>
            <a:r>
              <a:rPr sz="2800" spc="-20" dirty="0">
                <a:latin typeface="Times New Roman"/>
                <a:cs typeface="Times New Roman"/>
              </a:rPr>
              <a:t>data</a:t>
            </a:r>
            <a:endParaRPr sz="2800">
              <a:latin typeface="Times New Roman"/>
              <a:cs typeface="Times New Roman"/>
            </a:endParaRPr>
          </a:p>
          <a:p>
            <a:pPr marL="240665" indent="-227965">
              <a:lnSpc>
                <a:spcPct val="100000"/>
              </a:lnSpc>
              <a:spcBef>
                <a:spcPts val="675"/>
              </a:spcBef>
              <a:buFont typeface="Arial MT"/>
              <a:buChar char="•"/>
              <a:tabLst>
                <a:tab pos="240665" algn="l"/>
              </a:tabLst>
            </a:pPr>
            <a:r>
              <a:rPr sz="2800" dirty="0">
                <a:latin typeface="Times New Roman"/>
                <a:cs typeface="Times New Roman"/>
              </a:rPr>
              <a:t>Altering</a:t>
            </a:r>
            <a:r>
              <a:rPr sz="2800" spc="-60" dirty="0">
                <a:latin typeface="Times New Roman"/>
                <a:cs typeface="Times New Roman"/>
              </a:rPr>
              <a:t> </a:t>
            </a:r>
            <a:r>
              <a:rPr sz="2800" dirty="0">
                <a:latin typeface="Times New Roman"/>
                <a:cs typeface="Times New Roman"/>
              </a:rPr>
              <a:t>the</a:t>
            </a:r>
            <a:r>
              <a:rPr sz="2800" spc="-60" dirty="0">
                <a:latin typeface="Times New Roman"/>
                <a:cs typeface="Times New Roman"/>
              </a:rPr>
              <a:t> </a:t>
            </a:r>
            <a:r>
              <a:rPr sz="2800" dirty="0">
                <a:latin typeface="Times New Roman"/>
                <a:cs typeface="Times New Roman"/>
              </a:rPr>
              <a:t>useful</a:t>
            </a:r>
            <a:r>
              <a:rPr sz="2800" spc="-50" dirty="0">
                <a:latin typeface="Times New Roman"/>
                <a:cs typeface="Times New Roman"/>
              </a:rPr>
              <a:t> </a:t>
            </a:r>
            <a:r>
              <a:rPr sz="2800" spc="-20" dirty="0">
                <a:latin typeface="Times New Roman"/>
                <a:cs typeface="Times New Roman"/>
              </a:rPr>
              <a:t>data</a:t>
            </a:r>
            <a:endParaRPr sz="2800">
              <a:latin typeface="Times New Roman"/>
              <a:cs typeface="Times New Roman"/>
            </a:endParaRPr>
          </a:p>
          <a:p>
            <a:pPr marL="240665" indent="-227965">
              <a:lnSpc>
                <a:spcPct val="100000"/>
              </a:lnSpc>
              <a:spcBef>
                <a:spcPts val="660"/>
              </a:spcBef>
              <a:buFont typeface="Arial MT"/>
              <a:buChar char="•"/>
              <a:tabLst>
                <a:tab pos="240665" algn="l"/>
              </a:tabLst>
            </a:pPr>
            <a:r>
              <a:rPr sz="2800" dirty="0">
                <a:latin typeface="Times New Roman"/>
                <a:cs typeface="Times New Roman"/>
              </a:rPr>
              <a:t>Reducing</a:t>
            </a:r>
            <a:r>
              <a:rPr sz="2800" spc="-45" dirty="0">
                <a:latin typeface="Times New Roman"/>
                <a:cs typeface="Times New Roman"/>
              </a:rPr>
              <a:t> </a:t>
            </a:r>
            <a:r>
              <a:rPr sz="2800" dirty="0">
                <a:latin typeface="Times New Roman"/>
                <a:cs typeface="Times New Roman"/>
              </a:rPr>
              <a:t>the</a:t>
            </a:r>
            <a:r>
              <a:rPr sz="2800" spc="-50" dirty="0">
                <a:latin typeface="Times New Roman"/>
                <a:cs typeface="Times New Roman"/>
              </a:rPr>
              <a:t> </a:t>
            </a:r>
            <a:r>
              <a:rPr sz="2800" dirty="0">
                <a:latin typeface="Times New Roman"/>
                <a:cs typeface="Times New Roman"/>
              </a:rPr>
              <a:t>performance</a:t>
            </a:r>
            <a:r>
              <a:rPr sz="2800" spc="-45" dirty="0">
                <a:latin typeface="Times New Roman"/>
                <a:cs typeface="Times New Roman"/>
              </a:rPr>
              <a:t> </a:t>
            </a:r>
            <a:r>
              <a:rPr sz="2800" dirty="0">
                <a:latin typeface="Times New Roman"/>
                <a:cs typeface="Times New Roman"/>
              </a:rPr>
              <a:t>of</a:t>
            </a:r>
            <a:r>
              <a:rPr sz="2800" spc="-20" dirty="0">
                <a:latin typeface="Times New Roman"/>
                <a:cs typeface="Times New Roman"/>
              </a:rPr>
              <a:t> </a:t>
            </a:r>
            <a:r>
              <a:rPr sz="2800" spc="-10" dirty="0">
                <a:latin typeface="Times New Roman"/>
                <a:cs typeface="Times New Roman"/>
              </a:rPr>
              <a:t>computer</a:t>
            </a:r>
            <a:endParaRPr sz="2800">
              <a:latin typeface="Times New Roman"/>
              <a:cs typeface="Times New Roman"/>
            </a:endParaRPr>
          </a:p>
          <a:p>
            <a:pPr marL="240665" indent="-227965">
              <a:lnSpc>
                <a:spcPct val="100000"/>
              </a:lnSpc>
              <a:spcBef>
                <a:spcPts val="660"/>
              </a:spcBef>
              <a:buFont typeface="Arial MT"/>
              <a:buChar char="•"/>
              <a:tabLst>
                <a:tab pos="240665" algn="l"/>
              </a:tabLst>
            </a:pPr>
            <a:r>
              <a:rPr sz="2800" dirty="0">
                <a:latin typeface="Times New Roman"/>
                <a:cs typeface="Times New Roman"/>
              </a:rPr>
              <a:t>Deleting</a:t>
            </a:r>
            <a:r>
              <a:rPr sz="2800" spc="-45" dirty="0">
                <a:latin typeface="Times New Roman"/>
                <a:cs typeface="Times New Roman"/>
              </a:rPr>
              <a:t> </a:t>
            </a:r>
            <a:r>
              <a:rPr sz="2800" dirty="0">
                <a:latin typeface="Times New Roman"/>
                <a:cs typeface="Times New Roman"/>
              </a:rPr>
              <a:t>some</a:t>
            </a:r>
            <a:r>
              <a:rPr sz="2800" spc="-40" dirty="0">
                <a:latin typeface="Times New Roman"/>
                <a:cs typeface="Times New Roman"/>
              </a:rPr>
              <a:t> </a:t>
            </a:r>
            <a:r>
              <a:rPr sz="2800" dirty="0">
                <a:latin typeface="Times New Roman"/>
                <a:cs typeface="Times New Roman"/>
              </a:rPr>
              <a:t>useful</a:t>
            </a:r>
            <a:r>
              <a:rPr sz="2800" spc="-35" dirty="0">
                <a:latin typeface="Times New Roman"/>
                <a:cs typeface="Times New Roman"/>
              </a:rPr>
              <a:t> </a:t>
            </a:r>
            <a:r>
              <a:rPr sz="2800" dirty="0">
                <a:latin typeface="Times New Roman"/>
                <a:cs typeface="Times New Roman"/>
              </a:rPr>
              <a:t>data</a:t>
            </a:r>
            <a:r>
              <a:rPr sz="2800" spc="-55" dirty="0">
                <a:latin typeface="Times New Roman"/>
                <a:cs typeface="Times New Roman"/>
              </a:rPr>
              <a:t> </a:t>
            </a:r>
            <a:r>
              <a:rPr sz="2800" spc="-10" dirty="0">
                <a:latin typeface="Times New Roman"/>
                <a:cs typeface="Times New Roman"/>
              </a:rPr>
              <a:t>files</a:t>
            </a:r>
            <a:endParaRPr sz="2800">
              <a:latin typeface="Times New Roman"/>
              <a:cs typeface="Times New Roman"/>
            </a:endParaRPr>
          </a:p>
        </p:txBody>
      </p:sp>
    </p:spTree>
    <p:extLst>
      <p:ext uri="{BB962C8B-B14F-4D97-AF65-F5344CB8AC3E}">
        <p14:creationId xmlns:p14="http://schemas.microsoft.com/office/powerpoint/2010/main" val="12123877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296621"/>
            <a:ext cx="4018915" cy="635000"/>
          </a:xfrm>
          <a:prstGeom prst="rect">
            <a:avLst/>
          </a:prstGeom>
        </p:spPr>
        <p:txBody>
          <a:bodyPr vert="horz" wrap="square" lIns="0" tIns="12065" rIns="0" bIns="0" rtlCol="0">
            <a:spAutoFit/>
          </a:bodyPr>
          <a:lstStyle/>
          <a:p>
            <a:pPr marL="12700">
              <a:lnSpc>
                <a:spcPct val="100000"/>
              </a:lnSpc>
              <a:spcBef>
                <a:spcPts val="95"/>
              </a:spcBef>
            </a:pPr>
            <a:r>
              <a:rPr sz="4000" dirty="0"/>
              <a:t>TROJAN</a:t>
            </a:r>
            <a:r>
              <a:rPr sz="4000" spc="5" dirty="0"/>
              <a:t> </a:t>
            </a:r>
            <a:r>
              <a:rPr sz="4000" spc="-10" dirty="0"/>
              <a:t>HORSE</a:t>
            </a:r>
            <a:endParaRPr sz="400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3" name="object 3"/>
          <p:cNvSpPr txBox="1"/>
          <p:nvPr/>
        </p:nvSpPr>
        <p:spPr>
          <a:xfrm>
            <a:off x="916939" y="1105662"/>
            <a:ext cx="10187940" cy="5147945"/>
          </a:xfrm>
          <a:prstGeom prst="rect">
            <a:avLst/>
          </a:prstGeom>
        </p:spPr>
        <p:txBody>
          <a:bodyPr vert="horz" wrap="square" lIns="0" tIns="132080" rIns="0" bIns="0" rtlCol="0">
            <a:spAutoFit/>
          </a:bodyPr>
          <a:lstStyle/>
          <a:p>
            <a:pPr marL="12700" marR="5080">
              <a:lnSpc>
                <a:spcPct val="70000"/>
              </a:lnSpc>
              <a:spcBef>
                <a:spcPts val="1040"/>
              </a:spcBef>
            </a:pPr>
            <a:r>
              <a:rPr sz="2600" dirty="0">
                <a:latin typeface="Times New Roman"/>
                <a:cs typeface="Times New Roman"/>
              </a:rPr>
              <a:t>There</a:t>
            </a:r>
            <a:r>
              <a:rPr sz="2600" spc="-60" dirty="0">
                <a:latin typeface="Times New Roman"/>
                <a:cs typeface="Times New Roman"/>
              </a:rPr>
              <a:t> </a:t>
            </a:r>
            <a:r>
              <a:rPr sz="2600" dirty="0">
                <a:latin typeface="Times New Roman"/>
                <a:cs typeface="Times New Roman"/>
              </a:rPr>
              <a:t>are</a:t>
            </a:r>
            <a:r>
              <a:rPr sz="2600" spc="-20" dirty="0">
                <a:latin typeface="Times New Roman"/>
                <a:cs typeface="Times New Roman"/>
              </a:rPr>
              <a:t> </a:t>
            </a:r>
            <a:r>
              <a:rPr sz="2600" dirty="0">
                <a:latin typeface="Times New Roman"/>
                <a:cs typeface="Times New Roman"/>
              </a:rPr>
              <a:t>numerous</a:t>
            </a:r>
            <a:r>
              <a:rPr sz="2600" spc="-45" dirty="0">
                <a:latin typeface="Times New Roman"/>
                <a:cs typeface="Times New Roman"/>
              </a:rPr>
              <a:t> </a:t>
            </a:r>
            <a:r>
              <a:rPr sz="2600" dirty="0">
                <a:latin typeface="Times New Roman"/>
                <a:cs typeface="Times New Roman"/>
              </a:rPr>
              <a:t>types</a:t>
            </a:r>
            <a:r>
              <a:rPr sz="2600" spc="-15" dirty="0">
                <a:latin typeface="Times New Roman"/>
                <a:cs typeface="Times New Roman"/>
              </a:rPr>
              <a:t> </a:t>
            </a:r>
            <a:r>
              <a:rPr sz="2600" dirty="0">
                <a:latin typeface="Times New Roman"/>
                <a:cs typeface="Times New Roman"/>
              </a:rPr>
              <a:t>of</a:t>
            </a:r>
            <a:r>
              <a:rPr sz="2600" spc="-75" dirty="0">
                <a:latin typeface="Times New Roman"/>
                <a:cs typeface="Times New Roman"/>
              </a:rPr>
              <a:t> </a:t>
            </a:r>
            <a:r>
              <a:rPr sz="2600" dirty="0">
                <a:latin typeface="Times New Roman"/>
                <a:cs typeface="Times New Roman"/>
              </a:rPr>
              <a:t>Trojan</a:t>
            </a:r>
            <a:r>
              <a:rPr sz="2600" spc="-25" dirty="0">
                <a:latin typeface="Times New Roman"/>
                <a:cs typeface="Times New Roman"/>
              </a:rPr>
              <a:t> </a:t>
            </a:r>
            <a:r>
              <a:rPr sz="2600" dirty="0">
                <a:latin typeface="Times New Roman"/>
                <a:cs typeface="Times New Roman"/>
              </a:rPr>
              <a:t>horses</a:t>
            </a:r>
            <a:r>
              <a:rPr sz="2600" spc="-30" dirty="0">
                <a:latin typeface="Times New Roman"/>
                <a:cs typeface="Times New Roman"/>
              </a:rPr>
              <a:t> </a:t>
            </a:r>
            <a:r>
              <a:rPr sz="2600" dirty="0">
                <a:latin typeface="Times New Roman"/>
                <a:cs typeface="Times New Roman"/>
              </a:rPr>
              <a:t>used</a:t>
            </a:r>
            <a:r>
              <a:rPr sz="2600" spc="-25" dirty="0">
                <a:latin typeface="Times New Roman"/>
                <a:cs typeface="Times New Roman"/>
              </a:rPr>
              <a:t> </a:t>
            </a:r>
            <a:r>
              <a:rPr sz="2600" dirty="0">
                <a:latin typeface="Times New Roman"/>
                <a:cs typeface="Times New Roman"/>
              </a:rPr>
              <a:t>in</a:t>
            </a:r>
            <a:r>
              <a:rPr sz="2600" spc="-10" dirty="0">
                <a:latin typeface="Times New Roman"/>
                <a:cs typeface="Times New Roman"/>
              </a:rPr>
              <a:t> </a:t>
            </a:r>
            <a:r>
              <a:rPr sz="2600" dirty="0">
                <a:latin typeface="Times New Roman"/>
                <a:cs typeface="Times New Roman"/>
              </a:rPr>
              <a:t>the</a:t>
            </a:r>
            <a:r>
              <a:rPr sz="2600" spc="-10" dirty="0">
                <a:latin typeface="Times New Roman"/>
                <a:cs typeface="Times New Roman"/>
              </a:rPr>
              <a:t> </a:t>
            </a:r>
            <a:r>
              <a:rPr sz="2600" dirty="0">
                <a:latin typeface="Times New Roman"/>
                <a:cs typeface="Times New Roman"/>
              </a:rPr>
              <a:t>modern</a:t>
            </a:r>
            <a:r>
              <a:rPr sz="2600" spc="-20" dirty="0">
                <a:latin typeface="Times New Roman"/>
                <a:cs typeface="Times New Roman"/>
              </a:rPr>
              <a:t> </a:t>
            </a:r>
            <a:r>
              <a:rPr sz="2600" spc="-10" dirty="0">
                <a:latin typeface="Times New Roman"/>
                <a:cs typeface="Times New Roman"/>
              </a:rPr>
              <a:t>cybercriminal activities.</a:t>
            </a:r>
            <a:r>
              <a:rPr sz="2600" spc="-130" dirty="0">
                <a:latin typeface="Times New Roman"/>
                <a:cs typeface="Times New Roman"/>
              </a:rPr>
              <a:t> </a:t>
            </a:r>
            <a:r>
              <a:rPr sz="2600" dirty="0">
                <a:latin typeface="Times New Roman"/>
                <a:cs typeface="Times New Roman"/>
              </a:rPr>
              <a:t>A</a:t>
            </a:r>
            <a:r>
              <a:rPr sz="2600" spc="-160" dirty="0">
                <a:latin typeface="Times New Roman"/>
                <a:cs typeface="Times New Roman"/>
              </a:rPr>
              <a:t> </a:t>
            </a:r>
            <a:r>
              <a:rPr sz="2600" dirty="0">
                <a:latin typeface="Times New Roman"/>
                <a:cs typeface="Times New Roman"/>
              </a:rPr>
              <a:t>few</a:t>
            </a:r>
            <a:r>
              <a:rPr sz="2600" spc="-15" dirty="0">
                <a:latin typeface="Times New Roman"/>
                <a:cs typeface="Times New Roman"/>
              </a:rPr>
              <a:t> </a:t>
            </a:r>
            <a:r>
              <a:rPr sz="2600" dirty="0">
                <a:latin typeface="Times New Roman"/>
                <a:cs typeface="Times New Roman"/>
              </a:rPr>
              <a:t>very</a:t>
            </a:r>
            <a:r>
              <a:rPr sz="2600" spc="-10" dirty="0">
                <a:latin typeface="Times New Roman"/>
                <a:cs typeface="Times New Roman"/>
              </a:rPr>
              <a:t> </a:t>
            </a:r>
            <a:r>
              <a:rPr sz="2600" dirty="0">
                <a:latin typeface="Times New Roman"/>
                <a:cs typeface="Times New Roman"/>
              </a:rPr>
              <a:t>important ones</a:t>
            </a:r>
            <a:r>
              <a:rPr sz="2600" spc="-20" dirty="0">
                <a:latin typeface="Times New Roman"/>
                <a:cs typeface="Times New Roman"/>
              </a:rPr>
              <a:t> </a:t>
            </a:r>
            <a:r>
              <a:rPr sz="2600" dirty="0">
                <a:latin typeface="Times New Roman"/>
                <a:cs typeface="Times New Roman"/>
              </a:rPr>
              <a:t>are</a:t>
            </a:r>
            <a:r>
              <a:rPr sz="2600" spc="-25" dirty="0">
                <a:latin typeface="Times New Roman"/>
                <a:cs typeface="Times New Roman"/>
              </a:rPr>
              <a:t> </a:t>
            </a:r>
            <a:r>
              <a:rPr sz="2600" dirty="0">
                <a:latin typeface="Times New Roman"/>
                <a:cs typeface="Times New Roman"/>
              </a:rPr>
              <a:t>mentioned</a:t>
            </a:r>
            <a:r>
              <a:rPr sz="2600" spc="-15" dirty="0">
                <a:latin typeface="Times New Roman"/>
                <a:cs typeface="Times New Roman"/>
              </a:rPr>
              <a:t> </a:t>
            </a:r>
            <a:r>
              <a:rPr sz="2600" spc="-10" dirty="0">
                <a:latin typeface="Times New Roman"/>
                <a:cs typeface="Times New Roman"/>
              </a:rPr>
              <a:t>below:</a:t>
            </a:r>
            <a:endParaRPr sz="2600">
              <a:latin typeface="Times New Roman"/>
              <a:cs typeface="Times New Roman"/>
            </a:endParaRPr>
          </a:p>
          <a:p>
            <a:pPr marL="241300" indent="-228600">
              <a:lnSpc>
                <a:spcPct val="100000"/>
              </a:lnSpc>
              <a:spcBef>
                <a:spcPts val="60"/>
              </a:spcBef>
              <a:buFont typeface="Arial MT"/>
              <a:buChar char="•"/>
              <a:tabLst>
                <a:tab pos="241300" algn="l"/>
              </a:tabLst>
            </a:pPr>
            <a:r>
              <a:rPr sz="2600" dirty="0">
                <a:latin typeface="Times New Roman"/>
                <a:cs typeface="Times New Roman"/>
              </a:rPr>
              <a:t>Trojan</a:t>
            </a:r>
            <a:r>
              <a:rPr sz="2600" spc="-120" dirty="0">
                <a:latin typeface="Times New Roman"/>
                <a:cs typeface="Times New Roman"/>
              </a:rPr>
              <a:t> </a:t>
            </a:r>
            <a:r>
              <a:rPr sz="2600" spc="-25" dirty="0">
                <a:latin typeface="Times New Roman"/>
                <a:cs typeface="Times New Roman"/>
              </a:rPr>
              <a:t>Spy</a:t>
            </a:r>
            <a:endParaRPr sz="2600">
              <a:latin typeface="Times New Roman"/>
              <a:cs typeface="Times New Roman"/>
            </a:endParaRPr>
          </a:p>
          <a:p>
            <a:pPr marL="241300" indent="-228600">
              <a:lnSpc>
                <a:spcPct val="100000"/>
              </a:lnSpc>
              <a:spcBef>
                <a:spcPts val="60"/>
              </a:spcBef>
              <a:buFont typeface="Arial MT"/>
              <a:buChar char="•"/>
              <a:tabLst>
                <a:tab pos="241300" algn="l"/>
              </a:tabLst>
            </a:pPr>
            <a:r>
              <a:rPr sz="2600" dirty="0">
                <a:latin typeface="Times New Roman"/>
                <a:cs typeface="Times New Roman"/>
              </a:rPr>
              <a:t>Trojan</a:t>
            </a:r>
            <a:r>
              <a:rPr sz="2600" spc="-65" dirty="0">
                <a:latin typeface="Times New Roman"/>
                <a:cs typeface="Times New Roman"/>
              </a:rPr>
              <a:t> </a:t>
            </a:r>
            <a:r>
              <a:rPr sz="2600" dirty="0">
                <a:latin typeface="Times New Roman"/>
                <a:cs typeface="Times New Roman"/>
              </a:rPr>
              <a:t>Mail</a:t>
            </a:r>
            <a:r>
              <a:rPr sz="2600" spc="-55" dirty="0">
                <a:latin typeface="Times New Roman"/>
                <a:cs typeface="Times New Roman"/>
              </a:rPr>
              <a:t> </a:t>
            </a:r>
            <a:r>
              <a:rPr sz="2600" spc="-10" dirty="0">
                <a:latin typeface="Times New Roman"/>
                <a:cs typeface="Times New Roman"/>
              </a:rPr>
              <a:t>Finder</a:t>
            </a:r>
            <a:endParaRPr sz="2600">
              <a:latin typeface="Times New Roman"/>
              <a:cs typeface="Times New Roman"/>
            </a:endParaRPr>
          </a:p>
          <a:p>
            <a:pPr marL="241300" indent="-228600">
              <a:lnSpc>
                <a:spcPct val="100000"/>
              </a:lnSpc>
              <a:spcBef>
                <a:spcPts val="75"/>
              </a:spcBef>
              <a:buFont typeface="Arial MT"/>
              <a:buChar char="•"/>
              <a:tabLst>
                <a:tab pos="241300" algn="l"/>
              </a:tabLst>
            </a:pPr>
            <a:r>
              <a:rPr sz="2600" dirty="0">
                <a:latin typeface="Times New Roman"/>
                <a:cs typeface="Times New Roman"/>
              </a:rPr>
              <a:t>Trojan</a:t>
            </a:r>
            <a:r>
              <a:rPr sz="2600" spc="-120" dirty="0">
                <a:latin typeface="Times New Roman"/>
                <a:cs typeface="Times New Roman"/>
              </a:rPr>
              <a:t> </a:t>
            </a:r>
            <a:r>
              <a:rPr sz="2600" spc="-10" dirty="0">
                <a:latin typeface="Times New Roman"/>
                <a:cs typeface="Times New Roman"/>
              </a:rPr>
              <a:t>Proxy</a:t>
            </a:r>
            <a:endParaRPr sz="2600">
              <a:latin typeface="Times New Roman"/>
              <a:cs typeface="Times New Roman"/>
            </a:endParaRPr>
          </a:p>
          <a:p>
            <a:pPr marL="241300" indent="-228600">
              <a:lnSpc>
                <a:spcPct val="100000"/>
              </a:lnSpc>
              <a:spcBef>
                <a:spcPts val="55"/>
              </a:spcBef>
              <a:buFont typeface="Arial MT"/>
              <a:buChar char="•"/>
              <a:tabLst>
                <a:tab pos="241300" algn="l"/>
              </a:tabLst>
            </a:pPr>
            <a:r>
              <a:rPr sz="2600" dirty="0">
                <a:latin typeface="Times New Roman"/>
                <a:cs typeface="Times New Roman"/>
              </a:rPr>
              <a:t>Trojan</a:t>
            </a:r>
            <a:r>
              <a:rPr sz="2600" spc="-110" dirty="0">
                <a:latin typeface="Times New Roman"/>
                <a:cs typeface="Times New Roman"/>
              </a:rPr>
              <a:t> </a:t>
            </a:r>
            <a:r>
              <a:rPr sz="2600" spc="-10" dirty="0">
                <a:latin typeface="Times New Roman"/>
                <a:cs typeface="Times New Roman"/>
              </a:rPr>
              <a:t>Clicker</a:t>
            </a:r>
            <a:endParaRPr sz="2600">
              <a:latin typeface="Times New Roman"/>
              <a:cs typeface="Times New Roman"/>
            </a:endParaRPr>
          </a:p>
          <a:p>
            <a:pPr marL="241300" indent="-228600">
              <a:lnSpc>
                <a:spcPct val="100000"/>
              </a:lnSpc>
              <a:spcBef>
                <a:spcPts val="60"/>
              </a:spcBef>
              <a:buFont typeface="Arial MT"/>
              <a:buChar char="•"/>
              <a:tabLst>
                <a:tab pos="241300" algn="l"/>
              </a:tabLst>
            </a:pPr>
            <a:r>
              <a:rPr sz="2600" dirty="0">
                <a:latin typeface="Times New Roman"/>
                <a:cs typeface="Times New Roman"/>
              </a:rPr>
              <a:t>Trojan</a:t>
            </a:r>
            <a:r>
              <a:rPr sz="2600" spc="-120" dirty="0">
                <a:latin typeface="Times New Roman"/>
                <a:cs typeface="Times New Roman"/>
              </a:rPr>
              <a:t> </a:t>
            </a:r>
            <a:r>
              <a:rPr sz="2600" spc="-10" dirty="0">
                <a:latin typeface="Times New Roman"/>
                <a:cs typeface="Times New Roman"/>
              </a:rPr>
              <a:t>Ransom</a:t>
            </a:r>
            <a:endParaRPr sz="2600">
              <a:latin typeface="Times New Roman"/>
              <a:cs typeface="Times New Roman"/>
            </a:endParaRPr>
          </a:p>
          <a:p>
            <a:pPr marL="241300" indent="-228600">
              <a:lnSpc>
                <a:spcPct val="100000"/>
              </a:lnSpc>
              <a:spcBef>
                <a:spcPts val="75"/>
              </a:spcBef>
              <a:buFont typeface="Arial MT"/>
              <a:buChar char="•"/>
              <a:tabLst>
                <a:tab pos="241300" algn="l"/>
              </a:tabLst>
            </a:pPr>
            <a:r>
              <a:rPr sz="2600" dirty="0">
                <a:latin typeface="Times New Roman"/>
                <a:cs typeface="Times New Roman"/>
              </a:rPr>
              <a:t>Trojan</a:t>
            </a:r>
            <a:r>
              <a:rPr sz="2600" spc="-120" dirty="0">
                <a:latin typeface="Times New Roman"/>
                <a:cs typeface="Times New Roman"/>
              </a:rPr>
              <a:t> </a:t>
            </a:r>
            <a:r>
              <a:rPr sz="2600" spc="-25" dirty="0">
                <a:latin typeface="Times New Roman"/>
                <a:cs typeface="Times New Roman"/>
              </a:rPr>
              <a:t>SMS</a:t>
            </a:r>
            <a:endParaRPr sz="2600">
              <a:latin typeface="Times New Roman"/>
              <a:cs typeface="Times New Roman"/>
            </a:endParaRPr>
          </a:p>
          <a:p>
            <a:pPr marL="241300" indent="-228600">
              <a:lnSpc>
                <a:spcPct val="100000"/>
              </a:lnSpc>
              <a:spcBef>
                <a:spcPts val="60"/>
              </a:spcBef>
              <a:buFont typeface="Arial MT"/>
              <a:buChar char="•"/>
              <a:tabLst>
                <a:tab pos="241300" algn="l"/>
              </a:tabLst>
            </a:pPr>
            <a:r>
              <a:rPr sz="2600" dirty="0">
                <a:latin typeface="Times New Roman"/>
                <a:cs typeface="Times New Roman"/>
              </a:rPr>
              <a:t>Trojan</a:t>
            </a:r>
            <a:r>
              <a:rPr sz="2600" spc="-110" dirty="0">
                <a:latin typeface="Times New Roman"/>
                <a:cs typeface="Times New Roman"/>
              </a:rPr>
              <a:t> </a:t>
            </a:r>
            <a:r>
              <a:rPr sz="2600" spc="-10" dirty="0">
                <a:latin typeface="Times New Roman"/>
                <a:cs typeface="Times New Roman"/>
              </a:rPr>
              <a:t>Dropper</a:t>
            </a:r>
            <a:endParaRPr sz="2600">
              <a:latin typeface="Times New Roman"/>
              <a:cs typeface="Times New Roman"/>
            </a:endParaRPr>
          </a:p>
          <a:p>
            <a:pPr marL="241300" indent="-228600">
              <a:lnSpc>
                <a:spcPct val="100000"/>
              </a:lnSpc>
              <a:spcBef>
                <a:spcPts val="60"/>
              </a:spcBef>
              <a:buFont typeface="Arial MT"/>
              <a:buChar char="•"/>
              <a:tabLst>
                <a:tab pos="241300" algn="l"/>
              </a:tabLst>
            </a:pPr>
            <a:r>
              <a:rPr sz="2600" dirty="0">
                <a:latin typeface="Times New Roman"/>
                <a:cs typeface="Times New Roman"/>
              </a:rPr>
              <a:t>Trojan</a:t>
            </a:r>
            <a:r>
              <a:rPr sz="2600" spc="-120" dirty="0">
                <a:latin typeface="Times New Roman"/>
                <a:cs typeface="Times New Roman"/>
              </a:rPr>
              <a:t> </a:t>
            </a:r>
            <a:r>
              <a:rPr sz="2600" dirty="0">
                <a:latin typeface="Times New Roman"/>
                <a:cs typeface="Times New Roman"/>
              </a:rPr>
              <a:t>Fake</a:t>
            </a:r>
            <a:r>
              <a:rPr sz="2600" spc="-160" dirty="0">
                <a:latin typeface="Times New Roman"/>
                <a:cs typeface="Times New Roman"/>
              </a:rPr>
              <a:t> </a:t>
            </a:r>
            <a:r>
              <a:rPr sz="2600" spc="-25" dirty="0">
                <a:latin typeface="Times New Roman"/>
                <a:cs typeface="Times New Roman"/>
              </a:rPr>
              <a:t>AV</a:t>
            </a:r>
            <a:endParaRPr sz="2600">
              <a:latin typeface="Times New Roman"/>
              <a:cs typeface="Times New Roman"/>
            </a:endParaRPr>
          </a:p>
          <a:p>
            <a:pPr marL="241300" indent="-228600">
              <a:lnSpc>
                <a:spcPct val="100000"/>
              </a:lnSpc>
              <a:spcBef>
                <a:spcPts val="75"/>
              </a:spcBef>
              <a:buFont typeface="Arial MT"/>
              <a:buChar char="•"/>
              <a:tabLst>
                <a:tab pos="241300" algn="l"/>
              </a:tabLst>
            </a:pPr>
            <a:r>
              <a:rPr sz="2600" dirty="0">
                <a:latin typeface="Times New Roman"/>
                <a:cs typeface="Times New Roman"/>
              </a:rPr>
              <a:t>Trojan</a:t>
            </a:r>
            <a:r>
              <a:rPr sz="2600" spc="-80" dirty="0">
                <a:latin typeface="Times New Roman"/>
                <a:cs typeface="Times New Roman"/>
              </a:rPr>
              <a:t> </a:t>
            </a:r>
            <a:r>
              <a:rPr sz="2600" dirty="0">
                <a:latin typeface="Times New Roman"/>
                <a:cs typeface="Times New Roman"/>
              </a:rPr>
              <a:t>Game</a:t>
            </a:r>
            <a:r>
              <a:rPr sz="2600" spc="-120" dirty="0">
                <a:latin typeface="Times New Roman"/>
                <a:cs typeface="Times New Roman"/>
              </a:rPr>
              <a:t> </a:t>
            </a:r>
            <a:r>
              <a:rPr sz="2600" spc="-20" dirty="0">
                <a:latin typeface="Times New Roman"/>
                <a:cs typeface="Times New Roman"/>
              </a:rPr>
              <a:t>Theft</a:t>
            </a:r>
            <a:endParaRPr sz="2600">
              <a:latin typeface="Times New Roman"/>
              <a:cs typeface="Times New Roman"/>
            </a:endParaRPr>
          </a:p>
          <a:p>
            <a:pPr marL="241300" indent="-228600">
              <a:lnSpc>
                <a:spcPct val="100000"/>
              </a:lnSpc>
              <a:spcBef>
                <a:spcPts val="60"/>
              </a:spcBef>
              <a:buFont typeface="Arial MT"/>
              <a:buChar char="•"/>
              <a:tabLst>
                <a:tab pos="241300" algn="l"/>
              </a:tabLst>
            </a:pPr>
            <a:r>
              <a:rPr sz="2600" dirty="0">
                <a:latin typeface="Times New Roman"/>
                <a:cs typeface="Times New Roman"/>
              </a:rPr>
              <a:t>Trojan</a:t>
            </a:r>
            <a:r>
              <a:rPr sz="2600" spc="-110" dirty="0">
                <a:latin typeface="Times New Roman"/>
                <a:cs typeface="Times New Roman"/>
              </a:rPr>
              <a:t> </a:t>
            </a:r>
            <a:r>
              <a:rPr sz="2600" spc="-10" dirty="0">
                <a:latin typeface="Times New Roman"/>
                <a:cs typeface="Times New Roman"/>
              </a:rPr>
              <a:t>Backdoor</a:t>
            </a:r>
            <a:endParaRPr sz="2600">
              <a:latin typeface="Times New Roman"/>
              <a:cs typeface="Times New Roman"/>
            </a:endParaRPr>
          </a:p>
          <a:p>
            <a:pPr marL="241300" indent="-228600">
              <a:lnSpc>
                <a:spcPct val="100000"/>
              </a:lnSpc>
              <a:spcBef>
                <a:spcPts val="60"/>
              </a:spcBef>
              <a:buFont typeface="Arial MT"/>
              <a:buChar char="•"/>
              <a:tabLst>
                <a:tab pos="241300" algn="l"/>
              </a:tabLst>
            </a:pPr>
            <a:r>
              <a:rPr sz="2600" dirty="0">
                <a:latin typeface="Times New Roman"/>
                <a:cs typeface="Times New Roman"/>
              </a:rPr>
              <a:t>Trojan</a:t>
            </a:r>
            <a:r>
              <a:rPr sz="2600" spc="-120" dirty="0">
                <a:latin typeface="Times New Roman"/>
                <a:cs typeface="Times New Roman"/>
              </a:rPr>
              <a:t> </a:t>
            </a:r>
            <a:r>
              <a:rPr sz="2600" spc="-20" dirty="0">
                <a:latin typeface="Times New Roman"/>
                <a:cs typeface="Times New Roman"/>
              </a:rPr>
              <a:t>DDoS</a:t>
            </a:r>
            <a:endParaRPr sz="2600">
              <a:latin typeface="Times New Roman"/>
              <a:cs typeface="Times New Roman"/>
            </a:endParaRPr>
          </a:p>
        </p:txBody>
      </p:sp>
    </p:spTree>
    <p:extLst>
      <p:ext uri="{BB962C8B-B14F-4D97-AF65-F5344CB8AC3E}">
        <p14:creationId xmlns:p14="http://schemas.microsoft.com/office/powerpoint/2010/main" val="37389349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1280" rIns="0" bIns="0" rtlCol="0">
            <a:spAutoFit/>
          </a:bodyPr>
          <a:lstStyle/>
          <a:p>
            <a:pPr marL="12700" marR="5080">
              <a:lnSpc>
                <a:spcPts val="4320"/>
              </a:lnSpc>
              <a:spcBef>
                <a:spcPts val="640"/>
              </a:spcBef>
            </a:pPr>
            <a:r>
              <a:rPr sz="4000" b="0" i="1" dirty="0">
                <a:latin typeface="Times New Roman"/>
                <a:cs typeface="Times New Roman"/>
              </a:rPr>
              <a:t>How</a:t>
            </a:r>
            <a:r>
              <a:rPr sz="4000" b="0" i="1" spc="-75" dirty="0">
                <a:latin typeface="Times New Roman"/>
                <a:cs typeface="Times New Roman"/>
              </a:rPr>
              <a:t> </a:t>
            </a:r>
            <a:r>
              <a:rPr sz="4000" b="0" i="1" dirty="0">
                <a:latin typeface="Times New Roman"/>
                <a:cs typeface="Times New Roman"/>
              </a:rPr>
              <a:t>can</a:t>
            </a:r>
            <a:r>
              <a:rPr sz="4000" b="0" i="1" spc="-60" dirty="0">
                <a:latin typeface="Times New Roman"/>
                <a:cs typeface="Times New Roman"/>
              </a:rPr>
              <a:t> </a:t>
            </a:r>
            <a:r>
              <a:rPr sz="4000" b="0" i="1" dirty="0">
                <a:latin typeface="Times New Roman"/>
                <a:cs typeface="Times New Roman"/>
              </a:rPr>
              <a:t>we</a:t>
            </a:r>
            <a:r>
              <a:rPr sz="4000" b="0" i="1" spc="-70" dirty="0">
                <a:latin typeface="Times New Roman"/>
                <a:cs typeface="Times New Roman"/>
              </a:rPr>
              <a:t> </a:t>
            </a:r>
            <a:r>
              <a:rPr sz="4000" b="0" i="1" spc="-10" dirty="0">
                <a:latin typeface="Times New Roman"/>
                <a:cs typeface="Times New Roman"/>
              </a:rPr>
              <a:t>recognize</a:t>
            </a:r>
            <a:r>
              <a:rPr sz="4000" b="0" i="1" spc="-80" dirty="0">
                <a:latin typeface="Times New Roman"/>
                <a:cs typeface="Times New Roman"/>
              </a:rPr>
              <a:t> </a:t>
            </a:r>
            <a:r>
              <a:rPr sz="4000" b="0" i="1" dirty="0">
                <a:latin typeface="Times New Roman"/>
                <a:cs typeface="Times New Roman"/>
              </a:rPr>
              <a:t>that</a:t>
            </a:r>
            <a:r>
              <a:rPr sz="4000" b="0" i="1" spc="-70" dirty="0">
                <a:latin typeface="Times New Roman"/>
                <a:cs typeface="Times New Roman"/>
              </a:rPr>
              <a:t> </a:t>
            </a:r>
            <a:r>
              <a:rPr sz="4000" b="0" i="1" dirty="0">
                <a:latin typeface="Times New Roman"/>
                <a:cs typeface="Times New Roman"/>
              </a:rPr>
              <a:t>the</a:t>
            </a:r>
            <a:r>
              <a:rPr sz="4000" b="0" i="1" spc="-75" dirty="0">
                <a:latin typeface="Times New Roman"/>
                <a:cs typeface="Times New Roman"/>
              </a:rPr>
              <a:t> </a:t>
            </a:r>
            <a:r>
              <a:rPr sz="4000" b="0" i="1" dirty="0">
                <a:latin typeface="Times New Roman"/>
                <a:cs typeface="Times New Roman"/>
              </a:rPr>
              <a:t>computer</a:t>
            </a:r>
            <a:r>
              <a:rPr sz="4000" b="0" i="1" spc="-70" dirty="0">
                <a:latin typeface="Times New Roman"/>
                <a:cs typeface="Times New Roman"/>
              </a:rPr>
              <a:t> </a:t>
            </a:r>
            <a:r>
              <a:rPr sz="4000" b="0" i="1" dirty="0">
                <a:latin typeface="Times New Roman"/>
                <a:cs typeface="Times New Roman"/>
              </a:rPr>
              <a:t>has</a:t>
            </a:r>
            <a:r>
              <a:rPr sz="4000" b="0" i="1" spc="-75" dirty="0">
                <a:latin typeface="Times New Roman"/>
                <a:cs typeface="Times New Roman"/>
              </a:rPr>
              <a:t> </a:t>
            </a:r>
            <a:r>
              <a:rPr sz="4000" b="0" i="1" spc="-20" dirty="0">
                <a:latin typeface="Times New Roman"/>
                <a:cs typeface="Times New Roman"/>
              </a:rPr>
              <a:t>been </a:t>
            </a:r>
            <a:r>
              <a:rPr sz="4000" b="0" i="1" dirty="0">
                <a:latin typeface="Times New Roman"/>
                <a:cs typeface="Times New Roman"/>
              </a:rPr>
              <a:t>infected</a:t>
            </a:r>
            <a:r>
              <a:rPr sz="4000" b="0" i="1" spc="-100" dirty="0">
                <a:latin typeface="Times New Roman"/>
                <a:cs typeface="Times New Roman"/>
              </a:rPr>
              <a:t> </a:t>
            </a:r>
            <a:r>
              <a:rPr sz="4000" b="0" i="1" dirty="0">
                <a:latin typeface="Times New Roman"/>
                <a:cs typeface="Times New Roman"/>
              </a:rPr>
              <a:t>by</a:t>
            </a:r>
            <a:r>
              <a:rPr sz="4000" b="0" i="1" spc="-105" dirty="0">
                <a:latin typeface="Times New Roman"/>
                <a:cs typeface="Times New Roman"/>
              </a:rPr>
              <a:t> </a:t>
            </a:r>
            <a:r>
              <a:rPr sz="4000" b="0" i="1" dirty="0">
                <a:latin typeface="Times New Roman"/>
                <a:cs typeface="Times New Roman"/>
              </a:rPr>
              <a:t>the</a:t>
            </a:r>
            <a:r>
              <a:rPr sz="4000" b="0" i="1" spc="-100" dirty="0">
                <a:latin typeface="Times New Roman"/>
                <a:cs typeface="Times New Roman"/>
              </a:rPr>
              <a:t> </a:t>
            </a:r>
            <a:r>
              <a:rPr sz="4000" b="0" i="1" spc="-45" dirty="0">
                <a:latin typeface="Times New Roman"/>
                <a:cs typeface="Times New Roman"/>
              </a:rPr>
              <a:t>Trojan</a:t>
            </a:r>
            <a:r>
              <a:rPr sz="4000" b="0" i="1" spc="-100" dirty="0">
                <a:latin typeface="Times New Roman"/>
                <a:cs typeface="Times New Roman"/>
              </a:rPr>
              <a:t> </a:t>
            </a:r>
            <a:r>
              <a:rPr sz="4000" b="0" i="1" dirty="0">
                <a:latin typeface="Times New Roman"/>
                <a:cs typeface="Times New Roman"/>
              </a:rPr>
              <a:t>horse</a:t>
            </a:r>
            <a:r>
              <a:rPr sz="4000" b="0" i="1" spc="-85" dirty="0">
                <a:latin typeface="Times New Roman"/>
                <a:cs typeface="Times New Roman"/>
              </a:rPr>
              <a:t> </a:t>
            </a:r>
            <a:r>
              <a:rPr sz="4000" b="0" i="1" spc="-10" dirty="0">
                <a:latin typeface="Times New Roman"/>
                <a:cs typeface="Times New Roman"/>
              </a:rPr>
              <a:t>attack?</a:t>
            </a:r>
            <a:endParaRPr sz="4000">
              <a:latin typeface="Times New Roman"/>
              <a:cs typeface="Times New Roman"/>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3" name="object 3"/>
          <p:cNvSpPr txBox="1"/>
          <p:nvPr/>
        </p:nvSpPr>
        <p:spPr>
          <a:xfrm>
            <a:off x="916939" y="1496948"/>
            <a:ext cx="10093325" cy="4862195"/>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a:cs typeface="Times New Roman"/>
              </a:rPr>
              <a:t>One</a:t>
            </a:r>
            <a:r>
              <a:rPr sz="2400" spc="-25" dirty="0">
                <a:latin typeface="Times New Roman"/>
                <a:cs typeface="Times New Roman"/>
              </a:rPr>
              <a:t> </a:t>
            </a:r>
            <a:r>
              <a:rPr sz="2400" dirty="0">
                <a:latin typeface="Times New Roman"/>
                <a:cs typeface="Times New Roman"/>
              </a:rPr>
              <a:t>can</a:t>
            </a:r>
            <a:r>
              <a:rPr sz="2400" spc="-25" dirty="0">
                <a:latin typeface="Times New Roman"/>
                <a:cs typeface="Times New Roman"/>
              </a:rPr>
              <a:t> </a:t>
            </a:r>
            <a:r>
              <a:rPr sz="2400" dirty="0">
                <a:latin typeface="Times New Roman"/>
                <a:cs typeface="Times New Roman"/>
              </a:rPr>
              <a:t>diagnose</a:t>
            </a:r>
            <a:r>
              <a:rPr sz="2400" spc="-25" dirty="0">
                <a:latin typeface="Times New Roman"/>
                <a:cs typeface="Times New Roman"/>
              </a:rPr>
              <a:t> </a:t>
            </a:r>
            <a:r>
              <a:rPr sz="2400" dirty="0">
                <a:latin typeface="Times New Roman"/>
                <a:cs typeface="Times New Roman"/>
              </a:rPr>
              <a:t>by</a:t>
            </a:r>
            <a:r>
              <a:rPr sz="2400" spc="-15"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symptoms</a:t>
            </a:r>
            <a:r>
              <a:rPr sz="2400" spc="-5" dirty="0">
                <a:latin typeface="Times New Roman"/>
                <a:cs typeface="Times New Roman"/>
              </a:rPr>
              <a:t> </a:t>
            </a:r>
            <a:r>
              <a:rPr sz="2400" dirty="0">
                <a:latin typeface="Times New Roman"/>
                <a:cs typeface="Times New Roman"/>
              </a:rPr>
              <a:t>of</a:t>
            </a:r>
            <a:r>
              <a:rPr sz="2400" spc="-50" dirty="0">
                <a:latin typeface="Times New Roman"/>
                <a:cs typeface="Times New Roman"/>
              </a:rPr>
              <a:t> </a:t>
            </a:r>
            <a:r>
              <a:rPr sz="2400" dirty="0">
                <a:latin typeface="Times New Roman"/>
                <a:cs typeface="Times New Roman"/>
              </a:rPr>
              <a:t>Trojan</a:t>
            </a:r>
            <a:r>
              <a:rPr sz="2400" spc="-40" dirty="0">
                <a:latin typeface="Times New Roman"/>
                <a:cs typeface="Times New Roman"/>
              </a:rPr>
              <a:t> </a:t>
            </a:r>
            <a:r>
              <a:rPr sz="2400" dirty="0">
                <a:latin typeface="Times New Roman"/>
                <a:cs typeface="Times New Roman"/>
              </a:rPr>
              <a:t>horse</a:t>
            </a:r>
            <a:r>
              <a:rPr sz="2400" spc="-25" dirty="0">
                <a:latin typeface="Times New Roman"/>
                <a:cs typeface="Times New Roman"/>
              </a:rPr>
              <a:t> </a:t>
            </a:r>
            <a:r>
              <a:rPr sz="2400" dirty="0">
                <a:latin typeface="Times New Roman"/>
                <a:cs typeface="Times New Roman"/>
              </a:rPr>
              <a:t>attack,</a:t>
            </a:r>
            <a:r>
              <a:rPr sz="2400" spc="-50" dirty="0">
                <a:latin typeface="Times New Roman"/>
                <a:cs typeface="Times New Roman"/>
              </a:rPr>
              <a:t> </a:t>
            </a:r>
            <a:r>
              <a:rPr sz="2400" dirty="0">
                <a:latin typeface="Times New Roman"/>
                <a:cs typeface="Times New Roman"/>
              </a:rPr>
              <a:t>which</a:t>
            </a:r>
            <a:r>
              <a:rPr sz="2400" spc="-15" dirty="0">
                <a:latin typeface="Times New Roman"/>
                <a:cs typeface="Times New Roman"/>
              </a:rPr>
              <a:t> </a:t>
            </a:r>
            <a:r>
              <a:rPr sz="2400" dirty="0">
                <a:latin typeface="Times New Roman"/>
                <a:cs typeface="Times New Roman"/>
              </a:rPr>
              <a:t>are</a:t>
            </a:r>
            <a:r>
              <a:rPr sz="2400" spc="-45" dirty="0">
                <a:latin typeface="Times New Roman"/>
                <a:cs typeface="Times New Roman"/>
              </a:rPr>
              <a:t> </a:t>
            </a:r>
            <a:r>
              <a:rPr sz="2400" dirty="0">
                <a:latin typeface="Times New Roman"/>
                <a:cs typeface="Times New Roman"/>
              </a:rPr>
              <a:t>listed</a:t>
            </a:r>
            <a:r>
              <a:rPr sz="2400" spc="-40" dirty="0">
                <a:latin typeface="Times New Roman"/>
                <a:cs typeface="Times New Roman"/>
              </a:rPr>
              <a:t> </a:t>
            </a:r>
            <a:r>
              <a:rPr sz="2400" spc="-10" dirty="0">
                <a:latin typeface="Times New Roman"/>
                <a:cs typeface="Times New Roman"/>
              </a:rPr>
              <a:t>below:</a:t>
            </a:r>
            <a:endParaRPr sz="2400">
              <a:latin typeface="Times New Roman"/>
              <a:cs typeface="Times New Roman"/>
            </a:endParaRPr>
          </a:p>
          <a:p>
            <a:pPr marL="240665" indent="-227965">
              <a:lnSpc>
                <a:spcPct val="100000"/>
              </a:lnSpc>
              <a:spcBef>
                <a:spcPts val="130"/>
              </a:spcBef>
              <a:buFont typeface="Arial MT"/>
              <a:buChar char="•"/>
              <a:tabLst>
                <a:tab pos="240665" algn="l"/>
              </a:tabLst>
            </a:pPr>
            <a:r>
              <a:rPr sz="2400" dirty="0">
                <a:latin typeface="Times New Roman"/>
                <a:cs typeface="Times New Roman"/>
              </a:rPr>
              <a:t>Performance</a:t>
            </a:r>
            <a:r>
              <a:rPr sz="2400" spc="-20" dirty="0">
                <a:latin typeface="Times New Roman"/>
                <a:cs typeface="Times New Roman"/>
              </a:rPr>
              <a:t> </a:t>
            </a:r>
            <a:r>
              <a:rPr sz="2400" dirty="0">
                <a:latin typeface="Times New Roman"/>
                <a:cs typeface="Times New Roman"/>
              </a:rPr>
              <a:t>degrades</a:t>
            </a:r>
            <a:r>
              <a:rPr sz="2400" spc="-25" dirty="0">
                <a:latin typeface="Times New Roman"/>
                <a:cs typeface="Times New Roman"/>
              </a:rPr>
              <a:t> </a:t>
            </a:r>
            <a:r>
              <a:rPr sz="2400" spc="-10" dirty="0">
                <a:latin typeface="Times New Roman"/>
                <a:cs typeface="Times New Roman"/>
              </a:rPr>
              <a:t>significantly.</a:t>
            </a:r>
            <a:endParaRPr sz="2400">
              <a:latin typeface="Times New Roman"/>
              <a:cs typeface="Times New Roman"/>
            </a:endParaRPr>
          </a:p>
          <a:p>
            <a:pPr marL="240029" indent="-227329">
              <a:lnSpc>
                <a:spcPct val="100000"/>
              </a:lnSpc>
              <a:spcBef>
                <a:spcPts val="145"/>
              </a:spcBef>
              <a:buFont typeface="Arial MT"/>
              <a:buChar char="•"/>
              <a:tabLst>
                <a:tab pos="240029" algn="l"/>
              </a:tabLst>
            </a:pPr>
            <a:r>
              <a:rPr sz="2400" dirty="0">
                <a:latin typeface="Times New Roman"/>
                <a:cs typeface="Times New Roman"/>
              </a:rPr>
              <a:t>Internet</a:t>
            </a:r>
            <a:r>
              <a:rPr sz="2400" spc="-45" dirty="0">
                <a:latin typeface="Times New Roman"/>
                <a:cs typeface="Times New Roman"/>
              </a:rPr>
              <a:t> </a:t>
            </a:r>
            <a:r>
              <a:rPr sz="2400" dirty="0">
                <a:latin typeface="Times New Roman"/>
                <a:cs typeface="Times New Roman"/>
              </a:rPr>
              <a:t>speed</a:t>
            </a:r>
            <a:r>
              <a:rPr sz="2400" spc="-35" dirty="0">
                <a:latin typeface="Times New Roman"/>
                <a:cs typeface="Times New Roman"/>
              </a:rPr>
              <a:t> </a:t>
            </a:r>
            <a:r>
              <a:rPr sz="2400" dirty="0">
                <a:latin typeface="Times New Roman"/>
                <a:cs typeface="Times New Roman"/>
              </a:rPr>
              <a:t>slows</a:t>
            </a:r>
            <a:r>
              <a:rPr sz="2400" spc="-15" dirty="0">
                <a:latin typeface="Times New Roman"/>
                <a:cs typeface="Times New Roman"/>
              </a:rPr>
              <a:t> </a:t>
            </a:r>
            <a:r>
              <a:rPr sz="2400" spc="-10" dirty="0">
                <a:latin typeface="Times New Roman"/>
                <a:cs typeface="Times New Roman"/>
              </a:rPr>
              <a:t>down.</a:t>
            </a:r>
            <a:endParaRPr sz="2400">
              <a:latin typeface="Times New Roman"/>
              <a:cs typeface="Times New Roman"/>
            </a:endParaRPr>
          </a:p>
          <a:p>
            <a:pPr marL="240665" indent="-227965">
              <a:lnSpc>
                <a:spcPct val="100000"/>
              </a:lnSpc>
              <a:spcBef>
                <a:spcPts val="135"/>
              </a:spcBef>
              <a:buFont typeface="Arial MT"/>
              <a:buChar char="•"/>
              <a:tabLst>
                <a:tab pos="240665" algn="l"/>
              </a:tabLst>
            </a:pPr>
            <a:r>
              <a:rPr sz="2400" dirty="0">
                <a:latin typeface="Times New Roman"/>
                <a:cs typeface="Times New Roman"/>
              </a:rPr>
              <a:t>Problem</a:t>
            </a:r>
            <a:r>
              <a:rPr sz="2400" spc="-35" dirty="0">
                <a:latin typeface="Times New Roman"/>
                <a:cs typeface="Times New Roman"/>
              </a:rPr>
              <a:t> </a:t>
            </a:r>
            <a:r>
              <a:rPr sz="2400" dirty="0">
                <a:latin typeface="Times New Roman"/>
                <a:cs typeface="Times New Roman"/>
              </a:rPr>
              <a:t>in</a:t>
            </a:r>
            <a:r>
              <a:rPr sz="2400" spc="-25" dirty="0">
                <a:latin typeface="Times New Roman"/>
                <a:cs typeface="Times New Roman"/>
              </a:rPr>
              <a:t> </a:t>
            </a:r>
            <a:r>
              <a:rPr sz="2400" dirty="0">
                <a:latin typeface="Times New Roman"/>
                <a:cs typeface="Times New Roman"/>
              </a:rPr>
              <a:t>Internet</a:t>
            </a:r>
            <a:r>
              <a:rPr sz="2400" spc="-40" dirty="0">
                <a:latin typeface="Times New Roman"/>
                <a:cs typeface="Times New Roman"/>
              </a:rPr>
              <a:t> </a:t>
            </a:r>
            <a:r>
              <a:rPr sz="2400" dirty="0">
                <a:latin typeface="Times New Roman"/>
                <a:cs typeface="Times New Roman"/>
              </a:rPr>
              <a:t>browsing</a:t>
            </a:r>
            <a:r>
              <a:rPr sz="2400" spc="-20" dirty="0">
                <a:latin typeface="Times New Roman"/>
                <a:cs typeface="Times New Roman"/>
              </a:rPr>
              <a:t> </a:t>
            </a:r>
            <a:r>
              <a:rPr sz="2400" spc="-10" dirty="0">
                <a:latin typeface="Times New Roman"/>
                <a:cs typeface="Times New Roman"/>
              </a:rPr>
              <a:t>occurs.</a:t>
            </a:r>
            <a:endParaRPr sz="2400">
              <a:latin typeface="Times New Roman"/>
              <a:cs typeface="Times New Roman"/>
            </a:endParaRPr>
          </a:p>
          <a:p>
            <a:pPr marL="240665" indent="-227965">
              <a:lnSpc>
                <a:spcPct val="100000"/>
              </a:lnSpc>
              <a:spcBef>
                <a:spcPts val="130"/>
              </a:spcBef>
              <a:buFont typeface="Arial MT"/>
              <a:buChar char="•"/>
              <a:tabLst>
                <a:tab pos="240665" algn="l"/>
              </a:tabLst>
            </a:pPr>
            <a:r>
              <a:rPr sz="2400" dirty="0">
                <a:latin typeface="Times New Roman"/>
                <a:cs typeface="Times New Roman"/>
              </a:rPr>
              <a:t>Many</a:t>
            </a:r>
            <a:r>
              <a:rPr sz="2400" spc="-40" dirty="0">
                <a:latin typeface="Times New Roman"/>
                <a:cs typeface="Times New Roman"/>
              </a:rPr>
              <a:t> </a:t>
            </a:r>
            <a:r>
              <a:rPr sz="2400" dirty="0">
                <a:latin typeface="Times New Roman"/>
                <a:cs typeface="Times New Roman"/>
              </a:rPr>
              <a:t>Internet</a:t>
            </a:r>
            <a:r>
              <a:rPr sz="2400" spc="-65" dirty="0">
                <a:latin typeface="Times New Roman"/>
                <a:cs typeface="Times New Roman"/>
              </a:rPr>
              <a:t> </a:t>
            </a:r>
            <a:r>
              <a:rPr sz="2400" dirty="0">
                <a:latin typeface="Times New Roman"/>
                <a:cs typeface="Times New Roman"/>
              </a:rPr>
              <a:t>browser</a:t>
            </a:r>
            <a:r>
              <a:rPr sz="2400" spc="-40" dirty="0">
                <a:latin typeface="Times New Roman"/>
                <a:cs typeface="Times New Roman"/>
              </a:rPr>
              <a:t> </a:t>
            </a:r>
            <a:r>
              <a:rPr sz="2400" dirty="0">
                <a:latin typeface="Times New Roman"/>
                <a:cs typeface="Times New Roman"/>
              </a:rPr>
              <a:t>pop-ups</a:t>
            </a:r>
            <a:r>
              <a:rPr sz="2400" spc="-35" dirty="0">
                <a:latin typeface="Times New Roman"/>
                <a:cs typeface="Times New Roman"/>
              </a:rPr>
              <a:t> </a:t>
            </a:r>
            <a:r>
              <a:rPr sz="2400" dirty="0">
                <a:latin typeface="Times New Roman"/>
                <a:cs typeface="Times New Roman"/>
              </a:rPr>
              <a:t>may</a:t>
            </a:r>
            <a:r>
              <a:rPr sz="2400" spc="-25" dirty="0">
                <a:latin typeface="Times New Roman"/>
                <a:cs typeface="Times New Roman"/>
              </a:rPr>
              <a:t> </a:t>
            </a:r>
            <a:r>
              <a:rPr sz="2400" spc="-10" dirty="0">
                <a:latin typeface="Times New Roman"/>
                <a:cs typeface="Times New Roman"/>
              </a:rPr>
              <a:t>appear.</a:t>
            </a:r>
            <a:endParaRPr sz="2400">
              <a:latin typeface="Times New Roman"/>
              <a:cs typeface="Times New Roman"/>
            </a:endParaRPr>
          </a:p>
          <a:p>
            <a:pPr marL="240665" indent="-227965">
              <a:lnSpc>
                <a:spcPct val="100000"/>
              </a:lnSpc>
              <a:spcBef>
                <a:spcPts val="145"/>
              </a:spcBef>
              <a:buFont typeface="Arial MT"/>
              <a:buChar char="•"/>
              <a:tabLst>
                <a:tab pos="240665" algn="l"/>
              </a:tabLst>
            </a:pPr>
            <a:r>
              <a:rPr sz="2400" spc="-50" dirty="0">
                <a:latin typeface="Times New Roman"/>
                <a:cs typeface="Times New Roman"/>
              </a:rPr>
              <a:t>Your</a:t>
            </a:r>
            <a:r>
              <a:rPr sz="2400" spc="-25" dirty="0">
                <a:latin typeface="Times New Roman"/>
                <a:cs typeface="Times New Roman"/>
              </a:rPr>
              <a:t> </a:t>
            </a:r>
            <a:r>
              <a:rPr sz="2400" dirty="0">
                <a:latin typeface="Times New Roman"/>
                <a:cs typeface="Times New Roman"/>
              </a:rPr>
              <a:t>computer</a:t>
            </a:r>
            <a:r>
              <a:rPr sz="2400" spc="-15" dirty="0">
                <a:latin typeface="Times New Roman"/>
                <a:cs typeface="Times New Roman"/>
              </a:rPr>
              <a:t> </a:t>
            </a:r>
            <a:r>
              <a:rPr sz="2400" dirty="0">
                <a:latin typeface="Times New Roman"/>
                <a:cs typeface="Times New Roman"/>
              </a:rPr>
              <a:t>security</a:t>
            </a:r>
            <a:r>
              <a:rPr sz="2400" spc="-60" dirty="0">
                <a:latin typeface="Times New Roman"/>
                <a:cs typeface="Times New Roman"/>
              </a:rPr>
              <a:t> </a:t>
            </a:r>
            <a:r>
              <a:rPr sz="2400" dirty="0">
                <a:latin typeface="Times New Roman"/>
                <a:cs typeface="Times New Roman"/>
              </a:rPr>
              <a:t>application</a:t>
            </a:r>
            <a:r>
              <a:rPr sz="2400" spc="-55" dirty="0">
                <a:latin typeface="Times New Roman"/>
                <a:cs typeface="Times New Roman"/>
              </a:rPr>
              <a:t> </a:t>
            </a:r>
            <a:r>
              <a:rPr sz="2400" dirty="0">
                <a:latin typeface="Times New Roman"/>
                <a:cs typeface="Times New Roman"/>
              </a:rPr>
              <a:t>can</a:t>
            </a:r>
            <a:r>
              <a:rPr sz="2400" spc="-35" dirty="0">
                <a:latin typeface="Times New Roman"/>
                <a:cs typeface="Times New Roman"/>
              </a:rPr>
              <a:t> </a:t>
            </a:r>
            <a:r>
              <a:rPr sz="2400" dirty="0">
                <a:latin typeface="Times New Roman"/>
                <a:cs typeface="Times New Roman"/>
              </a:rPr>
              <a:t>warn</a:t>
            </a:r>
            <a:r>
              <a:rPr sz="2400" spc="-20" dirty="0">
                <a:latin typeface="Times New Roman"/>
                <a:cs typeface="Times New Roman"/>
              </a:rPr>
              <a:t> </a:t>
            </a:r>
            <a:r>
              <a:rPr sz="2400" dirty="0">
                <a:latin typeface="Times New Roman"/>
                <a:cs typeface="Times New Roman"/>
              </a:rPr>
              <a:t>you</a:t>
            </a:r>
            <a:r>
              <a:rPr sz="2400" spc="-20" dirty="0">
                <a:latin typeface="Times New Roman"/>
                <a:cs typeface="Times New Roman"/>
              </a:rPr>
              <a:t> </a:t>
            </a:r>
            <a:r>
              <a:rPr sz="2400" dirty="0">
                <a:latin typeface="Times New Roman"/>
                <a:cs typeface="Times New Roman"/>
              </a:rPr>
              <a:t>through</a:t>
            </a:r>
            <a:r>
              <a:rPr sz="2400" spc="-30" dirty="0">
                <a:latin typeface="Times New Roman"/>
                <a:cs typeface="Times New Roman"/>
              </a:rPr>
              <a:t> </a:t>
            </a:r>
            <a:r>
              <a:rPr sz="2400" dirty="0">
                <a:latin typeface="Times New Roman"/>
                <a:cs typeface="Times New Roman"/>
              </a:rPr>
              <a:t>security</a:t>
            </a:r>
            <a:r>
              <a:rPr sz="2400" spc="-45" dirty="0">
                <a:latin typeface="Times New Roman"/>
                <a:cs typeface="Times New Roman"/>
              </a:rPr>
              <a:t> </a:t>
            </a:r>
            <a:r>
              <a:rPr sz="2400" dirty="0">
                <a:latin typeface="Times New Roman"/>
                <a:cs typeface="Times New Roman"/>
              </a:rPr>
              <a:t>pop-</a:t>
            </a:r>
            <a:r>
              <a:rPr sz="2400" spc="-20" dirty="0">
                <a:latin typeface="Times New Roman"/>
                <a:cs typeface="Times New Roman"/>
              </a:rPr>
              <a:t>ups.</a:t>
            </a:r>
            <a:endParaRPr sz="2400">
              <a:latin typeface="Times New Roman"/>
              <a:cs typeface="Times New Roman"/>
            </a:endParaRPr>
          </a:p>
          <a:p>
            <a:pPr marL="240665" indent="-227965">
              <a:lnSpc>
                <a:spcPct val="100000"/>
              </a:lnSpc>
              <a:spcBef>
                <a:spcPts val="135"/>
              </a:spcBef>
              <a:buFont typeface="Arial MT"/>
              <a:buChar char="•"/>
              <a:tabLst>
                <a:tab pos="240665" algn="l"/>
              </a:tabLst>
            </a:pPr>
            <a:r>
              <a:rPr sz="2400" dirty="0">
                <a:latin typeface="Times New Roman"/>
                <a:cs typeface="Times New Roman"/>
              </a:rPr>
              <a:t>Computer</a:t>
            </a:r>
            <a:r>
              <a:rPr sz="2400" spc="-5" dirty="0">
                <a:latin typeface="Times New Roman"/>
                <a:cs typeface="Times New Roman"/>
              </a:rPr>
              <a:t> </a:t>
            </a:r>
            <a:r>
              <a:rPr sz="2400" dirty="0">
                <a:latin typeface="Times New Roman"/>
                <a:cs typeface="Times New Roman"/>
              </a:rPr>
              <a:t>starts</a:t>
            </a:r>
            <a:r>
              <a:rPr sz="2400" spc="-30" dirty="0">
                <a:latin typeface="Times New Roman"/>
                <a:cs typeface="Times New Roman"/>
              </a:rPr>
              <a:t> </a:t>
            </a:r>
            <a:r>
              <a:rPr sz="2400" dirty="0">
                <a:latin typeface="Times New Roman"/>
                <a:cs typeface="Times New Roman"/>
              </a:rPr>
              <a:t>working</a:t>
            </a:r>
            <a:r>
              <a:rPr sz="2400" spc="-10" dirty="0">
                <a:latin typeface="Times New Roman"/>
                <a:cs typeface="Times New Roman"/>
              </a:rPr>
              <a:t> </a:t>
            </a:r>
            <a:r>
              <a:rPr sz="2400" dirty="0">
                <a:latin typeface="Times New Roman"/>
                <a:cs typeface="Times New Roman"/>
              </a:rPr>
              <a:t>itself</a:t>
            </a:r>
            <a:r>
              <a:rPr sz="2400" spc="-50" dirty="0">
                <a:latin typeface="Times New Roman"/>
                <a:cs typeface="Times New Roman"/>
              </a:rPr>
              <a:t> </a:t>
            </a:r>
            <a:r>
              <a:rPr sz="2400" dirty="0">
                <a:latin typeface="Times New Roman"/>
                <a:cs typeface="Times New Roman"/>
              </a:rPr>
              <a:t>without</a:t>
            </a:r>
            <a:r>
              <a:rPr sz="2400" spc="-15" dirty="0">
                <a:latin typeface="Times New Roman"/>
                <a:cs typeface="Times New Roman"/>
              </a:rPr>
              <a:t> </a:t>
            </a:r>
            <a:r>
              <a:rPr sz="2400" dirty="0">
                <a:latin typeface="Times New Roman"/>
                <a:cs typeface="Times New Roman"/>
              </a:rPr>
              <a:t>your</a:t>
            </a:r>
            <a:r>
              <a:rPr sz="2400" spc="-10" dirty="0">
                <a:latin typeface="Times New Roman"/>
                <a:cs typeface="Times New Roman"/>
              </a:rPr>
              <a:t> instructions.</a:t>
            </a:r>
            <a:endParaRPr sz="2400">
              <a:latin typeface="Times New Roman"/>
              <a:cs typeface="Times New Roman"/>
            </a:endParaRPr>
          </a:p>
          <a:p>
            <a:pPr marL="240029" marR="5080" indent="-227965">
              <a:lnSpc>
                <a:spcPct val="70000"/>
              </a:lnSpc>
              <a:spcBef>
                <a:spcPts val="994"/>
              </a:spcBef>
              <a:buFont typeface="Arial MT"/>
              <a:buChar char="•"/>
              <a:tabLst>
                <a:tab pos="241300" algn="l"/>
              </a:tabLst>
            </a:pPr>
            <a:r>
              <a:rPr sz="2400" dirty="0">
                <a:latin typeface="Times New Roman"/>
                <a:cs typeface="Times New Roman"/>
              </a:rPr>
              <a:t>Some</a:t>
            </a:r>
            <a:r>
              <a:rPr sz="2400" spc="-5" dirty="0">
                <a:latin typeface="Times New Roman"/>
                <a:cs typeface="Times New Roman"/>
              </a:rPr>
              <a:t> </a:t>
            </a:r>
            <a:r>
              <a:rPr sz="2400" dirty="0">
                <a:latin typeface="Times New Roman"/>
                <a:cs typeface="Times New Roman"/>
              </a:rPr>
              <a:t>crucial</a:t>
            </a:r>
            <a:r>
              <a:rPr sz="2400" spc="-45" dirty="0">
                <a:latin typeface="Times New Roman"/>
                <a:cs typeface="Times New Roman"/>
              </a:rPr>
              <a:t> </a:t>
            </a:r>
            <a:r>
              <a:rPr sz="2400" dirty="0">
                <a:latin typeface="Times New Roman"/>
                <a:cs typeface="Times New Roman"/>
              </a:rPr>
              <a:t>applications</a:t>
            </a:r>
            <a:r>
              <a:rPr sz="2400" spc="-40" dirty="0">
                <a:latin typeface="Times New Roman"/>
                <a:cs typeface="Times New Roman"/>
              </a:rPr>
              <a:t> </a:t>
            </a:r>
            <a:r>
              <a:rPr sz="2400" dirty="0">
                <a:latin typeface="Times New Roman"/>
                <a:cs typeface="Times New Roman"/>
              </a:rPr>
              <a:t>will</a:t>
            </a:r>
            <a:r>
              <a:rPr sz="2400" spc="-30" dirty="0">
                <a:latin typeface="Times New Roman"/>
                <a:cs typeface="Times New Roman"/>
              </a:rPr>
              <a:t> </a:t>
            </a:r>
            <a:r>
              <a:rPr sz="2400" dirty="0">
                <a:latin typeface="Times New Roman"/>
                <a:cs typeface="Times New Roman"/>
              </a:rPr>
              <a:t>stop</a:t>
            </a:r>
            <a:r>
              <a:rPr sz="2400" spc="-10" dirty="0">
                <a:latin typeface="Times New Roman"/>
                <a:cs typeface="Times New Roman"/>
              </a:rPr>
              <a:t> </a:t>
            </a:r>
            <a:r>
              <a:rPr sz="2400" dirty="0">
                <a:latin typeface="Times New Roman"/>
                <a:cs typeface="Times New Roman"/>
              </a:rPr>
              <a:t>working</a:t>
            </a:r>
            <a:r>
              <a:rPr sz="2400" spc="-15" dirty="0">
                <a:latin typeface="Times New Roman"/>
                <a:cs typeface="Times New Roman"/>
              </a:rPr>
              <a:t> </a:t>
            </a:r>
            <a:r>
              <a:rPr sz="2400" dirty="0">
                <a:latin typeface="Times New Roman"/>
                <a:cs typeface="Times New Roman"/>
              </a:rPr>
              <a:t>and</a:t>
            </a:r>
            <a:r>
              <a:rPr sz="2400" spc="-20" dirty="0">
                <a:latin typeface="Times New Roman"/>
                <a:cs typeface="Times New Roman"/>
              </a:rPr>
              <a:t> </a:t>
            </a:r>
            <a:r>
              <a:rPr sz="2400" dirty="0">
                <a:latin typeface="Times New Roman"/>
                <a:cs typeface="Times New Roman"/>
              </a:rPr>
              <a:t>unwanted</a:t>
            </a:r>
            <a:r>
              <a:rPr sz="2400" spc="-15" dirty="0">
                <a:latin typeface="Times New Roman"/>
                <a:cs typeface="Times New Roman"/>
              </a:rPr>
              <a:t> </a:t>
            </a:r>
            <a:r>
              <a:rPr sz="2400" dirty="0">
                <a:latin typeface="Times New Roman"/>
                <a:cs typeface="Times New Roman"/>
              </a:rPr>
              <a:t>applications</a:t>
            </a:r>
            <a:r>
              <a:rPr sz="2400" spc="-45" dirty="0">
                <a:latin typeface="Times New Roman"/>
                <a:cs typeface="Times New Roman"/>
              </a:rPr>
              <a:t> </a:t>
            </a:r>
            <a:r>
              <a:rPr sz="2400" dirty="0">
                <a:latin typeface="Times New Roman"/>
                <a:cs typeface="Times New Roman"/>
              </a:rPr>
              <a:t>will</a:t>
            </a:r>
            <a:r>
              <a:rPr sz="2400" spc="-15" dirty="0">
                <a:latin typeface="Times New Roman"/>
                <a:cs typeface="Times New Roman"/>
              </a:rPr>
              <a:t> </a:t>
            </a:r>
            <a:r>
              <a:rPr sz="2400" spc="-20" dirty="0">
                <a:latin typeface="Times New Roman"/>
                <a:cs typeface="Times New Roman"/>
              </a:rPr>
              <a:t>load 	</a:t>
            </a:r>
            <a:r>
              <a:rPr sz="2400" dirty="0">
                <a:latin typeface="Times New Roman"/>
                <a:cs typeface="Times New Roman"/>
              </a:rPr>
              <a:t>without</a:t>
            </a:r>
            <a:r>
              <a:rPr sz="2400" spc="-30" dirty="0">
                <a:latin typeface="Times New Roman"/>
                <a:cs typeface="Times New Roman"/>
              </a:rPr>
              <a:t> </a:t>
            </a:r>
            <a:r>
              <a:rPr sz="2400" dirty="0">
                <a:latin typeface="Times New Roman"/>
                <a:cs typeface="Times New Roman"/>
              </a:rPr>
              <a:t>any control</a:t>
            </a:r>
            <a:r>
              <a:rPr sz="2400" spc="-20" dirty="0">
                <a:latin typeface="Times New Roman"/>
                <a:cs typeface="Times New Roman"/>
              </a:rPr>
              <a:t> </a:t>
            </a:r>
            <a:r>
              <a:rPr sz="2400" dirty="0">
                <a:latin typeface="Times New Roman"/>
                <a:cs typeface="Times New Roman"/>
              </a:rPr>
              <a:t>on</a:t>
            </a:r>
            <a:r>
              <a:rPr sz="2400" spc="5" dirty="0">
                <a:latin typeface="Times New Roman"/>
                <a:cs typeface="Times New Roman"/>
              </a:rPr>
              <a:t> </a:t>
            </a:r>
            <a:r>
              <a:rPr sz="2400" spc="-10" dirty="0">
                <a:latin typeface="Times New Roman"/>
                <a:cs typeface="Times New Roman"/>
              </a:rPr>
              <a:t>them.</a:t>
            </a:r>
            <a:endParaRPr sz="2400">
              <a:latin typeface="Times New Roman"/>
              <a:cs typeface="Times New Roman"/>
            </a:endParaRPr>
          </a:p>
          <a:p>
            <a:pPr marL="240665" indent="-227965">
              <a:lnSpc>
                <a:spcPct val="100000"/>
              </a:lnSpc>
              <a:spcBef>
                <a:spcPts val="145"/>
              </a:spcBef>
              <a:buFont typeface="Arial MT"/>
              <a:buChar char="•"/>
              <a:tabLst>
                <a:tab pos="240665" algn="l"/>
              </a:tabLst>
            </a:pPr>
            <a:r>
              <a:rPr sz="2400" dirty="0">
                <a:latin typeface="Times New Roman"/>
                <a:cs typeface="Times New Roman"/>
              </a:rPr>
              <a:t>A</a:t>
            </a:r>
            <a:r>
              <a:rPr sz="2400" spc="-145" dirty="0">
                <a:latin typeface="Times New Roman"/>
                <a:cs typeface="Times New Roman"/>
              </a:rPr>
              <a:t> </a:t>
            </a:r>
            <a:r>
              <a:rPr sz="2400" dirty="0">
                <a:latin typeface="Times New Roman"/>
                <a:cs typeface="Times New Roman"/>
              </a:rPr>
              <a:t>large</a:t>
            </a:r>
            <a:r>
              <a:rPr sz="2400" spc="-45" dirty="0">
                <a:latin typeface="Times New Roman"/>
                <a:cs typeface="Times New Roman"/>
              </a:rPr>
              <a:t> </a:t>
            </a:r>
            <a:r>
              <a:rPr sz="2400" dirty="0">
                <a:latin typeface="Times New Roman"/>
                <a:cs typeface="Times New Roman"/>
              </a:rPr>
              <a:t>number</a:t>
            </a:r>
            <a:r>
              <a:rPr sz="2400" spc="-10" dirty="0">
                <a:latin typeface="Times New Roman"/>
                <a:cs typeface="Times New Roman"/>
              </a:rPr>
              <a:t> </a:t>
            </a:r>
            <a:r>
              <a:rPr sz="2400" dirty="0">
                <a:latin typeface="Times New Roman"/>
                <a:cs typeface="Times New Roman"/>
              </a:rPr>
              <a:t>of</a:t>
            </a:r>
            <a:r>
              <a:rPr sz="2400" spc="-20" dirty="0">
                <a:latin typeface="Times New Roman"/>
                <a:cs typeface="Times New Roman"/>
              </a:rPr>
              <a:t> </a:t>
            </a:r>
            <a:r>
              <a:rPr sz="2400" dirty="0">
                <a:latin typeface="Times New Roman"/>
                <a:cs typeface="Times New Roman"/>
              </a:rPr>
              <a:t>spam</a:t>
            </a:r>
            <a:r>
              <a:rPr sz="2400" spc="-35" dirty="0">
                <a:latin typeface="Times New Roman"/>
                <a:cs typeface="Times New Roman"/>
              </a:rPr>
              <a:t> </a:t>
            </a:r>
            <a:r>
              <a:rPr sz="2400" dirty="0">
                <a:latin typeface="Times New Roman"/>
                <a:cs typeface="Times New Roman"/>
              </a:rPr>
              <a:t>emails</a:t>
            </a:r>
            <a:r>
              <a:rPr sz="2400" spc="-25" dirty="0">
                <a:latin typeface="Times New Roman"/>
                <a:cs typeface="Times New Roman"/>
              </a:rPr>
              <a:t> </a:t>
            </a:r>
            <a:r>
              <a:rPr sz="2400" dirty="0">
                <a:latin typeface="Times New Roman"/>
                <a:cs typeface="Times New Roman"/>
              </a:rPr>
              <a:t>appear</a:t>
            </a:r>
            <a:r>
              <a:rPr sz="2400" spc="-35" dirty="0">
                <a:latin typeface="Times New Roman"/>
                <a:cs typeface="Times New Roman"/>
              </a:rPr>
              <a:t> </a:t>
            </a:r>
            <a:r>
              <a:rPr sz="2400" dirty="0">
                <a:latin typeface="Times New Roman"/>
                <a:cs typeface="Times New Roman"/>
              </a:rPr>
              <a:t>in</a:t>
            </a:r>
            <a:r>
              <a:rPr sz="2400" spc="-30" dirty="0">
                <a:latin typeface="Times New Roman"/>
                <a:cs typeface="Times New Roman"/>
              </a:rPr>
              <a:t> </a:t>
            </a:r>
            <a:r>
              <a:rPr sz="2400" dirty="0">
                <a:latin typeface="Times New Roman"/>
                <a:cs typeface="Times New Roman"/>
              </a:rPr>
              <a:t>your</a:t>
            </a:r>
            <a:r>
              <a:rPr sz="2400" spc="-20" dirty="0">
                <a:latin typeface="Times New Roman"/>
                <a:cs typeface="Times New Roman"/>
              </a:rPr>
              <a:t> </a:t>
            </a:r>
            <a:r>
              <a:rPr sz="2400" spc="-10" dirty="0">
                <a:latin typeface="Times New Roman"/>
                <a:cs typeface="Times New Roman"/>
              </a:rPr>
              <a:t>inbox.</a:t>
            </a:r>
            <a:endParaRPr sz="2400">
              <a:latin typeface="Times New Roman"/>
              <a:cs typeface="Times New Roman"/>
            </a:endParaRPr>
          </a:p>
          <a:p>
            <a:pPr marL="240665" indent="-227965">
              <a:lnSpc>
                <a:spcPct val="100000"/>
              </a:lnSpc>
              <a:spcBef>
                <a:spcPts val="130"/>
              </a:spcBef>
              <a:buFont typeface="Arial MT"/>
              <a:buChar char="•"/>
              <a:tabLst>
                <a:tab pos="240665" algn="l"/>
              </a:tabLst>
            </a:pPr>
            <a:r>
              <a:rPr sz="2400" spc="-50" dirty="0">
                <a:latin typeface="Times New Roman"/>
                <a:cs typeface="Times New Roman"/>
              </a:rPr>
              <a:t>Your</a:t>
            </a:r>
            <a:r>
              <a:rPr sz="2400" spc="-15" dirty="0">
                <a:latin typeface="Times New Roman"/>
                <a:cs typeface="Times New Roman"/>
              </a:rPr>
              <a:t> </a:t>
            </a:r>
            <a:r>
              <a:rPr sz="2400" dirty="0">
                <a:latin typeface="Times New Roman"/>
                <a:cs typeface="Times New Roman"/>
              </a:rPr>
              <a:t>contacts</a:t>
            </a:r>
            <a:r>
              <a:rPr sz="2400" spc="-35" dirty="0">
                <a:latin typeface="Times New Roman"/>
                <a:cs typeface="Times New Roman"/>
              </a:rPr>
              <a:t> </a:t>
            </a:r>
            <a:r>
              <a:rPr sz="2400" dirty="0">
                <a:latin typeface="Times New Roman"/>
                <a:cs typeface="Times New Roman"/>
              </a:rPr>
              <a:t>may</a:t>
            </a:r>
            <a:r>
              <a:rPr sz="2400" spc="-10" dirty="0">
                <a:latin typeface="Times New Roman"/>
                <a:cs typeface="Times New Roman"/>
              </a:rPr>
              <a:t> </a:t>
            </a:r>
            <a:r>
              <a:rPr sz="2400" dirty="0">
                <a:latin typeface="Times New Roman"/>
                <a:cs typeface="Times New Roman"/>
              </a:rPr>
              <a:t>receive</a:t>
            </a:r>
            <a:r>
              <a:rPr sz="2400" spc="-50" dirty="0">
                <a:latin typeface="Times New Roman"/>
                <a:cs typeface="Times New Roman"/>
              </a:rPr>
              <a:t> </a:t>
            </a:r>
            <a:r>
              <a:rPr sz="2400" dirty="0">
                <a:latin typeface="Times New Roman"/>
                <a:cs typeface="Times New Roman"/>
              </a:rPr>
              <a:t>emails</a:t>
            </a:r>
            <a:r>
              <a:rPr sz="2400" spc="-20" dirty="0">
                <a:latin typeface="Times New Roman"/>
                <a:cs typeface="Times New Roman"/>
              </a:rPr>
              <a:t> </a:t>
            </a:r>
            <a:r>
              <a:rPr sz="2400" dirty="0">
                <a:latin typeface="Times New Roman"/>
                <a:cs typeface="Times New Roman"/>
              </a:rPr>
              <a:t>that</a:t>
            </a:r>
            <a:r>
              <a:rPr sz="2400" spc="-30" dirty="0">
                <a:latin typeface="Times New Roman"/>
                <a:cs typeface="Times New Roman"/>
              </a:rPr>
              <a:t> </a:t>
            </a:r>
            <a:r>
              <a:rPr sz="2400" dirty="0">
                <a:latin typeface="Times New Roman"/>
                <a:cs typeface="Times New Roman"/>
              </a:rPr>
              <a:t>you</a:t>
            </a:r>
            <a:r>
              <a:rPr sz="2400" spc="-10" dirty="0">
                <a:latin typeface="Times New Roman"/>
                <a:cs typeface="Times New Roman"/>
              </a:rPr>
              <a:t> </a:t>
            </a:r>
            <a:r>
              <a:rPr sz="2400" dirty="0">
                <a:latin typeface="Times New Roman"/>
                <a:cs typeface="Times New Roman"/>
              </a:rPr>
              <a:t>did</a:t>
            </a:r>
            <a:r>
              <a:rPr sz="2400" spc="-25" dirty="0">
                <a:latin typeface="Times New Roman"/>
                <a:cs typeface="Times New Roman"/>
              </a:rPr>
              <a:t> </a:t>
            </a:r>
            <a:r>
              <a:rPr sz="2400" dirty="0">
                <a:latin typeface="Times New Roman"/>
                <a:cs typeface="Times New Roman"/>
              </a:rPr>
              <a:t>not</a:t>
            </a:r>
            <a:r>
              <a:rPr sz="2400" spc="-10" dirty="0">
                <a:latin typeface="Times New Roman"/>
                <a:cs typeface="Times New Roman"/>
              </a:rPr>
              <a:t> </a:t>
            </a:r>
            <a:r>
              <a:rPr sz="2400" dirty="0">
                <a:latin typeface="Times New Roman"/>
                <a:cs typeface="Times New Roman"/>
              </a:rPr>
              <a:t>send</a:t>
            </a:r>
            <a:r>
              <a:rPr sz="2400" spc="-30" dirty="0">
                <a:latin typeface="Times New Roman"/>
                <a:cs typeface="Times New Roman"/>
              </a:rPr>
              <a:t> </a:t>
            </a:r>
            <a:r>
              <a:rPr sz="2400" dirty="0">
                <a:latin typeface="Times New Roman"/>
                <a:cs typeface="Times New Roman"/>
              </a:rPr>
              <a:t>to</a:t>
            </a:r>
            <a:r>
              <a:rPr sz="2400" spc="-10" dirty="0">
                <a:latin typeface="Times New Roman"/>
                <a:cs typeface="Times New Roman"/>
              </a:rPr>
              <a:t> them.</a:t>
            </a:r>
            <a:endParaRPr sz="2400">
              <a:latin typeface="Times New Roman"/>
              <a:cs typeface="Times New Roman"/>
            </a:endParaRPr>
          </a:p>
          <a:p>
            <a:pPr marL="240029" indent="-227329">
              <a:lnSpc>
                <a:spcPct val="100000"/>
              </a:lnSpc>
              <a:spcBef>
                <a:spcPts val="135"/>
              </a:spcBef>
              <a:buFont typeface="Arial MT"/>
              <a:buChar char="•"/>
              <a:tabLst>
                <a:tab pos="240029" algn="l"/>
              </a:tabLst>
            </a:pPr>
            <a:r>
              <a:rPr sz="2400" dirty="0">
                <a:latin typeface="Times New Roman"/>
                <a:cs typeface="Times New Roman"/>
              </a:rPr>
              <a:t>Loading</a:t>
            </a:r>
            <a:r>
              <a:rPr sz="2400" spc="-35" dirty="0">
                <a:latin typeface="Times New Roman"/>
                <a:cs typeface="Times New Roman"/>
              </a:rPr>
              <a:t> </a:t>
            </a:r>
            <a:r>
              <a:rPr sz="2400" dirty="0">
                <a:latin typeface="Times New Roman"/>
                <a:cs typeface="Times New Roman"/>
              </a:rPr>
              <a:t>of</a:t>
            </a:r>
            <a:r>
              <a:rPr sz="2400" spc="-20" dirty="0">
                <a:latin typeface="Times New Roman"/>
                <a:cs typeface="Times New Roman"/>
              </a:rPr>
              <a:t> </a:t>
            </a:r>
            <a:r>
              <a:rPr sz="2400" dirty="0">
                <a:latin typeface="Times New Roman"/>
                <a:cs typeface="Times New Roman"/>
              </a:rPr>
              <a:t>computer</a:t>
            </a:r>
            <a:r>
              <a:rPr sz="2400" spc="-10" dirty="0">
                <a:latin typeface="Times New Roman"/>
                <a:cs typeface="Times New Roman"/>
              </a:rPr>
              <a:t> </a:t>
            </a:r>
            <a:r>
              <a:rPr sz="2400" dirty="0">
                <a:latin typeface="Times New Roman"/>
                <a:cs typeface="Times New Roman"/>
              </a:rPr>
              <a:t>takes</a:t>
            </a:r>
            <a:r>
              <a:rPr sz="2400" spc="-25" dirty="0">
                <a:latin typeface="Times New Roman"/>
                <a:cs typeface="Times New Roman"/>
              </a:rPr>
              <a:t> </a:t>
            </a:r>
            <a:r>
              <a:rPr sz="2400" dirty="0">
                <a:latin typeface="Times New Roman"/>
                <a:cs typeface="Times New Roman"/>
              </a:rPr>
              <a:t>much</a:t>
            </a:r>
            <a:r>
              <a:rPr sz="2400" spc="-5" dirty="0">
                <a:latin typeface="Times New Roman"/>
                <a:cs typeface="Times New Roman"/>
              </a:rPr>
              <a:t> </a:t>
            </a:r>
            <a:r>
              <a:rPr sz="2400" spc="-10" dirty="0">
                <a:latin typeface="Times New Roman"/>
                <a:cs typeface="Times New Roman"/>
              </a:rPr>
              <a:t>longer.</a:t>
            </a:r>
            <a:endParaRPr sz="2400">
              <a:latin typeface="Times New Roman"/>
              <a:cs typeface="Times New Roman"/>
            </a:endParaRPr>
          </a:p>
          <a:p>
            <a:pPr marL="240665" indent="-227965">
              <a:lnSpc>
                <a:spcPct val="100000"/>
              </a:lnSpc>
              <a:spcBef>
                <a:spcPts val="145"/>
              </a:spcBef>
              <a:buFont typeface="Arial MT"/>
              <a:buChar char="•"/>
              <a:tabLst>
                <a:tab pos="240665" algn="l"/>
              </a:tabLst>
            </a:pPr>
            <a:r>
              <a:rPr sz="2400" spc="-50" dirty="0">
                <a:latin typeface="Times New Roman"/>
                <a:cs typeface="Times New Roman"/>
              </a:rPr>
              <a:t>Your</a:t>
            </a:r>
            <a:r>
              <a:rPr sz="2400" spc="-20" dirty="0">
                <a:latin typeface="Times New Roman"/>
                <a:cs typeface="Times New Roman"/>
              </a:rPr>
              <a:t> </a:t>
            </a:r>
            <a:r>
              <a:rPr sz="2400" dirty="0">
                <a:latin typeface="Times New Roman"/>
                <a:cs typeface="Times New Roman"/>
              </a:rPr>
              <a:t>data</a:t>
            </a:r>
            <a:r>
              <a:rPr sz="2400" spc="-20" dirty="0">
                <a:latin typeface="Times New Roman"/>
                <a:cs typeface="Times New Roman"/>
              </a:rPr>
              <a:t> </a:t>
            </a:r>
            <a:r>
              <a:rPr sz="2400" dirty="0">
                <a:latin typeface="Times New Roman"/>
                <a:cs typeface="Times New Roman"/>
              </a:rPr>
              <a:t>files</a:t>
            </a:r>
            <a:r>
              <a:rPr sz="2400" spc="-25" dirty="0">
                <a:latin typeface="Times New Roman"/>
                <a:cs typeface="Times New Roman"/>
              </a:rPr>
              <a:t> </a:t>
            </a:r>
            <a:r>
              <a:rPr sz="2400" dirty="0">
                <a:latin typeface="Times New Roman"/>
                <a:cs typeface="Times New Roman"/>
              </a:rPr>
              <a:t>are</a:t>
            </a:r>
            <a:r>
              <a:rPr sz="2400" spc="-40" dirty="0">
                <a:latin typeface="Times New Roman"/>
                <a:cs typeface="Times New Roman"/>
              </a:rPr>
              <a:t> </a:t>
            </a:r>
            <a:r>
              <a:rPr sz="2400" dirty="0">
                <a:latin typeface="Times New Roman"/>
                <a:cs typeface="Times New Roman"/>
              </a:rPr>
              <a:t>deleted</a:t>
            </a:r>
            <a:r>
              <a:rPr sz="2400" spc="-45" dirty="0">
                <a:latin typeface="Times New Roman"/>
                <a:cs typeface="Times New Roman"/>
              </a:rPr>
              <a:t> </a:t>
            </a:r>
            <a:r>
              <a:rPr sz="2400" dirty="0">
                <a:latin typeface="Times New Roman"/>
                <a:cs typeface="Times New Roman"/>
              </a:rPr>
              <a:t>or</a:t>
            </a:r>
            <a:r>
              <a:rPr sz="2400" spc="-15" dirty="0">
                <a:latin typeface="Times New Roman"/>
                <a:cs typeface="Times New Roman"/>
              </a:rPr>
              <a:t> </a:t>
            </a:r>
            <a:r>
              <a:rPr sz="2400" spc="-10" dirty="0">
                <a:latin typeface="Times New Roman"/>
                <a:cs typeface="Times New Roman"/>
              </a:rPr>
              <a:t>modified.</a:t>
            </a:r>
            <a:endParaRPr sz="2400">
              <a:latin typeface="Times New Roman"/>
              <a:cs typeface="Times New Roman"/>
            </a:endParaRPr>
          </a:p>
        </p:txBody>
      </p:sp>
    </p:spTree>
    <p:extLst>
      <p:ext uri="{BB962C8B-B14F-4D97-AF65-F5344CB8AC3E}">
        <p14:creationId xmlns:p14="http://schemas.microsoft.com/office/powerpoint/2010/main" val="6620997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7319" rIns="0" bIns="0" rtlCol="0">
            <a:spAutoFit/>
          </a:bodyPr>
          <a:lstStyle/>
          <a:p>
            <a:pPr marL="12700">
              <a:lnSpc>
                <a:spcPct val="100000"/>
              </a:lnSpc>
              <a:spcBef>
                <a:spcPts val="105"/>
              </a:spcBef>
            </a:pPr>
            <a:r>
              <a:rPr spc="-10" dirty="0"/>
              <a:t>ROOTKIT</a:t>
            </a:r>
          </a:p>
        </p:txBody>
      </p:sp>
      <p:pic>
        <p:nvPicPr>
          <p:cNvPr id="3" name="object 3"/>
          <p:cNvPicPr/>
          <p:nvPr/>
        </p:nvPicPr>
        <p:blipFill>
          <a:blip r:embed="rId2" cstate="print"/>
          <a:stretch>
            <a:fillRect/>
          </a:stretch>
        </p:blipFill>
        <p:spPr>
          <a:xfrm>
            <a:off x="1886711" y="1915667"/>
            <a:ext cx="8420100" cy="4171187"/>
          </a:xfrm>
          <a:prstGeom prst="rect">
            <a:avLst/>
          </a:prstGeom>
        </p:spPr>
      </p:pic>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Tree>
    <p:extLst>
      <p:ext uri="{BB962C8B-B14F-4D97-AF65-F5344CB8AC3E}">
        <p14:creationId xmlns:p14="http://schemas.microsoft.com/office/powerpoint/2010/main" val="33171465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35127" rIns="0" bIns="0" rtlCol="0">
            <a:spAutoFit/>
          </a:bodyPr>
          <a:lstStyle/>
          <a:p>
            <a:pPr marL="12700">
              <a:lnSpc>
                <a:spcPct val="100000"/>
              </a:lnSpc>
              <a:spcBef>
                <a:spcPts val="105"/>
              </a:spcBef>
            </a:pPr>
            <a:r>
              <a:rPr spc="-10" dirty="0"/>
              <a:t>ROOTKIT</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3" name="object 3"/>
          <p:cNvSpPr txBox="1"/>
          <p:nvPr/>
        </p:nvSpPr>
        <p:spPr>
          <a:xfrm>
            <a:off x="916939" y="1804161"/>
            <a:ext cx="10327640" cy="3395345"/>
          </a:xfrm>
          <a:prstGeom prst="rect">
            <a:avLst/>
          </a:prstGeom>
        </p:spPr>
        <p:txBody>
          <a:bodyPr vert="horz" wrap="square" lIns="0" tIns="54610" rIns="0" bIns="0" rtlCol="0">
            <a:spAutoFit/>
          </a:bodyPr>
          <a:lstStyle/>
          <a:p>
            <a:pPr marL="240029" marR="5080" indent="-227965">
              <a:lnSpc>
                <a:spcPct val="90000"/>
              </a:lnSpc>
              <a:spcBef>
                <a:spcPts val="430"/>
              </a:spcBef>
              <a:buFont typeface="Arial MT"/>
              <a:buChar char="•"/>
              <a:tabLst>
                <a:tab pos="241300" algn="l"/>
              </a:tabLst>
            </a:pPr>
            <a:r>
              <a:rPr sz="2800" i="1" u="sng" dirty="0">
                <a:uFill>
                  <a:solidFill>
                    <a:srgbClr val="000000"/>
                  </a:solidFill>
                </a:uFill>
                <a:latin typeface="Times New Roman"/>
                <a:cs typeface="Times New Roman"/>
              </a:rPr>
              <a:t>Rootkit</a:t>
            </a:r>
            <a:r>
              <a:rPr sz="2800" i="1" spc="-30" dirty="0">
                <a:latin typeface="Times New Roman"/>
                <a:cs typeface="Times New Roman"/>
              </a:rPr>
              <a:t> </a:t>
            </a:r>
            <a:r>
              <a:rPr sz="2800" dirty="0">
                <a:latin typeface="Times New Roman"/>
                <a:cs typeface="Times New Roman"/>
              </a:rPr>
              <a:t>is</a:t>
            </a:r>
            <a:r>
              <a:rPr sz="2800" spc="-15" dirty="0">
                <a:latin typeface="Times New Roman"/>
                <a:cs typeface="Times New Roman"/>
              </a:rPr>
              <a:t> </a:t>
            </a:r>
            <a:r>
              <a:rPr sz="2800" dirty="0">
                <a:latin typeface="Times New Roman"/>
                <a:cs typeface="Times New Roman"/>
              </a:rPr>
              <a:t>a</a:t>
            </a:r>
            <a:r>
              <a:rPr sz="2800" spc="-15" dirty="0">
                <a:latin typeface="Times New Roman"/>
                <a:cs typeface="Times New Roman"/>
              </a:rPr>
              <a:t> </a:t>
            </a:r>
            <a:r>
              <a:rPr sz="2800" dirty="0">
                <a:latin typeface="Times New Roman"/>
                <a:cs typeface="Times New Roman"/>
              </a:rPr>
              <a:t>type</a:t>
            </a:r>
            <a:r>
              <a:rPr sz="2800" spc="-20" dirty="0">
                <a:latin typeface="Times New Roman"/>
                <a:cs typeface="Times New Roman"/>
              </a:rPr>
              <a:t> </a:t>
            </a:r>
            <a:r>
              <a:rPr sz="2800" dirty="0">
                <a:latin typeface="Times New Roman"/>
                <a:cs typeface="Times New Roman"/>
              </a:rPr>
              <a:t>of</a:t>
            </a:r>
            <a:r>
              <a:rPr sz="2800" spc="-5" dirty="0">
                <a:latin typeface="Times New Roman"/>
                <a:cs typeface="Times New Roman"/>
              </a:rPr>
              <a:t> </a:t>
            </a:r>
            <a:r>
              <a:rPr sz="2800" dirty="0">
                <a:latin typeface="Times New Roman"/>
                <a:cs typeface="Times New Roman"/>
              </a:rPr>
              <a:t>malware</a:t>
            </a:r>
            <a:r>
              <a:rPr sz="2800" spc="5" dirty="0">
                <a:latin typeface="Times New Roman"/>
                <a:cs typeface="Times New Roman"/>
              </a:rPr>
              <a:t> </a:t>
            </a:r>
            <a:r>
              <a:rPr sz="2800" dirty="0">
                <a:latin typeface="Times New Roman"/>
                <a:cs typeface="Times New Roman"/>
              </a:rPr>
              <a:t>that</a:t>
            </a:r>
            <a:r>
              <a:rPr sz="2800" spc="-30" dirty="0">
                <a:latin typeface="Times New Roman"/>
                <a:cs typeface="Times New Roman"/>
              </a:rPr>
              <a:t> </a:t>
            </a:r>
            <a:r>
              <a:rPr sz="2800" dirty="0">
                <a:latin typeface="Times New Roman"/>
                <a:cs typeface="Times New Roman"/>
              </a:rPr>
              <a:t>gets</a:t>
            </a:r>
            <a:r>
              <a:rPr sz="2800" spc="-15" dirty="0">
                <a:latin typeface="Times New Roman"/>
                <a:cs typeface="Times New Roman"/>
              </a:rPr>
              <a:t> </a:t>
            </a:r>
            <a:r>
              <a:rPr sz="2800" dirty="0">
                <a:latin typeface="Times New Roman"/>
                <a:cs typeface="Times New Roman"/>
              </a:rPr>
              <a:t>the</a:t>
            </a:r>
            <a:r>
              <a:rPr sz="2800" spc="-20" dirty="0">
                <a:latin typeface="Times New Roman"/>
                <a:cs typeface="Times New Roman"/>
              </a:rPr>
              <a:t> </a:t>
            </a:r>
            <a:r>
              <a:rPr sz="2800" spc="-10" dirty="0">
                <a:latin typeface="Times New Roman"/>
                <a:cs typeface="Times New Roman"/>
              </a:rPr>
              <a:t>administrator-</a:t>
            </a:r>
            <a:r>
              <a:rPr sz="2800" dirty="0">
                <a:latin typeface="Times New Roman"/>
                <a:cs typeface="Times New Roman"/>
              </a:rPr>
              <a:t>level</a:t>
            </a:r>
            <a:r>
              <a:rPr sz="2800" spc="-40" dirty="0">
                <a:latin typeface="Times New Roman"/>
                <a:cs typeface="Times New Roman"/>
              </a:rPr>
              <a:t> </a:t>
            </a:r>
            <a:r>
              <a:rPr sz="2800" spc="-10" dirty="0">
                <a:latin typeface="Times New Roman"/>
                <a:cs typeface="Times New Roman"/>
              </a:rPr>
              <a:t>privileges 	</a:t>
            </a:r>
            <a:r>
              <a:rPr sz="2800" dirty="0">
                <a:latin typeface="Times New Roman"/>
                <a:cs typeface="Times New Roman"/>
              </a:rPr>
              <a:t>on</a:t>
            </a:r>
            <a:r>
              <a:rPr sz="2800" spc="-25" dirty="0">
                <a:latin typeface="Times New Roman"/>
                <a:cs typeface="Times New Roman"/>
              </a:rPr>
              <a:t> </a:t>
            </a:r>
            <a:r>
              <a:rPr sz="2800" dirty="0">
                <a:latin typeface="Times New Roman"/>
                <a:cs typeface="Times New Roman"/>
              </a:rPr>
              <a:t>the</a:t>
            </a:r>
            <a:r>
              <a:rPr sz="2800" spc="-45" dirty="0">
                <a:latin typeface="Times New Roman"/>
                <a:cs typeface="Times New Roman"/>
              </a:rPr>
              <a:t> </a:t>
            </a:r>
            <a:r>
              <a:rPr sz="2800" dirty="0">
                <a:latin typeface="Times New Roman"/>
                <a:cs typeface="Times New Roman"/>
              </a:rPr>
              <a:t>OS</a:t>
            </a:r>
            <a:r>
              <a:rPr sz="2800" spc="-15" dirty="0">
                <a:latin typeface="Times New Roman"/>
                <a:cs typeface="Times New Roman"/>
              </a:rPr>
              <a:t> </a:t>
            </a:r>
            <a:r>
              <a:rPr sz="2800" dirty="0">
                <a:latin typeface="Times New Roman"/>
                <a:cs typeface="Times New Roman"/>
              </a:rPr>
              <a:t>of</a:t>
            </a:r>
            <a:r>
              <a:rPr sz="2800" spc="-20" dirty="0">
                <a:latin typeface="Times New Roman"/>
                <a:cs typeface="Times New Roman"/>
              </a:rPr>
              <a:t> </a:t>
            </a:r>
            <a:r>
              <a:rPr sz="2800" dirty="0">
                <a:latin typeface="Times New Roman"/>
                <a:cs typeface="Times New Roman"/>
              </a:rPr>
              <a:t>the</a:t>
            </a:r>
            <a:r>
              <a:rPr sz="2800" spc="-35" dirty="0">
                <a:latin typeface="Times New Roman"/>
                <a:cs typeface="Times New Roman"/>
              </a:rPr>
              <a:t> </a:t>
            </a:r>
            <a:r>
              <a:rPr sz="2800" dirty="0">
                <a:latin typeface="Times New Roman"/>
                <a:cs typeface="Times New Roman"/>
              </a:rPr>
              <a:t>computer</a:t>
            </a:r>
            <a:r>
              <a:rPr sz="2800" spc="-30" dirty="0">
                <a:latin typeface="Times New Roman"/>
                <a:cs typeface="Times New Roman"/>
              </a:rPr>
              <a:t> </a:t>
            </a:r>
            <a:r>
              <a:rPr sz="2800" dirty="0">
                <a:latin typeface="Times New Roman"/>
                <a:cs typeface="Times New Roman"/>
              </a:rPr>
              <a:t>without</a:t>
            </a:r>
            <a:r>
              <a:rPr sz="2800" spc="-40" dirty="0">
                <a:latin typeface="Times New Roman"/>
                <a:cs typeface="Times New Roman"/>
              </a:rPr>
              <a:t> </a:t>
            </a:r>
            <a:r>
              <a:rPr sz="2800" dirty="0">
                <a:latin typeface="Times New Roman"/>
                <a:cs typeface="Times New Roman"/>
              </a:rPr>
              <a:t>showing</a:t>
            </a:r>
            <a:r>
              <a:rPr sz="2800" spc="-40" dirty="0">
                <a:latin typeface="Times New Roman"/>
                <a:cs typeface="Times New Roman"/>
              </a:rPr>
              <a:t> </a:t>
            </a:r>
            <a:r>
              <a:rPr sz="2800" dirty="0">
                <a:latin typeface="Times New Roman"/>
                <a:cs typeface="Times New Roman"/>
              </a:rPr>
              <a:t>its</a:t>
            </a:r>
            <a:r>
              <a:rPr sz="2800" spc="-30" dirty="0">
                <a:latin typeface="Times New Roman"/>
                <a:cs typeface="Times New Roman"/>
              </a:rPr>
              <a:t> </a:t>
            </a:r>
            <a:r>
              <a:rPr sz="2800" dirty="0">
                <a:latin typeface="Times New Roman"/>
                <a:cs typeface="Times New Roman"/>
              </a:rPr>
              <a:t>presence</a:t>
            </a:r>
            <a:r>
              <a:rPr sz="2800" spc="-40" dirty="0">
                <a:latin typeface="Times New Roman"/>
                <a:cs typeface="Times New Roman"/>
              </a:rPr>
              <a:t> </a:t>
            </a:r>
            <a:r>
              <a:rPr sz="2800" dirty="0">
                <a:latin typeface="Times New Roman"/>
                <a:cs typeface="Times New Roman"/>
              </a:rPr>
              <a:t>on</a:t>
            </a:r>
            <a:r>
              <a:rPr sz="2800" spc="-25" dirty="0">
                <a:latin typeface="Times New Roman"/>
                <a:cs typeface="Times New Roman"/>
              </a:rPr>
              <a:t> the 	</a:t>
            </a:r>
            <a:r>
              <a:rPr sz="2800" spc="-10" dirty="0">
                <a:latin typeface="Times New Roman"/>
                <a:cs typeface="Times New Roman"/>
              </a:rPr>
              <a:t>computer.</a:t>
            </a:r>
            <a:endParaRPr sz="2800">
              <a:latin typeface="Times New Roman"/>
              <a:cs typeface="Times New Roman"/>
            </a:endParaRPr>
          </a:p>
          <a:p>
            <a:pPr marL="240029" marR="209550" indent="-227965" algn="just">
              <a:lnSpc>
                <a:spcPts val="3020"/>
              </a:lnSpc>
              <a:spcBef>
                <a:spcPts val="1055"/>
              </a:spcBef>
              <a:buFont typeface="Arial MT"/>
              <a:buChar char="•"/>
              <a:tabLst>
                <a:tab pos="241300" algn="l"/>
              </a:tabLst>
            </a:pPr>
            <a:r>
              <a:rPr sz="2800" dirty="0">
                <a:latin typeface="Times New Roman"/>
                <a:cs typeface="Times New Roman"/>
              </a:rPr>
              <a:t>The</a:t>
            </a:r>
            <a:r>
              <a:rPr sz="2800" spc="-30" dirty="0">
                <a:latin typeface="Times New Roman"/>
                <a:cs typeface="Times New Roman"/>
              </a:rPr>
              <a:t> </a:t>
            </a:r>
            <a:r>
              <a:rPr sz="2800" dirty="0">
                <a:latin typeface="Times New Roman"/>
                <a:cs typeface="Times New Roman"/>
              </a:rPr>
              <a:t>main</a:t>
            </a:r>
            <a:r>
              <a:rPr sz="2800" spc="-20" dirty="0">
                <a:latin typeface="Times New Roman"/>
                <a:cs typeface="Times New Roman"/>
              </a:rPr>
              <a:t> </a:t>
            </a:r>
            <a:r>
              <a:rPr sz="2800" dirty="0">
                <a:latin typeface="Times New Roman"/>
                <a:cs typeface="Times New Roman"/>
              </a:rPr>
              <a:t>feature</a:t>
            </a:r>
            <a:r>
              <a:rPr sz="2800" spc="-30" dirty="0">
                <a:latin typeface="Times New Roman"/>
                <a:cs typeface="Times New Roman"/>
              </a:rPr>
              <a:t> </a:t>
            </a:r>
            <a:r>
              <a:rPr sz="2800" dirty="0">
                <a:latin typeface="Times New Roman"/>
                <a:cs typeface="Times New Roman"/>
              </a:rPr>
              <a:t>of</a:t>
            </a:r>
            <a:r>
              <a:rPr sz="2800" spc="-20" dirty="0">
                <a:latin typeface="Times New Roman"/>
                <a:cs typeface="Times New Roman"/>
              </a:rPr>
              <a:t> </a:t>
            </a:r>
            <a:r>
              <a:rPr sz="2800" dirty="0">
                <a:latin typeface="Times New Roman"/>
                <a:cs typeface="Times New Roman"/>
              </a:rPr>
              <a:t>rootkit</a:t>
            </a:r>
            <a:r>
              <a:rPr sz="2800" spc="-50" dirty="0">
                <a:latin typeface="Times New Roman"/>
                <a:cs typeface="Times New Roman"/>
              </a:rPr>
              <a:t> </a:t>
            </a:r>
            <a:r>
              <a:rPr sz="2800" dirty="0">
                <a:latin typeface="Times New Roman"/>
                <a:cs typeface="Times New Roman"/>
              </a:rPr>
              <a:t>is</a:t>
            </a:r>
            <a:r>
              <a:rPr sz="2800" spc="-30" dirty="0">
                <a:latin typeface="Times New Roman"/>
                <a:cs typeface="Times New Roman"/>
              </a:rPr>
              <a:t> </a:t>
            </a:r>
            <a:r>
              <a:rPr sz="2800" dirty="0">
                <a:latin typeface="Times New Roman"/>
                <a:cs typeface="Times New Roman"/>
              </a:rPr>
              <a:t>that</a:t>
            </a:r>
            <a:r>
              <a:rPr sz="2800" spc="-45" dirty="0">
                <a:latin typeface="Times New Roman"/>
                <a:cs typeface="Times New Roman"/>
              </a:rPr>
              <a:t> </a:t>
            </a:r>
            <a:r>
              <a:rPr sz="2800" dirty="0">
                <a:latin typeface="Times New Roman"/>
                <a:cs typeface="Times New Roman"/>
              </a:rPr>
              <a:t>it</a:t>
            </a:r>
            <a:r>
              <a:rPr sz="2800" spc="-30" dirty="0">
                <a:latin typeface="Times New Roman"/>
                <a:cs typeface="Times New Roman"/>
              </a:rPr>
              <a:t> </a:t>
            </a:r>
            <a:r>
              <a:rPr sz="2800" dirty="0">
                <a:latin typeface="Times New Roman"/>
                <a:cs typeface="Times New Roman"/>
              </a:rPr>
              <a:t>hides</a:t>
            </a:r>
            <a:r>
              <a:rPr sz="2800" spc="-50" dirty="0">
                <a:latin typeface="Times New Roman"/>
                <a:cs typeface="Times New Roman"/>
              </a:rPr>
              <a:t> </a:t>
            </a:r>
            <a:r>
              <a:rPr sz="2800" dirty="0">
                <a:latin typeface="Times New Roman"/>
                <a:cs typeface="Times New Roman"/>
              </a:rPr>
              <a:t>from</a:t>
            </a:r>
            <a:r>
              <a:rPr sz="2800" spc="-30" dirty="0">
                <a:latin typeface="Times New Roman"/>
                <a:cs typeface="Times New Roman"/>
              </a:rPr>
              <a:t> </a:t>
            </a:r>
            <a:r>
              <a:rPr sz="2800" dirty="0">
                <a:latin typeface="Times New Roman"/>
                <a:cs typeface="Times New Roman"/>
              </a:rPr>
              <a:t>being</a:t>
            </a:r>
            <a:r>
              <a:rPr sz="2800" spc="-35" dirty="0">
                <a:latin typeface="Times New Roman"/>
                <a:cs typeface="Times New Roman"/>
              </a:rPr>
              <a:t> </a:t>
            </a:r>
            <a:r>
              <a:rPr sz="2800" dirty="0">
                <a:latin typeface="Times New Roman"/>
                <a:cs typeface="Times New Roman"/>
              </a:rPr>
              <a:t>detected</a:t>
            </a:r>
            <a:r>
              <a:rPr sz="2800" spc="-30" dirty="0">
                <a:latin typeface="Times New Roman"/>
                <a:cs typeface="Times New Roman"/>
              </a:rPr>
              <a:t> </a:t>
            </a:r>
            <a:r>
              <a:rPr sz="2800" spc="-10" dirty="0">
                <a:latin typeface="Times New Roman"/>
                <a:cs typeface="Times New Roman"/>
              </a:rPr>
              <a:t>easily, 	</a:t>
            </a:r>
            <a:r>
              <a:rPr sz="2800" dirty="0">
                <a:latin typeface="Times New Roman"/>
                <a:cs typeface="Times New Roman"/>
              </a:rPr>
              <a:t>but</a:t>
            </a:r>
            <a:r>
              <a:rPr sz="2800" spc="-30" dirty="0">
                <a:latin typeface="Times New Roman"/>
                <a:cs typeface="Times New Roman"/>
              </a:rPr>
              <a:t> </a:t>
            </a:r>
            <a:r>
              <a:rPr sz="2800" dirty="0">
                <a:latin typeface="Times New Roman"/>
                <a:cs typeface="Times New Roman"/>
              </a:rPr>
              <a:t>maintains</a:t>
            </a:r>
            <a:r>
              <a:rPr sz="2800" spc="-15" dirty="0">
                <a:latin typeface="Times New Roman"/>
                <a:cs typeface="Times New Roman"/>
              </a:rPr>
              <a:t> </a:t>
            </a:r>
            <a:r>
              <a:rPr sz="2800" dirty="0">
                <a:latin typeface="Times New Roman"/>
                <a:cs typeface="Times New Roman"/>
              </a:rPr>
              <a:t>the</a:t>
            </a:r>
            <a:r>
              <a:rPr sz="2800" spc="-25" dirty="0">
                <a:latin typeface="Times New Roman"/>
                <a:cs typeface="Times New Roman"/>
              </a:rPr>
              <a:t> </a:t>
            </a:r>
            <a:r>
              <a:rPr sz="2800" dirty="0">
                <a:latin typeface="Times New Roman"/>
                <a:cs typeface="Times New Roman"/>
              </a:rPr>
              <a:t>control</a:t>
            </a:r>
            <a:r>
              <a:rPr sz="2800" spc="-40" dirty="0">
                <a:latin typeface="Times New Roman"/>
                <a:cs typeface="Times New Roman"/>
              </a:rPr>
              <a:t> </a:t>
            </a:r>
            <a:r>
              <a:rPr sz="2800" dirty="0">
                <a:latin typeface="Times New Roman"/>
                <a:cs typeface="Times New Roman"/>
              </a:rPr>
              <a:t>over</a:t>
            </a:r>
            <a:r>
              <a:rPr sz="2800" spc="-15" dirty="0">
                <a:latin typeface="Times New Roman"/>
                <a:cs typeface="Times New Roman"/>
              </a:rPr>
              <a:t> </a:t>
            </a:r>
            <a:r>
              <a:rPr sz="2800" dirty="0">
                <a:latin typeface="Times New Roman"/>
                <a:cs typeface="Times New Roman"/>
              </a:rPr>
              <a:t>the</a:t>
            </a:r>
            <a:r>
              <a:rPr sz="2800" spc="-20" dirty="0">
                <a:latin typeface="Times New Roman"/>
                <a:cs typeface="Times New Roman"/>
              </a:rPr>
              <a:t> </a:t>
            </a:r>
            <a:r>
              <a:rPr sz="2800" dirty="0">
                <a:latin typeface="Times New Roman"/>
                <a:cs typeface="Times New Roman"/>
              </a:rPr>
              <a:t>OS</a:t>
            </a:r>
            <a:r>
              <a:rPr sz="2800" spc="-10" dirty="0">
                <a:latin typeface="Times New Roman"/>
                <a:cs typeface="Times New Roman"/>
              </a:rPr>
              <a:t> </a:t>
            </a:r>
            <a:r>
              <a:rPr sz="2800" dirty="0">
                <a:latin typeface="Times New Roman"/>
                <a:cs typeface="Times New Roman"/>
              </a:rPr>
              <a:t>to</a:t>
            </a:r>
            <a:r>
              <a:rPr sz="2800" spc="-15" dirty="0">
                <a:latin typeface="Times New Roman"/>
                <a:cs typeface="Times New Roman"/>
              </a:rPr>
              <a:t> </a:t>
            </a:r>
            <a:r>
              <a:rPr sz="2800" spc="-25" dirty="0">
                <a:latin typeface="Times New Roman"/>
                <a:cs typeface="Times New Roman"/>
              </a:rPr>
              <a:t>per-</a:t>
            </a:r>
            <a:r>
              <a:rPr sz="2800" dirty="0">
                <a:latin typeface="Times New Roman"/>
                <a:cs typeface="Times New Roman"/>
              </a:rPr>
              <a:t>form</a:t>
            </a:r>
            <a:r>
              <a:rPr sz="2800" spc="-5" dirty="0">
                <a:latin typeface="Times New Roman"/>
                <a:cs typeface="Times New Roman"/>
              </a:rPr>
              <a:t> </a:t>
            </a:r>
            <a:r>
              <a:rPr sz="2800" dirty="0">
                <a:latin typeface="Times New Roman"/>
                <a:cs typeface="Times New Roman"/>
              </a:rPr>
              <a:t>its</a:t>
            </a:r>
            <a:r>
              <a:rPr sz="2800" spc="-20" dirty="0">
                <a:latin typeface="Times New Roman"/>
                <a:cs typeface="Times New Roman"/>
              </a:rPr>
              <a:t> </a:t>
            </a:r>
            <a:r>
              <a:rPr sz="2800" dirty="0">
                <a:latin typeface="Times New Roman"/>
                <a:cs typeface="Times New Roman"/>
              </a:rPr>
              <a:t>designated</a:t>
            </a:r>
            <a:r>
              <a:rPr sz="2800" spc="-40" dirty="0">
                <a:latin typeface="Times New Roman"/>
                <a:cs typeface="Times New Roman"/>
              </a:rPr>
              <a:t> </a:t>
            </a:r>
            <a:r>
              <a:rPr sz="2800" spc="-10" dirty="0">
                <a:latin typeface="Times New Roman"/>
                <a:cs typeface="Times New Roman"/>
              </a:rPr>
              <a:t>tasks 	</a:t>
            </a:r>
            <a:r>
              <a:rPr sz="2800" dirty="0">
                <a:latin typeface="Times New Roman"/>
                <a:cs typeface="Times New Roman"/>
              </a:rPr>
              <a:t>on</a:t>
            </a:r>
            <a:r>
              <a:rPr sz="2800" spc="-10" dirty="0">
                <a:latin typeface="Times New Roman"/>
                <a:cs typeface="Times New Roman"/>
              </a:rPr>
              <a:t> </a:t>
            </a:r>
            <a:r>
              <a:rPr sz="2800" dirty="0">
                <a:latin typeface="Times New Roman"/>
                <a:cs typeface="Times New Roman"/>
              </a:rPr>
              <a:t>the</a:t>
            </a:r>
            <a:r>
              <a:rPr sz="2800" spc="-30" dirty="0">
                <a:latin typeface="Times New Roman"/>
                <a:cs typeface="Times New Roman"/>
              </a:rPr>
              <a:t> </a:t>
            </a:r>
            <a:r>
              <a:rPr sz="2800" spc="-10" dirty="0">
                <a:latin typeface="Times New Roman"/>
                <a:cs typeface="Times New Roman"/>
              </a:rPr>
              <a:t>system.</a:t>
            </a:r>
            <a:endParaRPr sz="2800">
              <a:latin typeface="Times New Roman"/>
              <a:cs typeface="Times New Roman"/>
            </a:endParaRPr>
          </a:p>
          <a:p>
            <a:pPr marL="240029" marR="96520" indent="-227965" algn="just">
              <a:lnSpc>
                <a:spcPts val="3020"/>
              </a:lnSpc>
              <a:spcBef>
                <a:spcPts val="1010"/>
              </a:spcBef>
              <a:buFont typeface="Arial MT"/>
              <a:buChar char="•"/>
              <a:tabLst>
                <a:tab pos="241300" algn="l"/>
              </a:tabLst>
            </a:pPr>
            <a:r>
              <a:rPr sz="2800" dirty="0">
                <a:latin typeface="Times New Roman"/>
                <a:cs typeface="Times New Roman"/>
              </a:rPr>
              <a:t>The</a:t>
            </a:r>
            <a:r>
              <a:rPr sz="2800" spc="-35" dirty="0">
                <a:latin typeface="Times New Roman"/>
                <a:cs typeface="Times New Roman"/>
              </a:rPr>
              <a:t> </a:t>
            </a:r>
            <a:r>
              <a:rPr sz="2800" dirty="0">
                <a:latin typeface="Times New Roman"/>
                <a:cs typeface="Times New Roman"/>
              </a:rPr>
              <a:t>normal</a:t>
            </a:r>
            <a:r>
              <a:rPr sz="2800" spc="-40" dirty="0">
                <a:latin typeface="Times New Roman"/>
                <a:cs typeface="Times New Roman"/>
              </a:rPr>
              <a:t> </a:t>
            </a:r>
            <a:r>
              <a:rPr sz="2800" dirty="0">
                <a:latin typeface="Times New Roman"/>
                <a:cs typeface="Times New Roman"/>
              </a:rPr>
              <a:t>behavior</a:t>
            </a:r>
            <a:r>
              <a:rPr sz="2800" spc="-50" dirty="0">
                <a:latin typeface="Times New Roman"/>
                <a:cs typeface="Times New Roman"/>
              </a:rPr>
              <a:t> </a:t>
            </a:r>
            <a:r>
              <a:rPr sz="2800" dirty="0">
                <a:latin typeface="Times New Roman"/>
                <a:cs typeface="Times New Roman"/>
              </a:rPr>
              <a:t>of</a:t>
            </a:r>
            <a:r>
              <a:rPr sz="2800" spc="-30" dirty="0">
                <a:latin typeface="Times New Roman"/>
                <a:cs typeface="Times New Roman"/>
              </a:rPr>
              <a:t> </a:t>
            </a:r>
            <a:r>
              <a:rPr sz="2800" dirty="0">
                <a:latin typeface="Times New Roman"/>
                <a:cs typeface="Times New Roman"/>
              </a:rPr>
              <a:t>the</a:t>
            </a:r>
            <a:r>
              <a:rPr sz="2800" spc="-50" dirty="0">
                <a:latin typeface="Times New Roman"/>
                <a:cs typeface="Times New Roman"/>
              </a:rPr>
              <a:t> </a:t>
            </a:r>
            <a:r>
              <a:rPr sz="2800" dirty="0">
                <a:latin typeface="Times New Roman"/>
                <a:cs typeface="Times New Roman"/>
              </a:rPr>
              <a:t>OS</a:t>
            </a:r>
            <a:r>
              <a:rPr sz="2800" spc="-20" dirty="0">
                <a:latin typeface="Times New Roman"/>
                <a:cs typeface="Times New Roman"/>
              </a:rPr>
              <a:t> </a:t>
            </a:r>
            <a:r>
              <a:rPr sz="2800" dirty="0">
                <a:latin typeface="Times New Roman"/>
                <a:cs typeface="Times New Roman"/>
              </a:rPr>
              <a:t>is</a:t>
            </a:r>
            <a:r>
              <a:rPr sz="2800" spc="-40" dirty="0">
                <a:latin typeface="Times New Roman"/>
                <a:cs typeface="Times New Roman"/>
              </a:rPr>
              <a:t> </a:t>
            </a:r>
            <a:r>
              <a:rPr sz="2800" dirty="0">
                <a:latin typeface="Times New Roman"/>
                <a:cs typeface="Times New Roman"/>
              </a:rPr>
              <a:t>subverted</a:t>
            </a:r>
            <a:r>
              <a:rPr sz="2800" spc="-45" dirty="0">
                <a:latin typeface="Times New Roman"/>
                <a:cs typeface="Times New Roman"/>
              </a:rPr>
              <a:t> </a:t>
            </a:r>
            <a:r>
              <a:rPr sz="2800" dirty="0">
                <a:latin typeface="Times New Roman"/>
                <a:cs typeface="Times New Roman"/>
              </a:rPr>
              <a:t>by</a:t>
            </a:r>
            <a:r>
              <a:rPr sz="2800" spc="-45" dirty="0">
                <a:latin typeface="Times New Roman"/>
                <a:cs typeface="Times New Roman"/>
              </a:rPr>
              <a:t> </a:t>
            </a:r>
            <a:r>
              <a:rPr sz="2800" dirty="0">
                <a:latin typeface="Times New Roman"/>
                <a:cs typeface="Times New Roman"/>
              </a:rPr>
              <a:t>the</a:t>
            </a:r>
            <a:r>
              <a:rPr sz="2800" spc="-45" dirty="0">
                <a:latin typeface="Times New Roman"/>
                <a:cs typeface="Times New Roman"/>
              </a:rPr>
              <a:t> </a:t>
            </a:r>
            <a:r>
              <a:rPr sz="2800" dirty="0">
                <a:latin typeface="Times New Roman"/>
                <a:cs typeface="Times New Roman"/>
              </a:rPr>
              <a:t>rootkit</a:t>
            </a:r>
            <a:r>
              <a:rPr sz="2800" spc="-60" dirty="0">
                <a:latin typeface="Times New Roman"/>
                <a:cs typeface="Times New Roman"/>
              </a:rPr>
              <a:t> </a:t>
            </a:r>
            <a:r>
              <a:rPr sz="2800" dirty="0">
                <a:latin typeface="Times New Roman"/>
                <a:cs typeface="Times New Roman"/>
              </a:rPr>
              <a:t>malware</a:t>
            </a:r>
            <a:r>
              <a:rPr sz="2800" spc="-15" dirty="0">
                <a:latin typeface="Times New Roman"/>
                <a:cs typeface="Times New Roman"/>
              </a:rPr>
              <a:t> </a:t>
            </a:r>
            <a:r>
              <a:rPr sz="2800" spc="-25" dirty="0">
                <a:latin typeface="Times New Roman"/>
                <a:cs typeface="Times New Roman"/>
              </a:rPr>
              <a:t>on 	</a:t>
            </a:r>
            <a:r>
              <a:rPr sz="2800" dirty="0">
                <a:latin typeface="Times New Roman"/>
                <a:cs typeface="Times New Roman"/>
              </a:rPr>
              <a:t>the</a:t>
            </a:r>
            <a:r>
              <a:rPr sz="2800" spc="-30" dirty="0">
                <a:latin typeface="Times New Roman"/>
                <a:cs typeface="Times New Roman"/>
              </a:rPr>
              <a:t> </a:t>
            </a:r>
            <a:r>
              <a:rPr sz="2800" spc="-10" dirty="0">
                <a:latin typeface="Times New Roman"/>
                <a:cs typeface="Times New Roman"/>
              </a:rPr>
              <a:t>system.</a:t>
            </a:r>
            <a:endParaRPr sz="2800">
              <a:latin typeface="Times New Roman"/>
              <a:cs typeface="Times New Roman"/>
            </a:endParaRPr>
          </a:p>
        </p:txBody>
      </p:sp>
    </p:spTree>
    <p:extLst>
      <p:ext uri="{BB962C8B-B14F-4D97-AF65-F5344CB8AC3E}">
        <p14:creationId xmlns:p14="http://schemas.microsoft.com/office/powerpoint/2010/main" val="11579955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5457" rIns="0" bIns="0" rtlCol="0">
            <a:spAutoFit/>
          </a:bodyPr>
          <a:lstStyle/>
          <a:p>
            <a:pPr marL="12700">
              <a:lnSpc>
                <a:spcPct val="100000"/>
              </a:lnSpc>
              <a:spcBef>
                <a:spcPts val="100"/>
              </a:spcBef>
            </a:pPr>
            <a:r>
              <a:rPr spc="-10" dirty="0"/>
              <a:t>ROOTKIT</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3" name="object 3"/>
          <p:cNvSpPr txBox="1">
            <a:spLocks noGrp="1"/>
          </p:cNvSpPr>
          <p:nvPr>
            <p:ph type="body" idx="1"/>
          </p:nvPr>
        </p:nvSpPr>
        <p:spPr>
          <a:prstGeom prst="rect">
            <a:avLst/>
          </a:prstGeom>
        </p:spPr>
        <p:txBody>
          <a:bodyPr vert="horz" wrap="square" lIns="0" tIns="60960" rIns="0" bIns="0" rtlCol="0">
            <a:spAutoFit/>
          </a:bodyPr>
          <a:lstStyle/>
          <a:p>
            <a:pPr marL="240029" marR="31115" indent="-227965">
              <a:lnSpc>
                <a:spcPts val="3020"/>
              </a:lnSpc>
              <a:spcBef>
                <a:spcPts val="480"/>
              </a:spcBef>
              <a:buFont typeface="Arial MT"/>
              <a:buChar char="•"/>
              <a:tabLst>
                <a:tab pos="241300" algn="l"/>
              </a:tabLst>
            </a:pPr>
            <a:r>
              <a:rPr spc="-30" dirty="0"/>
              <a:t>A</a:t>
            </a:r>
            <a:r>
              <a:rPr spc="-155" dirty="0"/>
              <a:t> </a:t>
            </a:r>
            <a:r>
              <a:rPr dirty="0"/>
              <a:t>powerful</a:t>
            </a:r>
            <a:r>
              <a:rPr spc="-50" dirty="0"/>
              <a:t> </a:t>
            </a:r>
            <a:r>
              <a:rPr dirty="0"/>
              <a:t>rootkit</a:t>
            </a:r>
            <a:r>
              <a:rPr spc="-55" dirty="0"/>
              <a:t> </a:t>
            </a:r>
            <a:r>
              <a:rPr dirty="0"/>
              <a:t>gets</a:t>
            </a:r>
            <a:r>
              <a:rPr spc="-35" dirty="0"/>
              <a:t> </a:t>
            </a:r>
            <a:r>
              <a:rPr dirty="0"/>
              <a:t>control</a:t>
            </a:r>
            <a:r>
              <a:rPr spc="-45" dirty="0"/>
              <a:t> </a:t>
            </a:r>
            <a:r>
              <a:rPr dirty="0"/>
              <a:t>on</a:t>
            </a:r>
            <a:r>
              <a:rPr spc="-160" dirty="0"/>
              <a:t> </a:t>
            </a:r>
            <a:r>
              <a:rPr u="sng" spc="-10" dirty="0">
                <a:uFill>
                  <a:solidFill>
                    <a:srgbClr val="000000"/>
                  </a:solidFill>
                </a:uFill>
              </a:rPr>
              <a:t>Application-Programming</a:t>
            </a:r>
            <a:r>
              <a:rPr u="sng" spc="-35" dirty="0">
                <a:uFill>
                  <a:solidFill>
                    <a:srgbClr val="000000"/>
                  </a:solidFill>
                </a:uFill>
              </a:rPr>
              <a:t> </a:t>
            </a:r>
            <a:r>
              <a:rPr u="sng" spc="-10" dirty="0">
                <a:uFill>
                  <a:solidFill>
                    <a:srgbClr val="000000"/>
                  </a:solidFill>
                </a:uFill>
              </a:rPr>
              <a:t>Interface</a:t>
            </a:r>
            <a:r>
              <a:rPr spc="-10" dirty="0"/>
              <a:t> 	</a:t>
            </a:r>
            <a:r>
              <a:rPr u="sng" dirty="0">
                <a:uFill>
                  <a:solidFill>
                    <a:srgbClr val="000000"/>
                  </a:solidFill>
                </a:uFill>
              </a:rPr>
              <a:t>(APIs)</a:t>
            </a:r>
            <a:r>
              <a:rPr spc="-10" dirty="0"/>
              <a:t> </a:t>
            </a:r>
            <a:r>
              <a:rPr dirty="0"/>
              <a:t>and</a:t>
            </a:r>
            <a:r>
              <a:rPr spc="-30" dirty="0"/>
              <a:t> </a:t>
            </a:r>
            <a:r>
              <a:rPr dirty="0"/>
              <a:t>establishes</a:t>
            </a:r>
            <a:r>
              <a:rPr spc="-55" dirty="0"/>
              <a:t> </a:t>
            </a:r>
            <a:r>
              <a:rPr dirty="0"/>
              <a:t>the</a:t>
            </a:r>
            <a:r>
              <a:rPr spc="-45" dirty="0"/>
              <a:t> </a:t>
            </a:r>
            <a:r>
              <a:rPr dirty="0"/>
              <a:t>full</a:t>
            </a:r>
            <a:r>
              <a:rPr spc="-30" dirty="0"/>
              <a:t> </a:t>
            </a:r>
            <a:r>
              <a:rPr dirty="0"/>
              <a:t>control</a:t>
            </a:r>
            <a:r>
              <a:rPr spc="-40" dirty="0"/>
              <a:t> </a:t>
            </a:r>
            <a:r>
              <a:rPr dirty="0"/>
              <a:t>on</a:t>
            </a:r>
            <a:r>
              <a:rPr spc="-30" dirty="0"/>
              <a:t> </a:t>
            </a:r>
            <a:r>
              <a:rPr dirty="0"/>
              <a:t>the</a:t>
            </a:r>
            <a:r>
              <a:rPr spc="-5" dirty="0"/>
              <a:t> </a:t>
            </a:r>
            <a:r>
              <a:rPr spc="-10" dirty="0"/>
              <a:t>system.</a:t>
            </a:r>
          </a:p>
          <a:p>
            <a:pPr marL="239395" marR="5080" indent="-227329">
              <a:lnSpc>
                <a:spcPct val="90000"/>
              </a:lnSpc>
              <a:spcBef>
                <a:spcPts val="965"/>
              </a:spcBef>
              <a:buFont typeface="Arial MT"/>
              <a:buChar char="•"/>
              <a:tabLst>
                <a:tab pos="241300" algn="l"/>
              </a:tabLst>
            </a:pPr>
            <a:r>
              <a:rPr dirty="0"/>
              <a:t>For</a:t>
            </a:r>
            <a:r>
              <a:rPr spc="-45" dirty="0"/>
              <a:t> </a:t>
            </a:r>
            <a:r>
              <a:rPr dirty="0"/>
              <a:t>instance,</a:t>
            </a:r>
            <a:r>
              <a:rPr spc="-30" dirty="0"/>
              <a:t> </a:t>
            </a:r>
            <a:r>
              <a:rPr dirty="0"/>
              <a:t>windows</a:t>
            </a:r>
            <a:r>
              <a:rPr spc="-30" dirty="0"/>
              <a:t> </a:t>
            </a:r>
            <a:r>
              <a:rPr dirty="0"/>
              <a:t>browser</a:t>
            </a:r>
            <a:r>
              <a:rPr spc="-30" dirty="0"/>
              <a:t> </a:t>
            </a:r>
            <a:r>
              <a:rPr dirty="0"/>
              <a:t>program</a:t>
            </a:r>
            <a:r>
              <a:rPr spc="-45" dirty="0"/>
              <a:t> </a:t>
            </a:r>
            <a:r>
              <a:rPr dirty="0"/>
              <a:t>sends</a:t>
            </a:r>
            <a:r>
              <a:rPr spc="-35" dirty="0"/>
              <a:t> </a:t>
            </a:r>
            <a:r>
              <a:rPr dirty="0"/>
              <a:t>a</a:t>
            </a:r>
            <a:r>
              <a:rPr spc="-35" dirty="0"/>
              <a:t> </a:t>
            </a:r>
            <a:r>
              <a:rPr dirty="0"/>
              <a:t>request</a:t>
            </a:r>
            <a:r>
              <a:rPr spc="-30" dirty="0"/>
              <a:t> </a:t>
            </a:r>
            <a:r>
              <a:rPr dirty="0"/>
              <a:t>to</a:t>
            </a:r>
            <a:r>
              <a:rPr spc="-40" dirty="0"/>
              <a:t> </a:t>
            </a:r>
            <a:r>
              <a:rPr dirty="0"/>
              <a:t>the</a:t>
            </a:r>
            <a:r>
              <a:rPr spc="-30" dirty="0"/>
              <a:t> </a:t>
            </a:r>
            <a:r>
              <a:rPr spc="-20" dirty="0"/>
              <a:t>OS</a:t>
            </a:r>
            <a:r>
              <a:rPr spc="-155" dirty="0"/>
              <a:t> </a:t>
            </a:r>
            <a:r>
              <a:rPr spc="-25" dirty="0"/>
              <a:t>API 	</a:t>
            </a:r>
            <a:r>
              <a:rPr dirty="0"/>
              <a:t>to</a:t>
            </a:r>
            <a:r>
              <a:rPr spc="-45" dirty="0"/>
              <a:t> </a:t>
            </a:r>
            <a:r>
              <a:rPr dirty="0"/>
              <a:t>find</a:t>
            </a:r>
            <a:r>
              <a:rPr spc="-45" dirty="0"/>
              <a:t> </a:t>
            </a:r>
            <a:r>
              <a:rPr dirty="0"/>
              <a:t>a</a:t>
            </a:r>
            <a:r>
              <a:rPr spc="-45" dirty="0"/>
              <a:t> </a:t>
            </a:r>
            <a:r>
              <a:rPr dirty="0"/>
              <a:t>certain</a:t>
            </a:r>
            <a:r>
              <a:rPr spc="-25" dirty="0"/>
              <a:t> </a:t>
            </a:r>
            <a:r>
              <a:rPr dirty="0"/>
              <a:t>file</a:t>
            </a:r>
            <a:r>
              <a:rPr spc="-40" dirty="0"/>
              <a:t> </a:t>
            </a:r>
            <a:r>
              <a:rPr dirty="0"/>
              <a:t>on</a:t>
            </a:r>
            <a:r>
              <a:rPr spc="-30" dirty="0"/>
              <a:t> </a:t>
            </a:r>
            <a:r>
              <a:rPr dirty="0"/>
              <a:t>the</a:t>
            </a:r>
            <a:r>
              <a:rPr spc="-50" dirty="0"/>
              <a:t> </a:t>
            </a:r>
            <a:r>
              <a:rPr spc="-10" dirty="0"/>
              <a:t>computer.</a:t>
            </a:r>
            <a:r>
              <a:rPr spc="-75" dirty="0"/>
              <a:t> </a:t>
            </a:r>
            <a:r>
              <a:rPr dirty="0"/>
              <a:t>The</a:t>
            </a:r>
            <a:r>
              <a:rPr spc="-40" dirty="0"/>
              <a:t> </a:t>
            </a:r>
            <a:r>
              <a:rPr dirty="0"/>
              <a:t>OS</a:t>
            </a:r>
            <a:r>
              <a:rPr spc="-25" dirty="0"/>
              <a:t> </a:t>
            </a:r>
            <a:r>
              <a:rPr dirty="0"/>
              <a:t>responds</a:t>
            </a:r>
            <a:r>
              <a:rPr spc="-40" dirty="0"/>
              <a:t> </a:t>
            </a:r>
            <a:r>
              <a:rPr dirty="0"/>
              <a:t>to</a:t>
            </a:r>
            <a:r>
              <a:rPr spc="-45" dirty="0"/>
              <a:t> </a:t>
            </a:r>
            <a:r>
              <a:rPr dirty="0"/>
              <a:t>the</a:t>
            </a:r>
            <a:r>
              <a:rPr spc="-45" dirty="0"/>
              <a:t> </a:t>
            </a:r>
            <a:r>
              <a:rPr spc="-10" dirty="0"/>
              <a:t>browser 	</a:t>
            </a:r>
            <a:r>
              <a:rPr spc="-20" dirty="0"/>
              <a:t>through</a:t>
            </a:r>
            <a:r>
              <a:rPr spc="-180" dirty="0"/>
              <a:t> </a:t>
            </a:r>
            <a:r>
              <a:rPr dirty="0"/>
              <a:t>API</a:t>
            </a:r>
            <a:r>
              <a:rPr spc="5" dirty="0"/>
              <a:t> </a:t>
            </a:r>
            <a:r>
              <a:rPr dirty="0"/>
              <a:t>about</a:t>
            </a:r>
            <a:r>
              <a:rPr spc="-20" dirty="0"/>
              <a:t> </a:t>
            </a:r>
            <a:r>
              <a:rPr dirty="0"/>
              <a:t>that</a:t>
            </a:r>
            <a:r>
              <a:rPr spc="-25" dirty="0"/>
              <a:t> </a:t>
            </a:r>
            <a:r>
              <a:rPr spc="-10" dirty="0"/>
              <a:t>file.</a:t>
            </a:r>
          </a:p>
          <a:p>
            <a:pPr marL="240029" marR="60960" indent="-227965">
              <a:lnSpc>
                <a:spcPct val="90000"/>
              </a:lnSpc>
              <a:spcBef>
                <a:spcPts val="994"/>
              </a:spcBef>
              <a:buFont typeface="Arial MT"/>
              <a:buChar char="•"/>
              <a:tabLst>
                <a:tab pos="241300" algn="l"/>
              </a:tabLst>
            </a:pPr>
            <a:r>
              <a:rPr dirty="0"/>
              <a:t>The</a:t>
            </a:r>
            <a:r>
              <a:rPr spc="-40" dirty="0"/>
              <a:t> </a:t>
            </a:r>
            <a:r>
              <a:rPr dirty="0"/>
              <a:t>rootkit</a:t>
            </a:r>
            <a:r>
              <a:rPr spc="-55" dirty="0"/>
              <a:t> </a:t>
            </a:r>
            <a:r>
              <a:rPr dirty="0"/>
              <a:t>malware</a:t>
            </a:r>
            <a:r>
              <a:rPr spc="-15" dirty="0"/>
              <a:t> </a:t>
            </a:r>
            <a:r>
              <a:rPr dirty="0"/>
              <a:t>subverts</a:t>
            </a:r>
            <a:r>
              <a:rPr spc="-45" dirty="0"/>
              <a:t> </a:t>
            </a:r>
            <a:r>
              <a:rPr dirty="0"/>
              <a:t>the</a:t>
            </a:r>
            <a:r>
              <a:rPr spc="-40" dirty="0"/>
              <a:t> </a:t>
            </a:r>
            <a:r>
              <a:rPr dirty="0"/>
              <a:t>request</a:t>
            </a:r>
            <a:r>
              <a:rPr spc="-45" dirty="0"/>
              <a:t> </a:t>
            </a:r>
            <a:r>
              <a:rPr dirty="0"/>
              <a:t>sent</a:t>
            </a:r>
            <a:r>
              <a:rPr spc="-40" dirty="0"/>
              <a:t> </a:t>
            </a:r>
            <a:r>
              <a:rPr dirty="0"/>
              <a:t>to</a:t>
            </a:r>
            <a:r>
              <a:rPr spc="-35" dirty="0"/>
              <a:t> </a:t>
            </a:r>
            <a:r>
              <a:rPr dirty="0"/>
              <a:t>the</a:t>
            </a:r>
            <a:r>
              <a:rPr spc="-45" dirty="0"/>
              <a:t> </a:t>
            </a:r>
            <a:r>
              <a:rPr dirty="0"/>
              <a:t>OS</a:t>
            </a:r>
            <a:r>
              <a:rPr spc="-20" dirty="0"/>
              <a:t> </a:t>
            </a:r>
            <a:r>
              <a:rPr dirty="0"/>
              <a:t>from</a:t>
            </a:r>
            <a:r>
              <a:rPr spc="-35" dirty="0"/>
              <a:t> </a:t>
            </a:r>
            <a:r>
              <a:rPr spc="-10" dirty="0"/>
              <a:t>reaching 	</a:t>
            </a:r>
            <a:r>
              <a:rPr dirty="0"/>
              <a:t>to</a:t>
            </a:r>
            <a:r>
              <a:rPr spc="-30" dirty="0"/>
              <a:t> </a:t>
            </a:r>
            <a:r>
              <a:rPr dirty="0"/>
              <a:t>the</a:t>
            </a:r>
            <a:r>
              <a:rPr spc="-50" dirty="0"/>
              <a:t> </a:t>
            </a:r>
            <a:r>
              <a:rPr dirty="0"/>
              <a:t>desired</a:t>
            </a:r>
            <a:r>
              <a:rPr spc="-175" dirty="0"/>
              <a:t> </a:t>
            </a:r>
            <a:r>
              <a:rPr dirty="0"/>
              <a:t>API</a:t>
            </a:r>
            <a:r>
              <a:rPr spc="-20" dirty="0"/>
              <a:t> </a:t>
            </a:r>
            <a:r>
              <a:rPr dirty="0"/>
              <a:t>and</a:t>
            </a:r>
            <a:r>
              <a:rPr spc="-30" dirty="0"/>
              <a:t> </a:t>
            </a:r>
            <a:r>
              <a:rPr dirty="0"/>
              <a:t>responds</a:t>
            </a:r>
            <a:r>
              <a:rPr spc="-55" dirty="0"/>
              <a:t> </a:t>
            </a:r>
            <a:r>
              <a:rPr dirty="0"/>
              <a:t>with</a:t>
            </a:r>
            <a:r>
              <a:rPr spc="-30" dirty="0"/>
              <a:t> </a:t>
            </a:r>
            <a:r>
              <a:rPr dirty="0"/>
              <a:t>fake</a:t>
            </a:r>
            <a:r>
              <a:rPr spc="-30" dirty="0"/>
              <a:t> </a:t>
            </a:r>
            <a:r>
              <a:rPr dirty="0"/>
              <a:t>responses.</a:t>
            </a:r>
            <a:r>
              <a:rPr spc="-40" dirty="0"/>
              <a:t> </a:t>
            </a:r>
            <a:r>
              <a:rPr dirty="0"/>
              <a:t>Moreover,</a:t>
            </a:r>
            <a:r>
              <a:rPr spc="-30" dirty="0"/>
              <a:t> </a:t>
            </a:r>
            <a:r>
              <a:rPr spc="-25" dirty="0"/>
              <a:t>you 	</a:t>
            </a:r>
            <a:r>
              <a:rPr dirty="0"/>
              <a:t>request</a:t>
            </a:r>
            <a:r>
              <a:rPr spc="-35" dirty="0"/>
              <a:t> </a:t>
            </a:r>
            <a:r>
              <a:rPr dirty="0"/>
              <a:t>the</a:t>
            </a:r>
            <a:r>
              <a:rPr spc="-25" dirty="0"/>
              <a:t> </a:t>
            </a:r>
            <a:r>
              <a:rPr dirty="0"/>
              <a:t>OS</a:t>
            </a:r>
            <a:r>
              <a:rPr spc="-15" dirty="0"/>
              <a:t> </a:t>
            </a:r>
            <a:r>
              <a:rPr dirty="0"/>
              <a:t>to</a:t>
            </a:r>
            <a:r>
              <a:rPr spc="-20" dirty="0"/>
              <a:t> </a:t>
            </a:r>
            <a:r>
              <a:rPr dirty="0"/>
              <a:t>start</a:t>
            </a:r>
            <a:r>
              <a:rPr spc="-25" dirty="0"/>
              <a:t> </a:t>
            </a:r>
            <a:r>
              <a:rPr dirty="0"/>
              <a:t>the</a:t>
            </a:r>
            <a:r>
              <a:rPr spc="-30" dirty="0"/>
              <a:t> </a:t>
            </a:r>
            <a:r>
              <a:rPr dirty="0"/>
              <a:t>antivirus</a:t>
            </a:r>
            <a:r>
              <a:rPr spc="-40" dirty="0"/>
              <a:t> </a:t>
            </a:r>
            <a:r>
              <a:rPr dirty="0"/>
              <a:t>or</a:t>
            </a:r>
            <a:r>
              <a:rPr spc="-10" dirty="0"/>
              <a:t> </a:t>
            </a:r>
            <a:r>
              <a:rPr dirty="0"/>
              <a:t>anti-malware</a:t>
            </a:r>
            <a:r>
              <a:rPr spc="-5" dirty="0"/>
              <a:t> </a:t>
            </a:r>
            <a:r>
              <a:rPr dirty="0"/>
              <a:t>application</a:t>
            </a:r>
            <a:r>
              <a:rPr spc="-50" dirty="0"/>
              <a:t> </a:t>
            </a:r>
            <a:r>
              <a:rPr spc="-25" dirty="0"/>
              <a:t>to 	</a:t>
            </a:r>
            <a:r>
              <a:rPr dirty="0"/>
              <a:t>scan</a:t>
            </a:r>
            <a:r>
              <a:rPr spc="-35" dirty="0"/>
              <a:t> </a:t>
            </a:r>
            <a:r>
              <a:rPr dirty="0"/>
              <a:t>your</a:t>
            </a:r>
            <a:r>
              <a:rPr spc="-40" dirty="0"/>
              <a:t> </a:t>
            </a:r>
            <a:r>
              <a:rPr dirty="0"/>
              <a:t>computer;</a:t>
            </a:r>
            <a:r>
              <a:rPr spc="-35" dirty="0"/>
              <a:t> </a:t>
            </a:r>
            <a:r>
              <a:rPr dirty="0"/>
              <a:t>the</a:t>
            </a:r>
            <a:r>
              <a:rPr spc="-35" dirty="0"/>
              <a:t> </a:t>
            </a:r>
            <a:r>
              <a:rPr dirty="0"/>
              <a:t>request</a:t>
            </a:r>
            <a:r>
              <a:rPr spc="-45" dirty="0"/>
              <a:t> </a:t>
            </a:r>
            <a:r>
              <a:rPr dirty="0"/>
              <a:t>is</a:t>
            </a:r>
            <a:r>
              <a:rPr spc="-5" dirty="0"/>
              <a:t> </a:t>
            </a:r>
            <a:r>
              <a:rPr dirty="0"/>
              <a:t>interrupted</a:t>
            </a:r>
            <a:r>
              <a:rPr spc="-50" dirty="0"/>
              <a:t> </a:t>
            </a:r>
            <a:r>
              <a:rPr dirty="0"/>
              <a:t>from</a:t>
            </a:r>
            <a:r>
              <a:rPr spc="-20" dirty="0"/>
              <a:t> </a:t>
            </a:r>
            <a:r>
              <a:rPr dirty="0"/>
              <a:t>reaching</a:t>
            </a:r>
            <a:r>
              <a:rPr spc="-35" dirty="0"/>
              <a:t> </a:t>
            </a:r>
            <a:r>
              <a:rPr dirty="0"/>
              <a:t>to</a:t>
            </a:r>
            <a:r>
              <a:rPr spc="-30" dirty="0"/>
              <a:t> </a:t>
            </a:r>
            <a:r>
              <a:rPr spc="-25" dirty="0"/>
              <a:t>the 	</a:t>
            </a:r>
            <a:r>
              <a:rPr dirty="0"/>
              <a:t>OS.</a:t>
            </a:r>
            <a:r>
              <a:rPr spc="-75" dirty="0"/>
              <a:t> </a:t>
            </a:r>
            <a:r>
              <a:rPr dirty="0"/>
              <a:t>The</a:t>
            </a:r>
            <a:r>
              <a:rPr spc="-40" dirty="0"/>
              <a:t> </a:t>
            </a:r>
            <a:r>
              <a:rPr dirty="0"/>
              <a:t>rootkit</a:t>
            </a:r>
            <a:r>
              <a:rPr spc="-55" dirty="0"/>
              <a:t> </a:t>
            </a:r>
            <a:r>
              <a:rPr dirty="0"/>
              <a:t>interrupts</a:t>
            </a:r>
            <a:r>
              <a:rPr spc="-45" dirty="0"/>
              <a:t> </a:t>
            </a:r>
            <a:r>
              <a:rPr dirty="0"/>
              <a:t>the</a:t>
            </a:r>
            <a:r>
              <a:rPr spc="-60" dirty="0"/>
              <a:t> </a:t>
            </a:r>
            <a:r>
              <a:rPr dirty="0"/>
              <a:t>request</a:t>
            </a:r>
            <a:r>
              <a:rPr spc="-35" dirty="0"/>
              <a:t> </a:t>
            </a:r>
            <a:r>
              <a:rPr dirty="0"/>
              <a:t>and</a:t>
            </a:r>
            <a:r>
              <a:rPr spc="-40" dirty="0"/>
              <a:t> </a:t>
            </a:r>
            <a:r>
              <a:rPr dirty="0"/>
              <a:t>sends</a:t>
            </a:r>
            <a:r>
              <a:rPr spc="-45" dirty="0"/>
              <a:t> </a:t>
            </a:r>
            <a:r>
              <a:rPr dirty="0"/>
              <a:t>you</a:t>
            </a:r>
            <a:r>
              <a:rPr spc="-40" dirty="0"/>
              <a:t> </a:t>
            </a:r>
            <a:r>
              <a:rPr dirty="0"/>
              <a:t>a</a:t>
            </a:r>
            <a:r>
              <a:rPr spc="-35" dirty="0"/>
              <a:t> </a:t>
            </a:r>
            <a:r>
              <a:rPr dirty="0"/>
              <a:t>fake</a:t>
            </a:r>
            <a:r>
              <a:rPr spc="-40" dirty="0"/>
              <a:t> </a:t>
            </a:r>
            <a:r>
              <a:rPr spc="-10" dirty="0"/>
              <a:t>response 	</a:t>
            </a:r>
            <a:r>
              <a:rPr dirty="0"/>
              <a:t>that</a:t>
            </a:r>
            <a:r>
              <a:rPr spc="-35" dirty="0"/>
              <a:t> </a:t>
            </a:r>
            <a:r>
              <a:rPr dirty="0"/>
              <a:t>the</a:t>
            </a:r>
            <a:r>
              <a:rPr spc="-25" dirty="0"/>
              <a:t> </a:t>
            </a:r>
            <a:r>
              <a:rPr dirty="0"/>
              <a:t>program</a:t>
            </a:r>
            <a:r>
              <a:rPr spc="-40" dirty="0"/>
              <a:t> </a:t>
            </a:r>
            <a:r>
              <a:rPr dirty="0"/>
              <a:t>you</a:t>
            </a:r>
            <a:r>
              <a:rPr spc="-30" dirty="0"/>
              <a:t> </a:t>
            </a:r>
            <a:r>
              <a:rPr dirty="0"/>
              <a:t>requested</a:t>
            </a:r>
            <a:r>
              <a:rPr spc="-35" dirty="0"/>
              <a:t> </a:t>
            </a:r>
            <a:r>
              <a:rPr dirty="0"/>
              <a:t>for</a:t>
            </a:r>
            <a:r>
              <a:rPr spc="-15" dirty="0"/>
              <a:t> </a:t>
            </a:r>
            <a:r>
              <a:rPr dirty="0"/>
              <a:t>is</a:t>
            </a:r>
            <a:r>
              <a:rPr spc="-35" dirty="0"/>
              <a:t> </a:t>
            </a:r>
            <a:r>
              <a:rPr dirty="0"/>
              <a:t>not</a:t>
            </a:r>
            <a:r>
              <a:rPr spc="-30" dirty="0"/>
              <a:t> </a:t>
            </a:r>
            <a:r>
              <a:rPr dirty="0"/>
              <a:t>working</a:t>
            </a:r>
            <a:r>
              <a:rPr spc="-15" dirty="0"/>
              <a:t> </a:t>
            </a:r>
            <a:r>
              <a:rPr dirty="0"/>
              <a:t>at</a:t>
            </a:r>
            <a:r>
              <a:rPr spc="-25" dirty="0"/>
              <a:t> </a:t>
            </a:r>
            <a:r>
              <a:rPr dirty="0"/>
              <a:t>this</a:t>
            </a:r>
            <a:r>
              <a:rPr spc="-30" dirty="0"/>
              <a:t> </a:t>
            </a:r>
            <a:r>
              <a:rPr spc="-10" dirty="0"/>
              <a:t>time.</a:t>
            </a:r>
          </a:p>
        </p:txBody>
      </p:sp>
    </p:spTree>
    <p:extLst>
      <p:ext uri="{BB962C8B-B14F-4D97-AF65-F5344CB8AC3E}">
        <p14:creationId xmlns:p14="http://schemas.microsoft.com/office/powerpoint/2010/main" val="28173334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35127" rIns="0" bIns="0" rtlCol="0">
            <a:spAutoFit/>
          </a:bodyPr>
          <a:lstStyle/>
          <a:p>
            <a:pPr marL="12700">
              <a:lnSpc>
                <a:spcPct val="100000"/>
              </a:lnSpc>
              <a:spcBef>
                <a:spcPts val="105"/>
              </a:spcBef>
            </a:pPr>
            <a:r>
              <a:rPr spc="-10" dirty="0"/>
              <a:t>ROOTKIT</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3" name="object 3"/>
          <p:cNvSpPr txBox="1"/>
          <p:nvPr/>
        </p:nvSpPr>
        <p:spPr>
          <a:xfrm>
            <a:off x="916939" y="1804161"/>
            <a:ext cx="9670415" cy="3905885"/>
          </a:xfrm>
          <a:prstGeom prst="rect">
            <a:avLst/>
          </a:prstGeom>
        </p:spPr>
        <p:txBody>
          <a:bodyPr vert="horz" wrap="square" lIns="0" tIns="60960" rIns="0" bIns="0" rtlCol="0">
            <a:spAutoFit/>
          </a:bodyPr>
          <a:lstStyle/>
          <a:p>
            <a:pPr marL="12700" marR="107314" algn="just">
              <a:lnSpc>
                <a:spcPts val="3020"/>
              </a:lnSpc>
              <a:spcBef>
                <a:spcPts val="480"/>
              </a:spcBef>
            </a:pPr>
            <a:r>
              <a:rPr sz="2800" dirty="0">
                <a:latin typeface="Times New Roman"/>
                <a:cs typeface="Times New Roman"/>
              </a:rPr>
              <a:t>There</a:t>
            </a:r>
            <a:r>
              <a:rPr sz="2800" spc="-20" dirty="0">
                <a:latin typeface="Times New Roman"/>
                <a:cs typeface="Times New Roman"/>
              </a:rPr>
              <a:t> </a:t>
            </a:r>
            <a:r>
              <a:rPr sz="2800" dirty="0">
                <a:latin typeface="Times New Roman"/>
                <a:cs typeface="Times New Roman"/>
              </a:rPr>
              <a:t>are</a:t>
            </a:r>
            <a:r>
              <a:rPr sz="2800" spc="-25" dirty="0">
                <a:latin typeface="Times New Roman"/>
                <a:cs typeface="Times New Roman"/>
              </a:rPr>
              <a:t> </a:t>
            </a:r>
            <a:r>
              <a:rPr sz="2800" dirty="0">
                <a:latin typeface="Times New Roman"/>
                <a:cs typeface="Times New Roman"/>
              </a:rPr>
              <a:t>three</a:t>
            </a:r>
            <a:r>
              <a:rPr sz="2800" spc="-35" dirty="0">
                <a:latin typeface="Times New Roman"/>
                <a:cs typeface="Times New Roman"/>
              </a:rPr>
              <a:t> </a:t>
            </a:r>
            <a:r>
              <a:rPr sz="2800" dirty="0">
                <a:latin typeface="Times New Roman"/>
                <a:cs typeface="Times New Roman"/>
              </a:rPr>
              <a:t>main</a:t>
            </a:r>
            <a:r>
              <a:rPr sz="2800" spc="-15" dirty="0">
                <a:latin typeface="Times New Roman"/>
                <a:cs typeface="Times New Roman"/>
              </a:rPr>
              <a:t> </a:t>
            </a:r>
            <a:r>
              <a:rPr sz="2800" dirty="0">
                <a:latin typeface="Times New Roman"/>
                <a:cs typeface="Times New Roman"/>
              </a:rPr>
              <a:t>goals</a:t>
            </a:r>
            <a:r>
              <a:rPr sz="2800" spc="-35" dirty="0">
                <a:latin typeface="Times New Roman"/>
                <a:cs typeface="Times New Roman"/>
              </a:rPr>
              <a:t> </a:t>
            </a:r>
            <a:r>
              <a:rPr sz="2800" dirty="0">
                <a:latin typeface="Times New Roman"/>
                <a:cs typeface="Times New Roman"/>
              </a:rPr>
              <a:t>of</a:t>
            </a:r>
            <a:r>
              <a:rPr sz="2800" spc="-20" dirty="0">
                <a:latin typeface="Times New Roman"/>
                <a:cs typeface="Times New Roman"/>
              </a:rPr>
              <a:t> </a:t>
            </a:r>
            <a:r>
              <a:rPr sz="2800" dirty="0">
                <a:latin typeface="Times New Roman"/>
                <a:cs typeface="Times New Roman"/>
              </a:rPr>
              <a:t>a</a:t>
            </a:r>
            <a:r>
              <a:rPr sz="2800" spc="-30" dirty="0">
                <a:latin typeface="Times New Roman"/>
                <a:cs typeface="Times New Roman"/>
              </a:rPr>
              <a:t> </a:t>
            </a:r>
            <a:r>
              <a:rPr sz="2800" dirty="0">
                <a:latin typeface="Times New Roman"/>
                <a:cs typeface="Times New Roman"/>
              </a:rPr>
              <a:t>rootkit</a:t>
            </a:r>
            <a:r>
              <a:rPr sz="2800" spc="-30" dirty="0">
                <a:latin typeface="Times New Roman"/>
                <a:cs typeface="Times New Roman"/>
              </a:rPr>
              <a:t> </a:t>
            </a:r>
            <a:r>
              <a:rPr sz="2800" dirty="0">
                <a:latin typeface="Times New Roman"/>
                <a:cs typeface="Times New Roman"/>
              </a:rPr>
              <a:t>on</a:t>
            </a:r>
            <a:r>
              <a:rPr sz="2800" spc="-35" dirty="0">
                <a:latin typeface="Times New Roman"/>
                <a:cs typeface="Times New Roman"/>
              </a:rPr>
              <a:t> </a:t>
            </a:r>
            <a:r>
              <a:rPr sz="2800" dirty="0">
                <a:latin typeface="Times New Roman"/>
                <a:cs typeface="Times New Roman"/>
              </a:rPr>
              <a:t>a</a:t>
            </a:r>
            <a:r>
              <a:rPr sz="2800" spc="-25" dirty="0">
                <a:latin typeface="Times New Roman"/>
                <a:cs typeface="Times New Roman"/>
              </a:rPr>
              <a:t> </a:t>
            </a:r>
            <a:r>
              <a:rPr sz="2800" dirty="0">
                <a:latin typeface="Times New Roman"/>
                <a:cs typeface="Times New Roman"/>
              </a:rPr>
              <a:t>computer</a:t>
            </a:r>
            <a:r>
              <a:rPr sz="2800" spc="-25" dirty="0">
                <a:latin typeface="Times New Roman"/>
                <a:cs typeface="Times New Roman"/>
              </a:rPr>
              <a:t> </a:t>
            </a:r>
            <a:r>
              <a:rPr sz="2800" dirty="0">
                <a:latin typeface="Times New Roman"/>
                <a:cs typeface="Times New Roman"/>
              </a:rPr>
              <a:t>as</a:t>
            </a:r>
            <a:r>
              <a:rPr sz="2800" spc="-30" dirty="0">
                <a:latin typeface="Times New Roman"/>
                <a:cs typeface="Times New Roman"/>
              </a:rPr>
              <a:t> </a:t>
            </a:r>
            <a:r>
              <a:rPr sz="2800" spc="-10" dirty="0">
                <a:latin typeface="Times New Roman"/>
                <a:cs typeface="Times New Roman"/>
              </a:rPr>
              <a:t>mentioned below:</a:t>
            </a:r>
            <a:endParaRPr sz="2800">
              <a:latin typeface="Times New Roman"/>
              <a:cs typeface="Times New Roman"/>
            </a:endParaRPr>
          </a:p>
          <a:p>
            <a:pPr marL="240029" marR="5080" indent="-227965" algn="just">
              <a:lnSpc>
                <a:spcPts val="3020"/>
              </a:lnSpc>
              <a:spcBef>
                <a:spcPts val="1015"/>
              </a:spcBef>
              <a:buFont typeface="Arial MT"/>
              <a:buChar char="•"/>
              <a:tabLst>
                <a:tab pos="241300" algn="l"/>
              </a:tabLst>
            </a:pPr>
            <a:r>
              <a:rPr sz="2800" dirty="0">
                <a:latin typeface="Times New Roman"/>
                <a:cs typeface="Times New Roman"/>
              </a:rPr>
              <a:t>Running</a:t>
            </a:r>
            <a:r>
              <a:rPr sz="2800" spc="-65" dirty="0">
                <a:latin typeface="Times New Roman"/>
                <a:cs typeface="Times New Roman"/>
              </a:rPr>
              <a:t> </a:t>
            </a:r>
            <a:r>
              <a:rPr sz="2800" dirty="0">
                <a:latin typeface="Times New Roman"/>
                <a:cs typeface="Times New Roman"/>
              </a:rPr>
              <a:t>freely</a:t>
            </a:r>
            <a:r>
              <a:rPr sz="2800" spc="-45" dirty="0">
                <a:latin typeface="Times New Roman"/>
                <a:cs typeface="Times New Roman"/>
              </a:rPr>
              <a:t> </a:t>
            </a:r>
            <a:r>
              <a:rPr sz="2800" dirty="0">
                <a:latin typeface="Times New Roman"/>
                <a:cs typeface="Times New Roman"/>
              </a:rPr>
              <a:t>without</a:t>
            </a:r>
            <a:r>
              <a:rPr sz="2800" spc="-70" dirty="0">
                <a:latin typeface="Times New Roman"/>
                <a:cs typeface="Times New Roman"/>
              </a:rPr>
              <a:t> </a:t>
            </a:r>
            <a:r>
              <a:rPr sz="2800" dirty="0">
                <a:latin typeface="Times New Roman"/>
                <a:cs typeface="Times New Roman"/>
              </a:rPr>
              <a:t>any</a:t>
            </a:r>
            <a:r>
              <a:rPr sz="2800" spc="-45" dirty="0">
                <a:latin typeface="Times New Roman"/>
                <a:cs typeface="Times New Roman"/>
              </a:rPr>
              <a:t> </a:t>
            </a:r>
            <a:r>
              <a:rPr sz="2800" dirty="0">
                <a:latin typeface="Times New Roman"/>
                <a:cs typeface="Times New Roman"/>
              </a:rPr>
              <a:t>restrictions</a:t>
            </a:r>
            <a:r>
              <a:rPr sz="2800" spc="-70" dirty="0">
                <a:latin typeface="Times New Roman"/>
                <a:cs typeface="Times New Roman"/>
              </a:rPr>
              <a:t> </a:t>
            </a:r>
            <a:r>
              <a:rPr sz="2800" dirty="0">
                <a:latin typeface="Times New Roman"/>
                <a:cs typeface="Times New Roman"/>
              </a:rPr>
              <a:t>of</a:t>
            </a:r>
            <a:r>
              <a:rPr sz="2800" spc="-35" dirty="0">
                <a:latin typeface="Times New Roman"/>
                <a:cs typeface="Times New Roman"/>
              </a:rPr>
              <a:t> </a:t>
            </a:r>
            <a:r>
              <a:rPr sz="2800" dirty="0">
                <a:latin typeface="Times New Roman"/>
                <a:cs typeface="Times New Roman"/>
              </a:rPr>
              <a:t>having</a:t>
            </a:r>
            <a:r>
              <a:rPr sz="2800" spc="-55" dirty="0">
                <a:latin typeface="Times New Roman"/>
                <a:cs typeface="Times New Roman"/>
              </a:rPr>
              <a:t> </a:t>
            </a:r>
            <a:r>
              <a:rPr sz="2800" dirty="0">
                <a:latin typeface="Times New Roman"/>
                <a:cs typeface="Times New Roman"/>
              </a:rPr>
              <a:t>been</a:t>
            </a:r>
            <a:r>
              <a:rPr sz="2800" spc="-50" dirty="0">
                <a:latin typeface="Times New Roman"/>
                <a:cs typeface="Times New Roman"/>
              </a:rPr>
              <a:t> </a:t>
            </a:r>
            <a:r>
              <a:rPr sz="2800" dirty="0">
                <a:latin typeface="Times New Roman"/>
                <a:cs typeface="Times New Roman"/>
              </a:rPr>
              <a:t>caught</a:t>
            </a:r>
            <a:r>
              <a:rPr sz="2800" spc="-60" dirty="0">
                <a:latin typeface="Times New Roman"/>
                <a:cs typeface="Times New Roman"/>
              </a:rPr>
              <a:t> </a:t>
            </a:r>
            <a:r>
              <a:rPr sz="2800" spc="-25" dirty="0">
                <a:latin typeface="Times New Roman"/>
                <a:cs typeface="Times New Roman"/>
              </a:rPr>
              <a:t>and 	</a:t>
            </a:r>
            <a:r>
              <a:rPr sz="2800" spc="-10" dirty="0">
                <a:latin typeface="Times New Roman"/>
                <a:cs typeface="Times New Roman"/>
              </a:rPr>
              <a:t>deleted</a:t>
            </a:r>
            <a:endParaRPr sz="2800">
              <a:latin typeface="Times New Roman"/>
              <a:cs typeface="Times New Roman"/>
            </a:endParaRPr>
          </a:p>
          <a:p>
            <a:pPr marL="240665" indent="-227965" algn="just">
              <a:lnSpc>
                <a:spcPct val="100000"/>
              </a:lnSpc>
              <a:spcBef>
                <a:spcPts val="625"/>
              </a:spcBef>
              <a:buFont typeface="Arial MT"/>
              <a:buChar char="•"/>
              <a:tabLst>
                <a:tab pos="240665" algn="l"/>
              </a:tabLst>
            </a:pPr>
            <a:r>
              <a:rPr sz="2800" dirty="0">
                <a:latin typeface="Times New Roman"/>
                <a:cs typeface="Times New Roman"/>
              </a:rPr>
              <a:t>Hiding</a:t>
            </a:r>
            <a:r>
              <a:rPr sz="2800" spc="-30" dirty="0">
                <a:latin typeface="Times New Roman"/>
                <a:cs typeface="Times New Roman"/>
              </a:rPr>
              <a:t> </a:t>
            </a:r>
            <a:r>
              <a:rPr sz="2800" dirty="0">
                <a:latin typeface="Times New Roman"/>
                <a:cs typeface="Times New Roman"/>
              </a:rPr>
              <a:t>from</a:t>
            </a:r>
            <a:r>
              <a:rPr sz="2800" spc="-15" dirty="0">
                <a:latin typeface="Times New Roman"/>
                <a:cs typeface="Times New Roman"/>
              </a:rPr>
              <a:t> </a:t>
            </a:r>
            <a:r>
              <a:rPr sz="2800" dirty="0">
                <a:latin typeface="Times New Roman"/>
                <a:cs typeface="Times New Roman"/>
              </a:rPr>
              <a:t>the</a:t>
            </a:r>
            <a:r>
              <a:rPr sz="2800" spc="-45" dirty="0">
                <a:latin typeface="Times New Roman"/>
                <a:cs typeface="Times New Roman"/>
              </a:rPr>
              <a:t> </a:t>
            </a:r>
            <a:r>
              <a:rPr sz="2800" dirty="0">
                <a:latin typeface="Times New Roman"/>
                <a:cs typeface="Times New Roman"/>
              </a:rPr>
              <a:t>system</a:t>
            </a:r>
            <a:r>
              <a:rPr sz="2800" spc="-30" dirty="0">
                <a:latin typeface="Times New Roman"/>
                <a:cs typeface="Times New Roman"/>
              </a:rPr>
              <a:t> </a:t>
            </a:r>
            <a:r>
              <a:rPr sz="2800" dirty="0">
                <a:latin typeface="Times New Roman"/>
                <a:cs typeface="Times New Roman"/>
              </a:rPr>
              <a:t>applications</a:t>
            </a:r>
            <a:r>
              <a:rPr sz="2800" spc="-60" dirty="0">
                <a:latin typeface="Times New Roman"/>
                <a:cs typeface="Times New Roman"/>
              </a:rPr>
              <a:t> </a:t>
            </a:r>
            <a:r>
              <a:rPr sz="2800" dirty="0">
                <a:latin typeface="Times New Roman"/>
                <a:cs typeface="Times New Roman"/>
              </a:rPr>
              <a:t>and</a:t>
            </a:r>
            <a:r>
              <a:rPr sz="2800" spc="-25" dirty="0">
                <a:latin typeface="Times New Roman"/>
                <a:cs typeface="Times New Roman"/>
              </a:rPr>
              <a:t> </a:t>
            </a:r>
            <a:r>
              <a:rPr sz="2800" dirty="0">
                <a:latin typeface="Times New Roman"/>
                <a:cs typeface="Times New Roman"/>
              </a:rPr>
              <a:t>the</a:t>
            </a:r>
            <a:r>
              <a:rPr sz="2800" spc="-35" dirty="0">
                <a:latin typeface="Times New Roman"/>
                <a:cs typeface="Times New Roman"/>
              </a:rPr>
              <a:t> </a:t>
            </a:r>
            <a:r>
              <a:rPr sz="2800" dirty="0">
                <a:latin typeface="Times New Roman"/>
                <a:cs typeface="Times New Roman"/>
              </a:rPr>
              <a:t>user</a:t>
            </a:r>
            <a:r>
              <a:rPr sz="2800" spc="-40" dirty="0">
                <a:latin typeface="Times New Roman"/>
                <a:cs typeface="Times New Roman"/>
              </a:rPr>
              <a:t> </a:t>
            </a:r>
            <a:r>
              <a:rPr sz="2800" dirty="0">
                <a:latin typeface="Times New Roman"/>
                <a:cs typeface="Times New Roman"/>
              </a:rPr>
              <a:t>of</a:t>
            </a:r>
            <a:r>
              <a:rPr sz="2800" spc="-15" dirty="0">
                <a:latin typeface="Times New Roman"/>
                <a:cs typeface="Times New Roman"/>
              </a:rPr>
              <a:t> </a:t>
            </a:r>
            <a:r>
              <a:rPr sz="2800" dirty="0">
                <a:latin typeface="Times New Roman"/>
                <a:cs typeface="Times New Roman"/>
              </a:rPr>
              <a:t>the</a:t>
            </a:r>
            <a:r>
              <a:rPr sz="2800" spc="-45" dirty="0">
                <a:latin typeface="Times New Roman"/>
                <a:cs typeface="Times New Roman"/>
              </a:rPr>
              <a:t> </a:t>
            </a:r>
            <a:r>
              <a:rPr sz="2800" spc="-10" dirty="0">
                <a:latin typeface="Times New Roman"/>
                <a:cs typeface="Times New Roman"/>
              </a:rPr>
              <a:t>computer</a:t>
            </a:r>
            <a:endParaRPr sz="2800">
              <a:latin typeface="Times New Roman"/>
              <a:cs typeface="Times New Roman"/>
            </a:endParaRPr>
          </a:p>
          <a:p>
            <a:pPr marL="239395" marR="568960" indent="-227329" algn="just">
              <a:lnSpc>
                <a:spcPct val="90000"/>
              </a:lnSpc>
              <a:spcBef>
                <a:spcPts val="994"/>
              </a:spcBef>
              <a:buFont typeface="Arial MT"/>
              <a:buChar char="•"/>
              <a:tabLst>
                <a:tab pos="241300" algn="l"/>
              </a:tabLst>
            </a:pPr>
            <a:r>
              <a:rPr sz="2800" dirty="0">
                <a:latin typeface="Times New Roman"/>
                <a:cs typeface="Times New Roman"/>
              </a:rPr>
              <a:t>Stealing</a:t>
            </a:r>
            <a:r>
              <a:rPr sz="2800" spc="-45" dirty="0">
                <a:latin typeface="Times New Roman"/>
                <a:cs typeface="Times New Roman"/>
              </a:rPr>
              <a:t> </a:t>
            </a:r>
            <a:r>
              <a:rPr sz="2800" dirty="0">
                <a:latin typeface="Times New Roman"/>
                <a:cs typeface="Times New Roman"/>
              </a:rPr>
              <a:t>personal</a:t>
            </a:r>
            <a:r>
              <a:rPr sz="2800" spc="-50" dirty="0">
                <a:latin typeface="Times New Roman"/>
                <a:cs typeface="Times New Roman"/>
              </a:rPr>
              <a:t> </a:t>
            </a:r>
            <a:r>
              <a:rPr sz="2800" dirty="0">
                <a:latin typeface="Times New Roman"/>
                <a:cs typeface="Times New Roman"/>
              </a:rPr>
              <a:t>information,</a:t>
            </a:r>
            <a:r>
              <a:rPr sz="2800" spc="-40" dirty="0">
                <a:latin typeface="Times New Roman"/>
                <a:cs typeface="Times New Roman"/>
              </a:rPr>
              <a:t> </a:t>
            </a:r>
            <a:r>
              <a:rPr sz="2800" dirty="0">
                <a:latin typeface="Times New Roman"/>
                <a:cs typeface="Times New Roman"/>
              </a:rPr>
              <a:t>passwords,</a:t>
            </a:r>
            <a:r>
              <a:rPr sz="2800" spc="-50" dirty="0">
                <a:latin typeface="Times New Roman"/>
                <a:cs typeface="Times New Roman"/>
              </a:rPr>
              <a:t> </a:t>
            </a:r>
            <a:r>
              <a:rPr sz="2800" dirty="0">
                <a:latin typeface="Times New Roman"/>
                <a:cs typeface="Times New Roman"/>
              </a:rPr>
              <a:t>and</a:t>
            </a:r>
            <a:r>
              <a:rPr sz="2800" spc="-35" dirty="0">
                <a:latin typeface="Times New Roman"/>
                <a:cs typeface="Times New Roman"/>
              </a:rPr>
              <a:t> </a:t>
            </a:r>
            <a:r>
              <a:rPr sz="2800" dirty="0">
                <a:latin typeface="Times New Roman"/>
                <a:cs typeface="Times New Roman"/>
              </a:rPr>
              <a:t>installing</a:t>
            </a:r>
            <a:r>
              <a:rPr sz="2800" spc="-70" dirty="0">
                <a:latin typeface="Times New Roman"/>
                <a:cs typeface="Times New Roman"/>
              </a:rPr>
              <a:t> </a:t>
            </a:r>
            <a:r>
              <a:rPr sz="2800" spc="-10" dirty="0">
                <a:latin typeface="Times New Roman"/>
                <a:cs typeface="Times New Roman"/>
              </a:rPr>
              <a:t>other 	</a:t>
            </a:r>
            <a:r>
              <a:rPr sz="2800" dirty="0">
                <a:latin typeface="Times New Roman"/>
                <a:cs typeface="Times New Roman"/>
              </a:rPr>
              <a:t>malicious</a:t>
            </a:r>
            <a:r>
              <a:rPr sz="2800" spc="-40" dirty="0">
                <a:latin typeface="Times New Roman"/>
                <a:cs typeface="Times New Roman"/>
              </a:rPr>
              <a:t> </a:t>
            </a:r>
            <a:r>
              <a:rPr sz="2800" dirty="0">
                <a:latin typeface="Times New Roman"/>
                <a:cs typeface="Times New Roman"/>
              </a:rPr>
              <a:t>programs</a:t>
            </a:r>
            <a:r>
              <a:rPr sz="2800" spc="-35" dirty="0">
                <a:latin typeface="Times New Roman"/>
                <a:cs typeface="Times New Roman"/>
              </a:rPr>
              <a:t> </a:t>
            </a:r>
            <a:r>
              <a:rPr sz="2800" dirty="0">
                <a:latin typeface="Times New Roman"/>
                <a:cs typeface="Times New Roman"/>
              </a:rPr>
              <a:t>on</a:t>
            </a:r>
            <a:r>
              <a:rPr sz="2800" spc="-25" dirty="0">
                <a:latin typeface="Times New Roman"/>
                <a:cs typeface="Times New Roman"/>
              </a:rPr>
              <a:t> </a:t>
            </a:r>
            <a:r>
              <a:rPr sz="2800" dirty="0">
                <a:latin typeface="Times New Roman"/>
                <a:cs typeface="Times New Roman"/>
              </a:rPr>
              <a:t>the</a:t>
            </a:r>
            <a:r>
              <a:rPr sz="2800" spc="-35" dirty="0">
                <a:latin typeface="Times New Roman"/>
                <a:cs typeface="Times New Roman"/>
              </a:rPr>
              <a:t> </a:t>
            </a:r>
            <a:r>
              <a:rPr sz="2800" dirty="0">
                <a:latin typeface="Times New Roman"/>
                <a:cs typeface="Times New Roman"/>
              </a:rPr>
              <a:t>computer</a:t>
            </a:r>
            <a:r>
              <a:rPr sz="2800" spc="-40" dirty="0">
                <a:latin typeface="Times New Roman"/>
                <a:cs typeface="Times New Roman"/>
              </a:rPr>
              <a:t> </a:t>
            </a:r>
            <a:r>
              <a:rPr sz="2800" dirty="0">
                <a:latin typeface="Times New Roman"/>
                <a:cs typeface="Times New Roman"/>
              </a:rPr>
              <a:t>so</a:t>
            </a:r>
            <a:r>
              <a:rPr sz="2800" spc="-30" dirty="0">
                <a:latin typeface="Times New Roman"/>
                <a:cs typeface="Times New Roman"/>
              </a:rPr>
              <a:t> </a:t>
            </a:r>
            <a:r>
              <a:rPr sz="2800" dirty="0">
                <a:latin typeface="Times New Roman"/>
                <a:cs typeface="Times New Roman"/>
              </a:rPr>
              <a:t>that</a:t>
            </a:r>
            <a:r>
              <a:rPr sz="2800" spc="-50" dirty="0">
                <a:latin typeface="Times New Roman"/>
                <a:cs typeface="Times New Roman"/>
              </a:rPr>
              <a:t> </a:t>
            </a:r>
            <a:r>
              <a:rPr sz="2800" dirty="0">
                <a:latin typeface="Times New Roman"/>
                <a:cs typeface="Times New Roman"/>
              </a:rPr>
              <a:t>the</a:t>
            </a:r>
            <a:r>
              <a:rPr sz="2800" spc="-40" dirty="0">
                <a:latin typeface="Times New Roman"/>
                <a:cs typeface="Times New Roman"/>
              </a:rPr>
              <a:t> </a:t>
            </a:r>
            <a:r>
              <a:rPr sz="2800" spc="-10" dirty="0">
                <a:latin typeface="Times New Roman"/>
                <a:cs typeface="Times New Roman"/>
              </a:rPr>
              <a:t>compromised 	</a:t>
            </a:r>
            <a:r>
              <a:rPr sz="2800" dirty="0">
                <a:latin typeface="Times New Roman"/>
                <a:cs typeface="Times New Roman"/>
              </a:rPr>
              <a:t>computer</a:t>
            </a:r>
            <a:r>
              <a:rPr sz="2800" spc="-30" dirty="0">
                <a:latin typeface="Times New Roman"/>
                <a:cs typeface="Times New Roman"/>
              </a:rPr>
              <a:t> </a:t>
            </a:r>
            <a:r>
              <a:rPr sz="2800" dirty="0">
                <a:latin typeface="Times New Roman"/>
                <a:cs typeface="Times New Roman"/>
              </a:rPr>
              <a:t>can</a:t>
            </a:r>
            <a:r>
              <a:rPr sz="2800" spc="-40" dirty="0">
                <a:latin typeface="Times New Roman"/>
                <a:cs typeface="Times New Roman"/>
              </a:rPr>
              <a:t> </a:t>
            </a:r>
            <a:r>
              <a:rPr sz="2800" dirty="0">
                <a:latin typeface="Times New Roman"/>
                <a:cs typeface="Times New Roman"/>
              </a:rPr>
              <a:t>be</a:t>
            </a:r>
            <a:r>
              <a:rPr sz="2800" spc="-45" dirty="0">
                <a:latin typeface="Times New Roman"/>
                <a:cs typeface="Times New Roman"/>
              </a:rPr>
              <a:t> </a:t>
            </a:r>
            <a:r>
              <a:rPr sz="2800" dirty="0">
                <a:latin typeface="Times New Roman"/>
                <a:cs typeface="Times New Roman"/>
              </a:rPr>
              <a:t>used</a:t>
            </a:r>
            <a:r>
              <a:rPr sz="2800" spc="-50" dirty="0">
                <a:latin typeface="Times New Roman"/>
                <a:cs typeface="Times New Roman"/>
              </a:rPr>
              <a:t> </a:t>
            </a:r>
            <a:r>
              <a:rPr sz="2800" dirty="0">
                <a:latin typeface="Times New Roman"/>
                <a:cs typeface="Times New Roman"/>
              </a:rPr>
              <a:t>for</a:t>
            </a:r>
            <a:r>
              <a:rPr sz="2800" spc="-25" dirty="0">
                <a:latin typeface="Times New Roman"/>
                <a:cs typeface="Times New Roman"/>
              </a:rPr>
              <a:t> </a:t>
            </a:r>
            <a:r>
              <a:rPr sz="2800" dirty="0">
                <a:latin typeface="Times New Roman"/>
                <a:cs typeface="Times New Roman"/>
              </a:rPr>
              <a:t>attacking</a:t>
            </a:r>
            <a:r>
              <a:rPr sz="2800" spc="-55" dirty="0">
                <a:latin typeface="Times New Roman"/>
                <a:cs typeface="Times New Roman"/>
              </a:rPr>
              <a:t> </a:t>
            </a:r>
            <a:r>
              <a:rPr sz="2800" dirty="0">
                <a:latin typeface="Times New Roman"/>
                <a:cs typeface="Times New Roman"/>
              </a:rPr>
              <a:t>the</a:t>
            </a:r>
            <a:r>
              <a:rPr sz="2800" spc="-45" dirty="0">
                <a:latin typeface="Times New Roman"/>
                <a:cs typeface="Times New Roman"/>
              </a:rPr>
              <a:t> </a:t>
            </a:r>
            <a:r>
              <a:rPr sz="2800" dirty="0">
                <a:latin typeface="Times New Roman"/>
                <a:cs typeface="Times New Roman"/>
              </a:rPr>
              <a:t>other</a:t>
            </a:r>
            <a:r>
              <a:rPr sz="2800" spc="-45" dirty="0">
                <a:latin typeface="Times New Roman"/>
                <a:cs typeface="Times New Roman"/>
              </a:rPr>
              <a:t> </a:t>
            </a:r>
            <a:r>
              <a:rPr sz="2800" dirty="0">
                <a:latin typeface="Times New Roman"/>
                <a:cs typeface="Times New Roman"/>
              </a:rPr>
              <a:t>computers</a:t>
            </a:r>
            <a:r>
              <a:rPr sz="2800" spc="-40" dirty="0">
                <a:latin typeface="Times New Roman"/>
                <a:cs typeface="Times New Roman"/>
              </a:rPr>
              <a:t> </a:t>
            </a:r>
            <a:r>
              <a:rPr sz="2800" dirty="0">
                <a:latin typeface="Times New Roman"/>
                <a:cs typeface="Times New Roman"/>
              </a:rPr>
              <a:t>on</a:t>
            </a:r>
            <a:r>
              <a:rPr sz="2800" spc="-35" dirty="0">
                <a:latin typeface="Times New Roman"/>
                <a:cs typeface="Times New Roman"/>
              </a:rPr>
              <a:t> </a:t>
            </a:r>
            <a:r>
              <a:rPr sz="2800" spc="-25" dirty="0">
                <a:latin typeface="Times New Roman"/>
                <a:cs typeface="Times New Roman"/>
              </a:rPr>
              <a:t>the 	</a:t>
            </a:r>
            <a:r>
              <a:rPr sz="2800" spc="-10" dirty="0">
                <a:latin typeface="Times New Roman"/>
                <a:cs typeface="Times New Roman"/>
              </a:rPr>
              <a:t>network</a:t>
            </a:r>
            <a:endParaRPr sz="2800">
              <a:latin typeface="Times New Roman"/>
              <a:cs typeface="Times New Roman"/>
            </a:endParaRPr>
          </a:p>
        </p:txBody>
      </p:sp>
    </p:spTree>
    <p:extLst>
      <p:ext uri="{BB962C8B-B14F-4D97-AF65-F5344CB8AC3E}">
        <p14:creationId xmlns:p14="http://schemas.microsoft.com/office/powerpoint/2010/main" val="37111798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04037"/>
            <a:ext cx="2451100" cy="635000"/>
          </a:xfrm>
          <a:prstGeom prst="rect">
            <a:avLst/>
          </a:prstGeom>
        </p:spPr>
        <p:txBody>
          <a:bodyPr vert="horz" wrap="square" lIns="0" tIns="12065" rIns="0" bIns="0" rtlCol="0">
            <a:spAutoFit/>
          </a:bodyPr>
          <a:lstStyle/>
          <a:p>
            <a:pPr marL="12700">
              <a:lnSpc>
                <a:spcPct val="100000"/>
              </a:lnSpc>
              <a:spcBef>
                <a:spcPts val="95"/>
              </a:spcBef>
            </a:pPr>
            <a:r>
              <a:rPr sz="4000" spc="-10" dirty="0"/>
              <a:t>ROOTKIT</a:t>
            </a:r>
            <a:endParaRPr sz="400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3" name="object 3"/>
          <p:cNvSpPr txBox="1"/>
          <p:nvPr/>
        </p:nvSpPr>
        <p:spPr>
          <a:xfrm>
            <a:off x="916939" y="1172717"/>
            <a:ext cx="10333355" cy="5058410"/>
          </a:xfrm>
          <a:prstGeom prst="rect">
            <a:avLst/>
          </a:prstGeom>
        </p:spPr>
        <p:txBody>
          <a:bodyPr vert="horz" wrap="square" lIns="0" tIns="60960" rIns="0" bIns="0" rtlCol="0">
            <a:spAutoFit/>
          </a:bodyPr>
          <a:lstStyle/>
          <a:p>
            <a:pPr marL="12700" marR="469265">
              <a:lnSpc>
                <a:spcPts val="3020"/>
              </a:lnSpc>
              <a:spcBef>
                <a:spcPts val="480"/>
              </a:spcBef>
            </a:pPr>
            <a:r>
              <a:rPr sz="2800" dirty="0">
                <a:latin typeface="Times New Roman"/>
                <a:cs typeface="Times New Roman"/>
              </a:rPr>
              <a:t>The</a:t>
            </a:r>
            <a:r>
              <a:rPr sz="2800" spc="-40" dirty="0">
                <a:latin typeface="Times New Roman"/>
                <a:cs typeface="Times New Roman"/>
              </a:rPr>
              <a:t> </a:t>
            </a:r>
            <a:r>
              <a:rPr sz="2800" dirty="0">
                <a:latin typeface="Times New Roman"/>
                <a:cs typeface="Times New Roman"/>
              </a:rPr>
              <a:t>major</a:t>
            </a:r>
            <a:r>
              <a:rPr sz="2800" spc="-20" dirty="0">
                <a:latin typeface="Times New Roman"/>
                <a:cs typeface="Times New Roman"/>
              </a:rPr>
              <a:t> </a:t>
            </a:r>
            <a:r>
              <a:rPr sz="2800" dirty="0">
                <a:latin typeface="Times New Roman"/>
                <a:cs typeface="Times New Roman"/>
              </a:rPr>
              <a:t>ways</a:t>
            </a:r>
            <a:r>
              <a:rPr sz="2800" spc="-40" dirty="0">
                <a:latin typeface="Times New Roman"/>
                <a:cs typeface="Times New Roman"/>
              </a:rPr>
              <a:t> </a:t>
            </a:r>
            <a:r>
              <a:rPr sz="2800" dirty="0">
                <a:latin typeface="Times New Roman"/>
                <a:cs typeface="Times New Roman"/>
              </a:rPr>
              <a:t>in</a:t>
            </a:r>
            <a:r>
              <a:rPr sz="2800" spc="-25" dirty="0">
                <a:latin typeface="Times New Roman"/>
                <a:cs typeface="Times New Roman"/>
              </a:rPr>
              <a:t> </a:t>
            </a:r>
            <a:r>
              <a:rPr sz="2800" dirty="0">
                <a:latin typeface="Times New Roman"/>
                <a:cs typeface="Times New Roman"/>
              </a:rPr>
              <a:t>which</a:t>
            </a:r>
            <a:r>
              <a:rPr sz="2800" spc="-35" dirty="0">
                <a:latin typeface="Times New Roman"/>
                <a:cs typeface="Times New Roman"/>
              </a:rPr>
              <a:t> </a:t>
            </a:r>
            <a:r>
              <a:rPr sz="2800" dirty="0">
                <a:latin typeface="Times New Roman"/>
                <a:cs typeface="Times New Roman"/>
              </a:rPr>
              <a:t>the</a:t>
            </a:r>
            <a:r>
              <a:rPr sz="2800" spc="-45" dirty="0">
                <a:latin typeface="Times New Roman"/>
                <a:cs typeface="Times New Roman"/>
              </a:rPr>
              <a:t> </a:t>
            </a:r>
            <a:r>
              <a:rPr sz="2800" dirty="0">
                <a:latin typeface="Times New Roman"/>
                <a:cs typeface="Times New Roman"/>
              </a:rPr>
              <a:t>rootkits</a:t>
            </a:r>
            <a:r>
              <a:rPr sz="2800" spc="-55" dirty="0">
                <a:latin typeface="Times New Roman"/>
                <a:cs typeface="Times New Roman"/>
              </a:rPr>
              <a:t> </a:t>
            </a:r>
            <a:r>
              <a:rPr sz="2800" dirty="0">
                <a:latin typeface="Times New Roman"/>
                <a:cs typeface="Times New Roman"/>
              </a:rPr>
              <a:t>subvert</a:t>
            </a:r>
            <a:r>
              <a:rPr sz="2800" spc="-60" dirty="0">
                <a:latin typeface="Times New Roman"/>
                <a:cs typeface="Times New Roman"/>
              </a:rPr>
              <a:t> </a:t>
            </a:r>
            <a:r>
              <a:rPr sz="2800" dirty="0">
                <a:latin typeface="Times New Roman"/>
                <a:cs typeface="Times New Roman"/>
              </a:rPr>
              <a:t>the</a:t>
            </a:r>
            <a:r>
              <a:rPr sz="2800" spc="-40" dirty="0">
                <a:latin typeface="Times New Roman"/>
                <a:cs typeface="Times New Roman"/>
              </a:rPr>
              <a:t> </a:t>
            </a:r>
            <a:r>
              <a:rPr sz="2800" dirty="0">
                <a:latin typeface="Times New Roman"/>
                <a:cs typeface="Times New Roman"/>
              </a:rPr>
              <a:t>OS</a:t>
            </a:r>
            <a:r>
              <a:rPr sz="2800" spc="-25" dirty="0">
                <a:latin typeface="Times New Roman"/>
                <a:cs typeface="Times New Roman"/>
              </a:rPr>
              <a:t> </a:t>
            </a:r>
            <a:r>
              <a:rPr sz="2800" dirty="0">
                <a:latin typeface="Times New Roman"/>
                <a:cs typeface="Times New Roman"/>
              </a:rPr>
              <a:t>of</a:t>
            </a:r>
            <a:r>
              <a:rPr sz="2800" spc="-20" dirty="0">
                <a:latin typeface="Times New Roman"/>
                <a:cs typeface="Times New Roman"/>
              </a:rPr>
              <a:t> </a:t>
            </a:r>
            <a:r>
              <a:rPr sz="2800" dirty="0">
                <a:latin typeface="Times New Roman"/>
                <a:cs typeface="Times New Roman"/>
              </a:rPr>
              <a:t>the</a:t>
            </a:r>
            <a:r>
              <a:rPr sz="2800" spc="-55" dirty="0">
                <a:latin typeface="Times New Roman"/>
                <a:cs typeface="Times New Roman"/>
              </a:rPr>
              <a:t> </a:t>
            </a:r>
            <a:r>
              <a:rPr sz="2800" spc="-10" dirty="0">
                <a:latin typeface="Times New Roman"/>
                <a:cs typeface="Times New Roman"/>
              </a:rPr>
              <a:t>computer </a:t>
            </a:r>
            <a:r>
              <a:rPr sz="2800" dirty="0">
                <a:latin typeface="Times New Roman"/>
                <a:cs typeface="Times New Roman"/>
              </a:rPr>
              <a:t>include</a:t>
            </a:r>
            <a:r>
              <a:rPr sz="2800" spc="-30" dirty="0">
                <a:latin typeface="Times New Roman"/>
                <a:cs typeface="Times New Roman"/>
              </a:rPr>
              <a:t> </a:t>
            </a:r>
            <a:r>
              <a:rPr sz="2800" dirty="0">
                <a:latin typeface="Times New Roman"/>
                <a:cs typeface="Times New Roman"/>
              </a:rPr>
              <a:t>the</a:t>
            </a:r>
            <a:r>
              <a:rPr sz="2800" spc="-30" dirty="0">
                <a:latin typeface="Times New Roman"/>
                <a:cs typeface="Times New Roman"/>
              </a:rPr>
              <a:t> </a:t>
            </a:r>
            <a:r>
              <a:rPr sz="2800" spc="-10" dirty="0">
                <a:latin typeface="Times New Roman"/>
                <a:cs typeface="Times New Roman"/>
              </a:rPr>
              <a:t>following:</a:t>
            </a:r>
            <a:endParaRPr sz="2800">
              <a:latin typeface="Times New Roman"/>
              <a:cs typeface="Times New Roman"/>
            </a:endParaRPr>
          </a:p>
          <a:p>
            <a:pPr marL="240029" marR="401320" indent="-227965">
              <a:lnSpc>
                <a:spcPts val="3020"/>
              </a:lnSpc>
              <a:spcBef>
                <a:spcPts val="1015"/>
              </a:spcBef>
              <a:buFont typeface="Arial MT"/>
              <a:buChar char="•"/>
              <a:tabLst>
                <a:tab pos="241300" algn="l"/>
              </a:tabLst>
            </a:pPr>
            <a:r>
              <a:rPr sz="2800" dirty="0">
                <a:latin typeface="Times New Roman"/>
                <a:cs typeface="Times New Roman"/>
              </a:rPr>
              <a:t>By</a:t>
            </a:r>
            <a:r>
              <a:rPr sz="2800" spc="-20" dirty="0">
                <a:latin typeface="Times New Roman"/>
                <a:cs typeface="Times New Roman"/>
              </a:rPr>
              <a:t> </a:t>
            </a:r>
            <a:r>
              <a:rPr sz="2800" dirty="0">
                <a:latin typeface="Times New Roman"/>
                <a:cs typeface="Times New Roman"/>
              </a:rPr>
              <a:t>changing</a:t>
            </a:r>
            <a:r>
              <a:rPr sz="2800" spc="-15" dirty="0">
                <a:latin typeface="Times New Roman"/>
                <a:cs typeface="Times New Roman"/>
              </a:rPr>
              <a:t> </a:t>
            </a:r>
            <a:r>
              <a:rPr sz="2800" dirty="0">
                <a:latin typeface="Times New Roman"/>
                <a:cs typeface="Times New Roman"/>
              </a:rPr>
              <a:t>the</a:t>
            </a:r>
            <a:r>
              <a:rPr sz="2800" spc="-175" dirty="0">
                <a:latin typeface="Times New Roman"/>
                <a:cs typeface="Times New Roman"/>
              </a:rPr>
              <a:t> </a:t>
            </a:r>
            <a:r>
              <a:rPr sz="2800" dirty="0">
                <a:latin typeface="Times New Roman"/>
                <a:cs typeface="Times New Roman"/>
              </a:rPr>
              <a:t>API addresses</a:t>
            </a:r>
            <a:r>
              <a:rPr sz="2800" spc="-30" dirty="0">
                <a:latin typeface="Times New Roman"/>
                <a:cs typeface="Times New Roman"/>
              </a:rPr>
              <a:t> </a:t>
            </a:r>
            <a:r>
              <a:rPr sz="2800" dirty="0">
                <a:latin typeface="Times New Roman"/>
                <a:cs typeface="Times New Roman"/>
              </a:rPr>
              <a:t>of the</a:t>
            </a:r>
            <a:r>
              <a:rPr sz="2800" spc="-15" dirty="0">
                <a:latin typeface="Times New Roman"/>
                <a:cs typeface="Times New Roman"/>
              </a:rPr>
              <a:t> </a:t>
            </a:r>
            <a:r>
              <a:rPr sz="2800" dirty="0">
                <a:latin typeface="Times New Roman"/>
                <a:cs typeface="Times New Roman"/>
              </a:rPr>
              <a:t>legitimate</a:t>
            </a:r>
            <a:r>
              <a:rPr sz="2800" spc="-30" dirty="0">
                <a:latin typeface="Times New Roman"/>
                <a:cs typeface="Times New Roman"/>
              </a:rPr>
              <a:t> </a:t>
            </a:r>
            <a:r>
              <a:rPr sz="2800" spc="-10" dirty="0">
                <a:latin typeface="Times New Roman"/>
                <a:cs typeface="Times New Roman"/>
              </a:rPr>
              <a:t>applications’</a:t>
            </a:r>
            <a:r>
              <a:rPr sz="2800" spc="-380" dirty="0">
                <a:latin typeface="Times New Roman"/>
                <a:cs typeface="Times New Roman"/>
              </a:rPr>
              <a:t> </a:t>
            </a:r>
            <a:r>
              <a:rPr sz="2800" spc="-20" dirty="0">
                <a:latin typeface="Times New Roman"/>
                <a:cs typeface="Times New Roman"/>
              </a:rPr>
              <a:t>APIs 	</a:t>
            </a:r>
            <a:r>
              <a:rPr sz="2800" dirty="0">
                <a:latin typeface="Times New Roman"/>
                <a:cs typeface="Times New Roman"/>
              </a:rPr>
              <a:t>with</a:t>
            </a:r>
            <a:r>
              <a:rPr sz="2800" spc="-35" dirty="0">
                <a:latin typeface="Times New Roman"/>
                <a:cs typeface="Times New Roman"/>
              </a:rPr>
              <a:t> </a:t>
            </a:r>
            <a:r>
              <a:rPr sz="2800" dirty="0">
                <a:latin typeface="Times New Roman"/>
                <a:cs typeface="Times New Roman"/>
              </a:rPr>
              <a:t>the</a:t>
            </a:r>
            <a:r>
              <a:rPr sz="2800" spc="-40" dirty="0">
                <a:latin typeface="Times New Roman"/>
                <a:cs typeface="Times New Roman"/>
              </a:rPr>
              <a:t> </a:t>
            </a:r>
            <a:r>
              <a:rPr sz="2800" dirty="0">
                <a:latin typeface="Times New Roman"/>
                <a:cs typeface="Times New Roman"/>
              </a:rPr>
              <a:t>address</a:t>
            </a:r>
            <a:r>
              <a:rPr sz="2800" spc="-50" dirty="0">
                <a:latin typeface="Times New Roman"/>
                <a:cs typeface="Times New Roman"/>
              </a:rPr>
              <a:t> </a:t>
            </a:r>
            <a:r>
              <a:rPr sz="2800" dirty="0">
                <a:latin typeface="Times New Roman"/>
                <a:cs typeface="Times New Roman"/>
              </a:rPr>
              <a:t>of</a:t>
            </a:r>
            <a:r>
              <a:rPr sz="2800" spc="-30" dirty="0">
                <a:latin typeface="Times New Roman"/>
                <a:cs typeface="Times New Roman"/>
              </a:rPr>
              <a:t> </a:t>
            </a:r>
            <a:r>
              <a:rPr sz="2800" dirty="0">
                <a:latin typeface="Times New Roman"/>
                <a:cs typeface="Times New Roman"/>
              </a:rPr>
              <a:t>code</a:t>
            </a:r>
            <a:r>
              <a:rPr sz="2800" spc="-45" dirty="0">
                <a:latin typeface="Times New Roman"/>
                <a:cs typeface="Times New Roman"/>
              </a:rPr>
              <a:t> </a:t>
            </a:r>
            <a:r>
              <a:rPr sz="2800" dirty="0">
                <a:latin typeface="Times New Roman"/>
                <a:cs typeface="Times New Roman"/>
              </a:rPr>
              <a:t>of</a:t>
            </a:r>
            <a:r>
              <a:rPr sz="2800" spc="-30" dirty="0">
                <a:latin typeface="Times New Roman"/>
                <a:cs typeface="Times New Roman"/>
              </a:rPr>
              <a:t> </a:t>
            </a:r>
            <a:r>
              <a:rPr sz="2800" dirty="0">
                <a:latin typeface="Times New Roman"/>
                <a:cs typeface="Times New Roman"/>
              </a:rPr>
              <a:t>the</a:t>
            </a:r>
            <a:r>
              <a:rPr sz="2800" spc="-40" dirty="0">
                <a:latin typeface="Times New Roman"/>
                <a:cs typeface="Times New Roman"/>
              </a:rPr>
              <a:t> </a:t>
            </a:r>
            <a:r>
              <a:rPr sz="2800" dirty="0">
                <a:latin typeface="Times New Roman"/>
                <a:cs typeface="Times New Roman"/>
              </a:rPr>
              <a:t>rootkit.</a:t>
            </a:r>
            <a:r>
              <a:rPr sz="2800" spc="-105" dirty="0">
                <a:latin typeface="Times New Roman"/>
                <a:cs typeface="Times New Roman"/>
              </a:rPr>
              <a:t> </a:t>
            </a:r>
            <a:r>
              <a:rPr sz="2800" dirty="0">
                <a:latin typeface="Times New Roman"/>
                <a:cs typeface="Times New Roman"/>
              </a:rPr>
              <a:t>This</a:t>
            </a:r>
            <a:r>
              <a:rPr sz="2800" spc="-35" dirty="0">
                <a:latin typeface="Times New Roman"/>
                <a:cs typeface="Times New Roman"/>
              </a:rPr>
              <a:t> </a:t>
            </a:r>
            <a:r>
              <a:rPr sz="2800" dirty="0">
                <a:latin typeface="Times New Roman"/>
                <a:cs typeface="Times New Roman"/>
              </a:rPr>
              <a:t>procedure</a:t>
            </a:r>
            <a:r>
              <a:rPr sz="2800" spc="-40" dirty="0">
                <a:latin typeface="Times New Roman"/>
                <a:cs typeface="Times New Roman"/>
              </a:rPr>
              <a:t> </a:t>
            </a:r>
            <a:r>
              <a:rPr sz="2800" dirty="0">
                <a:latin typeface="Times New Roman"/>
                <a:cs typeface="Times New Roman"/>
              </a:rPr>
              <a:t>of</a:t>
            </a:r>
            <a:r>
              <a:rPr sz="2800" spc="-40" dirty="0">
                <a:latin typeface="Times New Roman"/>
                <a:cs typeface="Times New Roman"/>
              </a:rPr>
              <a:t> </a:t>
            </a:r>
            <a:r>
              <a:rPr sz="2800" spc="-10" dirty="0">
                <a:latin typeface="Times New Roman"/>
                <a:cs typeface="Times New Roman"/>
              </a:rPr>
              <a:t>subverting 	</a:t>
            </a:r>
            <a:r>
              <a:rPr sz="2800" dirty="0">
                <a:latin typeface="Times New Roman"/>
                <a:cs typeface="Times New Roman"/>
              </a:rPr>
              <a:t>the</a:t>
            </a:r>
            <a:r>
              <a:rPr sz="2800" spc="-45" dirty="0">
                <a:latin typeface="Times New Roman"/>
                <a:cs typeface="Times New Roman"/>
              </a:rPr>
              <a:t> </a:t>
            </a:r>
            <a:r>
              <a:rPr sz="2800" dirty="0">
                <a:latin typeface="Times New Roman"/>
                <a:cs typeface="Times New Roman"/>
              </a:rPr>
              <a:t>OS</a:t>
            </a:r>
            <a:r>
              <a:rPr sz="2800" spc="-15" dirty="0">
                <a:latin typeface="Times New Roman"/>
                <a:cs typeface="Times New Roman"/>
              </a:rPr>
              <a:t> </a:t>
            </a:r>
            <a:r>
              <a:rPr sz="2800" dirty="0">
                <a:latin typeface="Times New Roman"/>
                <a:cs typeface="Times New Roman"/>
              </a:rPr>
              <a:t>functioning</a:t>
            </a:r>
            <a:r>
              <a:rPr sz="2800" spc="-45" dirty="0">
                <a:latin typeface="Times New Roman"/>
                <a:cs typeface="Times New Roman"/>
              </a:rPr>
              <a:t> </a:t>
            </a:r>
            <a:r>
              <a:rPr sz="2800" dirty="0">
                <a:latin typeface="Times New Roman"/>
                <a:cs typeface="Times New Roman"/>
              </a:rPr>
              <a:t>is</a:t>
            </a:r>
            <a:r>
              <a:rPr sz="2800" spc="-35" dirty="0">
                <a:latin typeface="Times New Roman"/>
                <a:cs typeface="Times New Roman"/>
              </a:rPr>
              <a:t> </a:t>
            </a:r>
            <a:r>
              <a:rPr sz="2800" dirty="0">
                <a:latin typeface="Times New Roman"/>
                <a:cs typeface="Times New Roman"/>
              </a:rPr>
              <a:t>known</a:t>
            </a:r>
            <a:r>
              <a:rPr sz="2800" spc="-30" dirty="0">
                <a:latin typeface="Times New Roman"/>
                <a:cs typeface="Times New Roman"/>
              </a:rPr>
              <a:t> </a:t>
            </a:r>
            <a:r>
              <a:rPr sz="2800" dirty="0">
                <a:latin typeface="Times New Roman"/>
                <a:cs typeface="Times New Roman"/>
              </a:rPr>
              <a:t>as</a:t>
            </a:r>
            <a:r>
              <a:rPr sz="2800" spc="-35" dirty="0">
                <a:latin typeface="Times New Roman"/>
                <a:cs typeface="Times New Roman"/>
              </a:rPr>
              <a:t> </a:t>
            </a:r>
            <a:r>
              <a:rPr sz="2800" dirty="0">
                <a:latin typeface="Times New Roman"/>
                <a:cs typeface="Times New Roman"/>
              </a:rPr>
              <a:t>the</a:t>
            </a:r>
            <a:r>
              <a:rPr sz="2800" spc="-175" dirty="0">
                <a:latin typeface="Times New Roman"/>
                <a:cs typeface="Times New Roman"/>
              </a:rPr>
              <a:t> </a:t>
            </a:r>
            <a:r>
              <a:rPr sz="2800" u="sng" dirty="0">
                <a:uFill>
                  <a:solidFill>
                    <a:srgbClr val="000000"/>
                  </a:solidFill>
                </a:uFill>
                <a:latin typeface="Times New Roman"/>
                <a:cs typeface="Times New Roman"/>
              </a:rPr>
              <a:t>API</a:t>
            </a:r>
            <a:r>
              <a:rPr sz="2800" u="sng" spc="-20" dirty="0">
                <a:uFill>
                  <a:solidFill>
                    <a:srgbClr val="000000"/>
                  </a:solidFill>
                </a:uFill>
                <a:latin typeface="Times New Roman"/>
                <a:cs typeface="Times New Roman"/>
              </a:rPr>
              <a:t> </a:t>
            </a:r>
            <a:r>
              <a:rPr sz="2800" u="sng" spc="-10" dirty="0">
                <a:uFill>
                  <a:solidFill>
                    <a:srgbClr val="000000"/>
                  </a:solidFill>
                </a:uFill>
                <a:latin typeface="Times New Roman"/>
                <a:cs typeface="Times New Roman"/>
              </a:rPr>
              <a:t>hooking</a:t>
            </a:r>
            <a:r>
              <a:rPr sz="2800" spc="-10" dirty="0">
                <a:latin typeface="Times New Roman"/>
                <a:cs typeface="Times New Roman"/>
              </a:rPr>
              <a:t>.</a:t>
            </a:r>
            <a:endParaRPr sz="2800">
              <a:latin typeface="Times New Roman"/>
              <a:cs typeface="Times New Roman"/>
            </a:endParaRPr>
          </a:p>
          <a:p>
            <a:pPr marL="239395" marR="164465" indent="-227329">
              <a:lnSpc>
                <a:spcPts val="3030"/>
              </a:lnSpc>
              <a:spcBef>
                <a:spcPts val="1000"/>
              </a:spcBef>
              <a:buFont typeface="Arial MT"/>
              <a:buChar char="•"/>
              <a:tabLst>
                <a:tab pos="241300" algn="l"/>
              </a:tabLst>
            </a:pPr>
            <a:r>
              <a:rPr sz="2800" dirty="0">
                <a:latin typeface="Times New Roman"/>
                <a:cs typeface="Times New Roman"/>
              </a:rPr>
              <a:t>By</a:t>
            </a:r>
            <a:r>
              <a:rPr sz="2800" spc="-35" dirty="0">
                <a:latin typeface="Times New Roman"/>
                <a:cs typeface="Times New Roman"/>
              </a:rPr>
              <a:t> </a:t>
            </a:r>
            <a:r>
              <a:rPr sz="2800" dirty="0">
                <a:latin typeface="Times New Roman"/>
                <a:cs typeface="Times New Roman"/>
              </a:rPr>
              <a:t>hiding</a:t>
            </a:r>
            <a:r>
              <a:rPr sz="2800" spc="-35" dirty="0">
                <a:latin typeface="Times New Roman"/>
                <a:cs typeface="Times New Roman"/>
              </a:rPr>
              <a:t> </a:t>
            </a:r>
            <a:r>
              <a:rPr sz="2800" dirty="0">
                <a:latin typeface="Times New Roman"/>
                <a:cs typeface="Times New Roman"/>
              </a:rPr>
              <a:t>the</a:t>
            </a:r>
            <a:r>
              <a:rPr sz="2800" spc="-15" dirty="0">
                <a:latin typeface="Times New Roman"/>
                <a:cs typeface="Times New Roman"/>
              </a:rPr>
              <a:t> </a:t>
            </a:r>
            <a:r>
              <a:rPr sz="2800" dirty="0">
                <a:latin typeface="Times New Roman"/>
                <a:cs typeface="Times New Roman"/>
              </a:rPr>
              <a:t>code</a:t>
            </a:r>
            <a:r>
              <a:rPr sz="2800" spc="-30" dirty="0">
                <a:latin typeface="Times New Roman"/>
                <a:cs typeface="Times New Roman"/>
              </a:rPr>
              <a:t> </a:t>
            </a:r>
            <a:r>
              <a:rPr sz="2800" dirty="0">
                <a:latin typeface="Times New Roman"/>
                <a:cs typeface="Times New Roman"/>
              </a:rPr>
              <a:t>in</a:t>
            </a:r>
            <a:r>
              <a:rPr sz="2800" spc="-20" dirty="0">
                <a:latin typeface="Times New Roman"/>
                <a:cs typeface="Times New Roman"/>
              </a:rPr>
              <a:t> </a:t>
            </a:r>
            <a:r>
              <a:rPr sz="2800" dirty="0">
                <a:latin typeface="Times New Roman"/>
                <a:cs typeface="Times New Roman"/>
              </a:rPr>
              <a:t>the</a:t>
            </a:r>
            <a:r>
              <a:rPr sz="2800" spc="-35" dirty="0">
                <a:latin typeface="Times New Roman"/>
                <a:cs typeface="Times New Roman"/>
              </a:rPr>
              <a:t> </a:t>
            </a:r>
            <a:r>
              <a:rPr sz="2800" dirty="0">
                <a:latin typeface="Times New Roman"/>
                <a:cs typeface="Times New Roman"/>
              </a:rPr>
              <a:t>unused</a:t>
            </a:r>
            <a:r>
              <a:rPr sz="2800" spc="-25" dirty="0">
                <a:latin typeface="Times New Roman"/>
                <a:cs typeface="Times New Roman"/>
              </a:rPr>
              <a:t> </a:t>
            </a:r>
            <a:r>
              <a:rPr sz="2800" dirty="0">
                <a:latin typeface="Times New Roman"/>
                <a:cs typeface="Times New Roman"/>
              </a:rPr>
              <a:t>area</a:t>
            </a:r>
            <a:r>
              <a:rPr sz="2800" spc="-15" dirty="0">
                <a:latin typeface="Times New Roman"/>
                <a:cs typeface="Times New Roman"/>
              </a:rPr>
              <a:t> </a:t>
            </a:r>
            <a:r>
              <a:rPr sz="2800" dirty="0">
                <a:latin typeface="Times New Roman"/>
                <a:cs typeface="Times New Roman"/>
              </a:rPr>
              <a:t>of</a:t>
            </a:r>
            <a:r>
              <a:rPr sz="2800" spc="-10" dirty="0">
                <a:latin typeface="Times New Roman"/>
                <a:cs typeface="Times New Roman"/>
              </a:rPr>
              <a:t> </a:t>
            </a:r>
            <a:r>
              <a:rPr sz="2800" dirty="0">
                <a:latin typeface="Times New Roman"/>
                <a:cs typeface="Times New Roman"/>
              </a:rPr>
              <a:t>the</a:t>
            </a:r>
            <a:r>
              <a:rPr sz="2800" spc="-20" dirty="0">
                <a:latin typeface="Times New Roman"/>
                <a:cs typeface="Times New Roman"/>
              </a:rPr>
              <a:t> </a:t>
            </a:r>
            <a:r>
              <a:rPr sz="2800" dirty="0">
                <a:latin typeface="Times New Roman"/>
                <a:cs typeface="Times New Roman"/>
              </a:rPr>
              <a:t>hard</a:t>
            </a:r>
            <a:r>
              <a:rPr sz="2800" spc="-5" dirty="0">
                <a:latin typeface="Times New Roman"/>
                <a:cs typeface="Times New Roman"/>
              </a:rPr>
              <a:t> </a:t>
            </a:r>
            <a:r>
              <a:rPr sz="2800" dirty="0">
                <a:latin typeface="Times New Roman"/>
                <a:cs typeface="Times New Roman"/>
              </a:rPr>
              <a:t>disk</a:t>
            </a:r>
            <a:r>
              <a:rPr sz="2800" spc="-25" dirty="0">
                <a:latin typeface="Times New Roman"/>
                <a:cs typeface="Times New Roman"/>
              </a:rPr>
              <a:t> </a:t>
            </a:r>
            <a:r>
              <a:rPr sz="2800" dirty="0">
                <a:latin typeface="Times New Roman"/>
                <a:cs typeface="Times New Roman"/>
              </a:rPr>
              <a:t>where</a:t>
            </a:r>
            <a:r>
              <a:rPr sz="2800" spc="-20" dirty="0">
                <a:latin typeface="Times New Roman"/>
                <a:cs typeface="Times New Roman"/>
              </a:rPr>
              <a:t> </a:t>
            </a:r>
            <a:r>
              <a:rPr sz="2800" dirty="0">
                <a:latin typeface="Times New Roman"/>
                <a:cs typeface="Times New Roman"/>
              </a:rPr>
              <a:t>the</a:t>
            </a:r>
            <a:r>
              <a:rPr sz="2800" spc="-175" dirty="0">
                <a:latin typeface="Times New Roman"/>
                <a:cs typeface="Times New Roman"/>
              </a:rPr>
              <a:t> </a:t>
            </a:r>
            <a:r>
              <a:rPr sz="2800" spc="-20" dirty="0">
                <a:latin typeface="Times New Roman"/>
                <a:cs typeface="Times New Roman"/>
              </a:rPr>
              <a:t>APIs 	</a:t>
            </a:r>
            <a:r>
              <a:rPr sz="2800" dirty="0">
                <a:latin typeface="Times New Roman"/>
                <a:cs typeface="Times New Roman"/>
              </a:rPr>
              <a:t>of</a:t>
            </a:r>
            <a:r>
              <a:rPr sz="2800" spc="-20" dirty="0">
                <a:latin typeface="Times New Roman"/>
                <a:cs typeface="Times New Roman"/>
              </a:rPr>
              <a:t> </a:t>
            </a:r>
            <a:r>
              <a:rPr sz="2800" dirty="0">
                <a:latin typeface="Times New Roman"/>
                <a:cs typeface="Times New Roman"/>
              </a:rPr>
              <a:t>OS</a:t>
            </a:r>
            <a:r>
              <a:rPr sz="2800" spc="-20" dirty="0">
                <a:latin typeface="Times New Roman"/>
                <a:cs typeface="Times New Roman"/>
              </a:rPr>
              <a:t> </a:t>
            </a:r>
            <a:r>
              <a:rPr sz="2800" dirty="0">
                <a:latin typeface="Times New Roman"/>
                <a:cs typeface="Times New Roman"/>
              </a:rPr>
              <a:t>do</a:t>
            </a:r>
            <a:r>
              <a:rPr sz="2800" spc="-20" dirty="0">
                <a:latin typeface="Times New Roman"/>
                <a:cs typeface="Times New Roman"/>
              </a:rPr>
              <a:t> </a:t>
            </a:r>
            <a:r>
              <a:rPr sz="2800" dirty="0">
                <a:latin typeface="Times New Roman"/>
                <a:cs typeface="Times New Roman"/>
              </a:rPr>
              <a:t>not</a:t>
            </a:r>
            <a:r>
              <a:rPr sz="2800" spc="-35" dirty="0">
                <a:latin typeface="Times New Roman"/>
                <a:cs typeface="Times New Roman"/>
              </a:rPr>
              <a:t> </a:t>
            </a:r>
            <a:r>
              <a:rPr sz="2800" dirty="0">
                <a:latin typeface="Times New Roman"/>
                <a:cs typeface="Times New Roman"/>
              </a:rPr>
              <a:t>see</a:t>
            </a:r>
            <a:r>
              <a:rPr sz="2800" spc="-10" dirty="0">
                <a:latin typeface="Times New Roman"/>
                <a:cs typeface="Times New Roman"/>
              </a:rPr>
              <a:t> </a:t>
            </a:r>
            <a:r>
              <a:rPr sz="2800" spc="-25" dirty="0">
                <a:latin typeface="Times New Roman"/>
                <a:cs typeface="Times New Roman"/>
              </a:rPr>
              <a:t>it.</a:t>
            </a:r>
            <a:endParaRPr sz="2800">
              <a:latin typeface="Times New Roman"/>
              <a:cs typeface="Times New Roman"/>
            </a:endParaRPr>
          </a:p>
          <a:p>
            <a:pPr marL="240029" marR="5080" indent="-227965">
              <a:lnSpc>
                <a:spcPct val="90000"/>
              </a:lnSpc>
              <a:spcBef>
                <a:spcPts val="950"/>
              </a:spcBef>
              <a:buFont typeface="Arial MT"/>
              <a:buChar char="•"/>
              <a:tabLst>
                <a:tab pos="241300" algn="l"/>
              </a:tabLst>
            </a:pPr>
            <a:r>
              <a:rPr sz="2800" dirty="0">
                <a:latin typeface="Times New Roman"/>
                <a:cs typeface="Times New Roman"/>
              </a:rPr>
              <a:t>Getting</a:t>
            </a:r>
            <a:r>
              <a:rPr sz="2800" spc="-35" dirty="0">
                <a:latin typeface="Times New Roman"/>
                <a:cs typeface="Times New Roman"/>
              </a:rPr>
              <a:t> </a:t>
            </a:r>
            <a:r>
              <a:rPr sz="2800" dirty="0">
                <a:latin typeface="Times New Roman"/>
                <a:cs typeface="Times New Roman"/>
              </a:rPr>
              <a:t>access</a:t>
            </a:r>
            <a:r>
              <a:rPr sz="2800" spc="-25" dirty="0">
                <a:latin typeface="Times New Roman"/>
                <a:cs typeface="Times New Roman"/>
              </a:rPr>
              <a:t> </a:t>
            </a:r>
            <a:r>
              <a:rPr sz="2800" dirty="0">
                <a:latin typeface="Times New Roman"/>
                <a:cs typeface="Times New Roman"/>
              </a:rPr>
              <a:t>to</a:t>
            </a:r>
            <a:r>
              <a:rPr sz="2800" spc="-30" dirty="0">
                <a:latin typeface="Times New Roman"/>
                <a:cs typeface="Times New Roman"/>
              </a:rPr>
              <a:t> </a:t>
            </a:r>
            <a:r>
              <a:rPr sz="2800" dirty="0">
                <a:latin typeface="Times New Roman"/>
                <a:cs typeface="Times New Roman"/>
              </a:rPr>
              <a:t>the</a:t>
            </a:r>
            <a:r>
              <a:rPr sz="2800" spc="-30" dirty="0">
                <a:latin typeface="Times New Roman"/>
                <a:cs typeface="Times New Roman"/>
              </a:rPr>
              <a:t> </a:t>
            </a:r>
            <a:r>
              <a:rPr sz="2800" u="sng" dirty="0">
                <a:uFill>
                  <a:solidFill>
                    <a:srgbClr val="000000"/>
                  </a:solidFill>
                </a:uFill>
                <a:latin typeface="Times New Roman"/>
                <a:cs typeface="Times New Roman"/>
              </a:rPr>
              <a:t>master</a:t>
            </a:r>
            <a:r>
              <a:rPr sz="2800" u="sng" spc="-20" dirty="0">
                <a:uFill>
                  <a:solidFill>
                    <a:srgbClr val="000000"/>
                  </a:solidFill>
                </a:uFill>
                <a:latin typeface="Times New Roman"/>
                <a:cs typeface="Times New Roman"/>
              </a:rPr>
              <a:t> </a:t>
            </a:r>
            <a:r>
              <a:rPr sz="2800" u="sng" dirty="0">
                <a:uFill>
                  <a:solidFill>
                    <a:srgbClr val="000000"/>
                  </a:solidFill>
                </a:uFill>
                <a:latin typeface="Times New Roman"/>
                <a:cs typeface="Times New Roman"/>
              </a:rPr>
              <a:t>boot</a:t>
            </a:r>
            <a:r>
              <a:rPr sz="2800" u="sng" spc="-35" dirty="0">
                <a:uFill>
                  <a:solidFill>
                    <a:srgbClr val="000000"/>
                  </a:solidFill>
                </a:uFill>
                <a:latin typeface="Times New Roman"/>
                <a:cs typeface="Times New Roman"/>
              </a:rPr>
              <a:t> </a:t>
            </a:r>
            <a:r>
              <a:rPr sz="2800" u="sng" dirty="0">
                <a:uFill>
                  <a:solidFill>
                    <a:srgbClr val="000000"/>
                  </a:solidFill>
                </a:uFill>
                <a:latin typeface="Times New Roman"/>
                <a:cs typeface="Times New Roman"/>
              </a:rPr>
              <a:t>record</a:t>
            </a:r>
            <a:r>
              <a:rPr sz="2800" u="sng" spc="-20" dirty="0">
                <a:uFill>
                  <a:solidFill>
                    <a:srgbClr val="000000"/>
                  </a:solidFill>
                </a:uFill>
                <a:latin typeface="Times New Roman"/>
                <a:cs typeface="Times New Roman"/>
              </a:rPr>
              <a:t> </a:t>
            </a:r>
            <a:r>
              <a:rPr sz="2800" u="sng" dirty="0">
                <a:uFill>
                  <a:solidFill>
                    <a:srgbClr val="000000"/>
                  </a:solidFill>
                </a:uFill>
                <a:latin typeface="Times New Roman"/>
                <a:cs typeface="Times New Roman"/>
              </a:rPr>
              <a:t>(MBR)</a:t>
            </a:r>
            <a:r>
              <a:rPr sz="2800" dirty="0">
                <a:latin typeface="Times New Roman"/>
                <a:cs typeface="Times New Roman"/>
              </a:rPr>
              <a:t>.</a:t>
            </a:r>
            <a:r>
              <a:rPr sz="2800" spc="-15" dirty="0">
                <a:latin typeface="Times New Roman"/>
                <a:cs typeface="Times New Roman"/>
              </a:rPr>
              <a:t> </a:t>
            </a:r>
            <a:r>
              <a:rPr sz="2800" dirty="0">
                <a:latin typeface="Times New Roman"/>
                <a:cs typeface="Times New Roman"/>
              </a:rPr>
              <a:t>In</a:t>
            </a:r>
            <a:r>
              <a:rPr sz="2800" spc="-15" dirty="0">
                <a:latin typeface="Times New Roman"/>
                <a:cs typeface="Times New Roman"/>
              </a:rPr>
              <a:t> </a:t>
            </a:r>
            <a:r>
              <a:rPr sz="2800" dirty="0">
                <a:latin typeface="Times New Roman"/>
                <a:cs typeface="Times New Roman"/>
              </a:rPr>
              <a:t>certain</a:t>
            </a:r>
            <a:r>
              <a:rPr sz="2800" spc="-30" dirty="0">
                <a:latin typeface="Times New Roman"/>
                <a:cs typeface="Times New Roman"/>
              </a:rPr>
              <a:t> </a:t>
            </a:r>
            <a:r>
              <a:rPr sz="2800" dirty="0">
                <a:latin typeface="Times New Roman"/>
                <a:cs typeface="Times New Roman"/>
              </a:rPr>
              <a:t>cases,</a:t>
            </a:r>
            <a:r>
              <a:rPr sz="2800" spc="-20" dirty="0">
                <a:latin typeface="Times New Roman"/>
                <a:cs typeface="Times New Roman"/>
              </a:rPr>
              <a:t> </a:t>
            </a:r>
            <a:r>
              <a:rPr sz="2800" spc="-25" dirty="0">
                <a:latin typeface="Times New Roman"/>
                <a:cs typeface="Times New Roman"/>
              </a:rPr>
              <a:t>the 	</a:t>
            </a:r>
            <a:r>
              <a:rPr sz="2800" spc="-10" dirty="0">
                <a:latin typeface="Times New Roman"/>
                <a:cs typeface="Times New Roman"/>
              </a:rPr>
              <a:t>root-</a:t>
            </a:r>
            <a:r>
              <a:rPr sz="2800" dirty="0">
                <a:latin typeface="Times New Roman"/>
                <a:cs typeface="Times New Roman"/>
              </a:rPr>
              <a:t>kit</a:t>
            </a:r>
            <a:r>
              <a:rPr sz="2800" spc="-40" dirty="0">
                <a:latin typeface="Times New Roman"/>
                <a:cs typeface="Times New Roman"/>
              </a:rPr>
              <a:t> </a:t>
            </a:r>
            <a:r>
              <a:rPr sz="2800" dirty="0">
                <a:latin typeface="Times New Roman"/>
                <a:cs typeface="Times New Roman"/>
              </a:rPr>
              <a:t>gets</a:t>
            </a:r>
            <a:r>
              <a:rPr sz="2800" spc="-15" dirty="0">
                <a:latin typeface="Times New Roman"/>
                <a:cs typeface="Times New Roman"/>
              </a:rPr>
              <a:t> </a:t>
            </a:r>
            <a:r>
              <a:rPr sz="2800" dirty="0">
                <a:latin typeface="Times New Roman"/>
                <a:cs typeface="Times New Roman"/>
              </a:rPr>
              <a:t>access</a:t>
            </a:r>
            <a:r>
              <a:rPr sz="2800" spc="-10" dirty="0">
                <a:latin typeface="Times New Roman"/>
                <a:cs typeface="Times New Roman"/>
              </a:rPr>
              <a:t> </a:t>
            </a:r>
            <a:r>
              <a:rPr sz="2800" dirty="0">
                <a:latin typeface="Times New Roman"/>
                <a:cs typeface="Times New Roman"/>
              </a:rPr>
              <a:t>to</a:t>
            </a:r>
            <a:r>
              <a:rPr sz="2800" spc="-20" dirty="0">
                <a:latin typeface="Times New Roman"/>
                <a:cs typeface="Times New Roman"/>
              </a:rPr>
              <a:t> </a:t>
            </a:r>
            <a:r>
              <a:rPr sz="2800" dirty="0">
                <a:latin typeface="Times New Roman"/>
                <a:cs typeface="Times New Roman"/>
              </a:rPr>
              <a:t>the</a:t>
            </a:r>
            <a:r>
              <a:rPr sz="2800" spc="-15" dirty="0">
                <a:latin typeface="Times New Roman"/>
                <a:cs typeface="Times New Roman"/>
              </a:rPr>
              <a:t> </a:t>
            </a:r>
            <a:r>
              <a:rPr sz="2800" dirty="0">
                <a:latin typeface="Times New Roman"/>
                <a:cs typeface="Times New Roman"/>
              </a:rPr>
              <a:t>MBR.</a:t>
            </a:r>
            <a:r>
              <a:rPr sz="2800" spc="-15" dirty="0">
                <a:latin typeface="Times New Roman"/>
                <a:cs typeface="Times New Roman"/>
              </a:rPr>
              <a:t> </a:t>
            </a:r>
            <a:r>
              <a:rPr sz="2800" dirty="0">
                <a:latin typeface="Times New Roman"/>
                <a:cs typeface="Times New Roman"/>
              </a:rPr>
              <a:t>In</a:t>
            </a:r>
            <a:r>
              <a:rPr sz="2800" spc="5" dirty="0">
                <a:latin typeface="Times New Roman"/>
                <a:cs typeface="Times New Roman"/>
              </a:rPr>
              <a:t> </a:t>
            </a:r>
            <a:r>
              <a:rPr sz="2800" dirty="0">
                <a:latin typeface="Times New Roman"/>
                <a:cs typeface="Times New Roman"/>
              </a:rPr>
              <a:t>that</a:t>
            </a:r>
            <a:r>
              <a:rPr sz="2800" spc="-30" dirty="0">
                <a:latin typeface="Times New Roman"/>
                <a:cs typeface="Times New Roman"/>
              </a:rPr>
              <a:t> </a:t>
            </a:r>
            <a:r>
              <a:rPr sz="2800" dirty="0">
                <a:latin typeface="Times New Roman"/>
                <a:cs typeface="Times New Roman"/>
              </a:rPr>
              <a:t>case,</a:t>
            </a:r>
            <a:r>
              <a:rPr sz="2800" spc="-10" dirty="0">
                <a:latin typeface="Times New Roman"/>
                <a:cs typeface="Times New Roman"/>
              </a:rPr>
              <a:t> </a:t>
            </a:r>
            <a:r>
              <a:rPr sz="2800" dirty="0">
                <a:latin typeface="Times New Roman"/>
                <a:cs typeface="Times New Roman"/>
              </a:rPr>
              <a:t>the</a:t>
            </a:r>
            <a:r>
              <a:rPr sz="2800" spc="-35" dirty="0">
                <a:latin typeface="Times New Roman"/>
                <a:cs typeface="Times New Roman"/>
              </a:rPr>
              <a:t> </a:t>
            </a:r>
            <a:r>
              <a:rPr sz="2800" dirty="0">
                <a:latin typeface="Times New Roman"/>
                <a:cs typeface="Times New Roman"/>
              </a:rPr>
              <a:t>rootkit</a:t>
            </a:r>
            <a:r>
              <a:rPr sz="2800" spc="-40" dirty="0">
                <a:latin typeface="Times New Roman"/>
                <a:cs typeface="Times New Roman"/>
              </a:rPr>
              <a:t> </a:t>
            </a:r>
            <a:r>
              <a:rPr sz="2800" dirty="0">
                <a:latin typeface="Times New Roman"/>
                <a:cs typeface="Times New Roman"/>
              </a:rPr>
              <a:t>code</a:t>
            </a:r>
            <a:r>
              <a:rPr sz="2800" spc="-10" dirty="0">
                <a:latin typeface="Times New Roman"/>
                <a:cs typeface="Times New Roman"/>
              </a:rPr>
              <a:t> </a:t>
            </a:r>
            <a:r>
              <a:rPr sz="2800" dirty="0">
                <a:latin typeface="Times New Roman"/>
                <a:cs typeface="Times New Roman"/>
              </a:rPr>
              <a:t>is</a:t>
            </a:r>
            <a:r>
              <a:rPr sz="2800" spc="-15" dirty="0">
                <a:latin typeface="Times New Roman"/>
                <a:cs typeface="Times New Roman"/>
              </a:rPr>
              <a:t> </a:t>
            </a:r>
            <a:r>
              <a:rPr sz="2800" dirty="0">
                <a:latin typeface="Times New Roman"/>
                <a:cs typeface="Times New Roman"/>
              </a:rPr>
              <a:t>able</a:t>
            </a:r>
            <a:r>
              <a:rPr sz="2800" spc="-10" dirty="0">
                <a:latin typeface="Times New Roman"/>
                <a:cs typeface="Times New Roman"/>
              </a:rPr>
              <a:t> </a:t>
            </a:r>
            <a:r>
              <a:rPr sz="2800" spc="-25" dirty="0">
                <a:latin typeface="Times New Roman"/>
                <a:cs typeface="Times New Roman"/>
              </a:rPr>
              <a:t>to 	</a:t>
            </a:r>
            <a:r>
              <a:rPr sz="2800" dirty="0">
                <a:latin typeface="Times New Roman"/>
                <a:cs typeface="Times New Roman"/>
              </a:rPr>
              <a:t>subvert</a:t>
            </a:r>
            <a:r>
              <a:rPr sz="2800" spc="-30" dirty="0">
                <a:latin typeface="Times New Roman"/>
                <a:cs typeface="Times New Roman"/>
              </a:rPr>
              <a:t> </a:t>
            </a:r>
            <a:r>
              <a:rPr sz="2800" dirty="0">
                <a:latin typeface="Times New Roman"/>
                <a:cs typeface="Times New Roman"/>
              </a:rPr>
              <a:t>OS</a:t>
            </a:r>
            <a:r>
              <a:rPr sz="2800" spc="-15" dirty="0">
                <a:latin typeface="Times New Roman"/>
                <a:cs typeface="Times New Roman"/>
              </a:rPr>
              <a:t> </a:t>
            </a:r>
            <a:r>
              <a:rPr sz="2800" dirty="0">
                <a:latin typeface="Times New Roman"/>
                <a:cs typeface="Times New Roman"/>
              </a:rPr>
              <a:t>at</a:t>
            </a:r>
            <a:r>
              <a:rPr sz="2800" spc="-15" dirty="0">
                <a:latin typeface="Times New Roman"/>
                <a:cs typeface="Times New Roman"/>
              </a:rPr>
              <a:t> </a:t>
            </a:r>
            <a:r>
              <a:rPr sz="2800" dirty="0">
                <a:latin typeface="Times New Roman"/>
                <a:cs typeface="Times New Roman"/>
              </a:rPr>
              <a:t>its</a:t>
            </a:r>
            <a:r>
              <a:rPr sz="2800" spc="-15" dirty="0">
                <a:latin typeface="Times New Roman"/>
                <a:cs typeface="Times New Roman"/>
              </a:rPr>
              <a:t> </a:t>
            </a:r>
            <a:r>
              <a:rPr sz="2800" dirty="0">
                <a:latin typeface="Times New Roman"/>
                <a:cs typeface="Times New Roman"/>
              </a:rPr>
              <a:t>will</a:t>
            </a:r>
            <a:r>
              <a:rPr sz="2800" spc="-15" dirty="0">
                <a:latin typeface="Times New Roman"/>
                <a:cs typeface="Times New Roman"/>
              </a:rPr>
              <a:t> </a:t>
            </a:r>
            <a:r>
              <a:rPr sz="2800" dirty="0">
                <a:latin typeface="Times New Roman"/>
                <a:cs typeface="Times New Roman"/>
              </a:rPr>
              <a:t>because</a:t>
            </a:r>
            <a:r>
              <a:rPr sz="2800" spc="-15" dirty="0">
                <a:latin typeface="Times New Roman"/>
                <a:cs typeface="Times New Roman"/>
              </a:rPr>
              <a:t> </a:t>
            </a:r>
            <a:r>
              <a:rPr sz="2800" dirty="0">
                <a:latin typeface="Times New Roman"/>
                <a:cs typeface="Times New Roman"/>
              </a:rPr>
              <a:t>it</a:t>
            </a:r>
            <a:r>
              <a:rPr sz="2800" spc="-25" dirty="0">
                <a:latin typeface="Times New Roman"/>
                <a:cs typeface="Times New Roman"/>
              </a:rPr>
              <a:t> </a:t>
            </a:r>
            <a:r>
              <a:rPr sz="2800" dirty="0">
                <a:latin typeface="Times New Roman"/>
                <a:cs typeface="Times New Roman"/>
              </a:rPr>
              <a:t>gets</a:t>
            </a:r>
            <a:r>
              <a:rPr sz="2800" spc="-15" dirty="0">
                <a:latin typeface="Times New Roman"/>
                <a:cs typeface="Times New Roman"/>
              </a:rPr>
              <a:t> </a:t>
            </a:r>
            <a:r>
              <a:rPr sz="2800" dirty="0">
                <a:latin typeface="Times New Roman"/>
                <a:cs typeface="Times New Roman"/>
              </a:rPr>
              <a:t>the</a:t>
            </a:r>
            <a:r>
              <a:rPr sz="2800" spc="-30" dirty="0">
                <a:latin typeface="Times New Roman"/>
                <a:cs typeface="Times New Roman"/>
              </a:rPr>
              <a:t> </a:t>
            </a:r>
            <a:r>
              <a:rPr sz="2800" dirty="0">
                <a:latin typeface="Times New Roman"/>
                <a:cs typeface="Times New Roman"/>
              </a:rPr>
              <a:t>control</a:t>
            </a:r>
            <a:r>
              <a:rPr sz="2800" spc="-20" dirty="0">
                <a:latin typeface="Times New Roman"/>
                <a:cs typeface="Times New Roman"/>
              </a:rPr>
              <a:t> </a:t>
            </a:r>
            <a:r>
              <a:rPr sz="2800" dirty="0">
                <a:latin typeface="Times New Roman"/>
                <a:cs typeface="Times New Roman"/>
              </a:rPr>
              <a:t>over</a:t>
            </a:r>
            <a:r>
              <a:rPr sz="2800" spc="-15" dirty="0">
                <a:latin typeface="Times New Roman"/>
                <a:cs typeface="Times New Roman"/>
              </a:rPr>
              <a:t> </a:t>
            </a:r>
            <a:r>
              <a:rPr sz="2800" dirty="0">
                <a:latin typeface="Times New Roman"/>
                <a:cs typeface="Times New Roman"/>
              </a:rPr>
              <a:t>the</a:t>
            </a:r>
            <a:r>
              <a:rPr sz="2800" spc="-20" dirty="0">
                <a:latin typeface="Times New Roman"/>
                <a:cs typeface="Times New Roman"/>
              </a:rPr>
              <a:t> </a:t>
            </a:r>
            <a:r>
              <a:rPr sz="2800" dirty="0">
                <a:latin typeface="Times New Roman"/>
                <a:cs typeface="Times New Roman"/>
              </a:rPr>
              <a:t>loading</a:t>
            </a:r>
            <a:r>
              <a:rPr sz="2800" spc="-35" dirty="0">
                <a:latin typeface="Times New Roman"/>
                <a:cs typeface="Times New Roman"/>
              </a:rPr>
              <a:t> </a:t>
            </a:r>
            <a:r>
              <a:rPr sz="2800" dirty="0">
                <a:latin typeface="Times New Roman"/>
                <a:cs typeface="Times New Roman"/>
              </a:rPr>
              <a:t>of</a:t>
            </a:r>
            <a:r>
              <a:rPr sz="2800" spc="-5" dirty="0">
                <a:latin typeface="Times New Roman"/>
                <a:cs typeface="Times New Roman"/>
              </a:rPr>
              <a:t> </a:t>
            </a:r>
            <a:r>
              <a:rPr sz="2800" spc="-25" dirty="0">
                <a:latin typeface="Times New Roman"/>
                <a:cs typeface="Times New Roman"/>
              </a:rPr>
              <a:t>the 	</a:t>
            </a:r>
            <a:r>
              <a:rPr sz="2800" dirty="0">
                <a:latin typeface="Times New Roman"/>
                <a:cs typeface="Times New Roman"/>
              </a:rPr>
              <a:t>applications</a:t>
            </a:r>
            <a:r>
              <a:rPr sz="2800" spc="-60" dirty="0">
                <a:latin typeface="Times New Roman"/>
                <a:cs typeface="Times New Roman"/>
              </a:rPr>
              <a:t> </a:t>
            </a:r>
            <a:r>
              <a:rPr sz="2800" dirty="0">
                <a:latin typeface="Times New Roman"/>
                <a:cs typeface="Times New Roman"/>
              </a:rPr>
              <a:t>in</a:t>
            </a:r>
            <a:r>
              <a:rPr sz="2800" spc="-30" dirty="0">
                <a:latin typeface="Times New Roman"/>
                <a:cs typeface="Times New Roman"/>
              </a:rPr>
              <a:t> </a:t>
            </a:r>
            <a:r>
              <a:rPr sz="2800" dirty="0">
                <a:latin typeface="Times New Roman"/>
                <a:cs typeface="Times New Roman"/>
              </a:rPr>
              <a:t>the</a:t>
            </a:r>
            <a:r>
              <a:rPr sz="2800" spc="-30" dirty="0">
                <a:latin typeface="Times New Roman"/>
                <a:cs typeface="Times New Roman"/>
              </a:rPr>
              <a:t> </a:t>
            </a:r>
            <a:r>
              <a:rPr sz="2800" spc="-20" dirty="0">
                <a:latin typeface="Times New Roman"/>
                <a:cs typeface="Times New Roman"/>
              </a:rPr>
              <a:t>memory.</a:t>
            </a:r>
            <a:r>
              <a:rPr sz="2800" spc="-15" dirty="0">
                <a:latin typeface="Times New Roman"/>
                <a:cs typeface="Times New Roman"/>
              </a:rPr>
              <a:t> </a:t>
            </a:r>
            <a:r>
              <a:rPr sz="2800" dirty="0">
                <a:latin typeface="Times New Roman"/>
                <a:cs typeface="Times New Roman"/>
              </a:rPr>
              <a:t>So,</a:t>
            </a:r>
            <a:r>
              <a:rPr sz="2800" spc="-30" dirty="0">
                <a:latin typeface="Times New Roman"/>
                <a:cs typeface="Times New Roman"/>
              </a:rPr>
              <a:t> </a:t>
            </a:r>
            <a:r>
              <a:rPr sz="2800" dirty="0">
                <a:latin typeface="Times New Roman"/>
                <a:cs typeface="Times New Roman"/>
              </a:rPr>
              <a:t>it</a:t>
            </a:r>
            <a:r>
              <a:rPr sz="2800" spc="-40" dirty="0">
                <a:latin typeface="Times New Roman"/>
                <a:cs typeface="Times New Roman"/>
              </a:rPr>
              <a:t> </a:t>
            </a:r>
            <a:r>
              <a:rPr sz="2800" dirty="0">
                <a:latin typeface="Times New Roman"/>
                <a:cs typeface="Times New Roman"/>
              </a:rPr>
              <a:t>can</a:t>
            </a:r>
            <a:r>
              <a:rPr sz="2800" spc="-15" dirty="0">
                <a:latin typeface="Times New Roman"/>
                <a:cs typeface="Times New Roman"/>
              </a:rPr>
              <a:t> </a:t>
            </a:r>
            <a:r>
              <a:rPr sz="2800" dirty="0">
                <a:latin typeface="Times New Roman"/>
                <a:cs typeface="Times New Roman"/>
              </a:rPr>
              <a:t>easily</a:t>
            </a:r>
            <a:r>
              <a:rPr sz="2800" spc="-35" dirty="0">
                <a:latin typeface="Times New Roman"/>
                <a:cs typeface="Times New Roman"/>
              </a:rPr>
              <a:t> </a:t>
            </a:r>
            <a:r>
              <a:rPr sz="2800" dirty="0">
                <a:latin typeface="Times New Roman"/>
                <a:cs typeface="Times New Roman"/>
              </a:rPr>
              <a:t>restrict</a:t>
            </a:r>
            <a:r>
              <a:rPr sz="2800" spc="-40" dirty="0">
                <a:latin typeface="Times New Roman"/>
                <a:cs typeface="Times New Roman"/>
              </a:rPr>
              <a:t> </a:t>
            </a:r>
            <a:r>
              <a:rPr sz="2800" spc="-10" dirty="0">
                <a:latin typeface="Times New Roman"/>
                <a:cs typeface="Times New Roman"/>
              </a:rPr>
              <a:t>certain 	</a:t>
            </a:r>
            <a:r>
              <a:rPr sz="2800" dirty="0">
                <a:latin typeface="Times New Roman"/>
                <a:cs typeface="Times New Roman"/>
              </a:rPr>
              <a:t>applications</a:t>
            </a:r>
            <a:r>
              <a:rPr sz="2800" spc="-45" dirty="0">
                <a:latin typeface="Times New Roman"/>
                <a:cs typeface="Times New Roman"/>
              </a:rPr>
              <a:t> </a:t>
            </a:r>
            <a:r>
              <a:rPr sz="2800" dirty="0">
                <a:latin typeface="Times New Roman"/>
                <a:cs typeface="Times New Roman"/>
              </a:rPr>
              <a:t>to load</a:t>
            </a:r>
            <a:r>
              <a:rPr sz="2800" spc="-5" dirty="0">
                <a:latin typeface="Times New Roman"/>
                <a:cs typeface="Times New Roman"/>
              </a:rPr>
              <a:t> </a:t>
            </a:r>
            <a:r>
              <a:rPr sz="2800" dirty="0">
                <a:latin typeface="Times New Roman"/>
                <a:cs typeface="Times New Roman"/>
              </a:rPr>
              <a:t>in the </a:t>
            </a:r>
            <a:r>
              <a:rPr sz="2800" spc="-10" dirty="0">
                <a:latin typeface="Times New Roman"/>
                <a:cs typeface="Times New Roman"/>
              </a:rPr>
              <a:t>memory.</a:t>
            </a:r>
            <a:endParaRPr sz="2800">
              <a:latin typeface="Times New Roman"/>
              <a:cs typeface="Times New Roman"/>
            </a:endParaRPr>
          </a:p>
        </p:txBody>
      </p:sp>
    </p:spTree>
    <p:extLst>
      <p:ext uri="{BB962C8B-B14F-4D97-AF65-F5344CB8AC3E}">
        <p14:creationId xmlns:p14="http://schemas.microsoft.com/office/powerpoint/2010/main" val="18056623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35127" rIns="0" bIns="0" rtlCol="0">
            <a:spAutoFit/>
          </a:bodyPr>
          <a:lstStyle/>
          <a:p>
            <a:pPr marL="12700">
              <a:lnSpc>
                <a:spcPct val="100000"/>
              </a:lnSpc>
              <a:spcBef>
                <a:spcPts val="105"/>
              </a:spcBef>
            </a:pPr>
            <a:r>
              <a:rPr spc="-10" dirty="0"/>
              <a:t>ROOTKIT</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3" name="object 3"/>
          <p:cNvSpPr txBox="1"/>
          <p:nvPr/>
        </p:nvSpPr>
        <p:spPr>
          <a:xfrm>
            <a:off x="916939" y="1804161"/>
            <a:ext cx="10165080" cy="4286885"/>
          </a:xfrm>
          <a:prstGeom prst="rect">
            <a:avLst/>
          </a:prstGeom>
        </p:spPr>
        <p:txBody>
          <a:bodyPr vert="horz" wrap="square" lIns="0" tIns="54610" rIns="0" bIns="0" rtlCol="0">
            <a:spAutoFit/>
          </a:bodyPr>
          <a:lstStyle/>
          <a:p>
            <a:pPr marL="240029" marR="5080" indent="-227965">
              <a:lnSpc>
                <a:spcPct val="90000"/>
              </a:lnSpc>
              <a:spcBef>
                <a:spcPts val="430"/>
              </a:spcBef>
              <a:buFont typeface="Arial MT"/>
              <a:buChar char="•"/>
              <a:tabLst>
                <a:tab pos="241300" algn="l"/>
              </a:tabLst>
            </a:pPr>
            <a:r>
              <a:rPr sz="2800" dirty="0">
                <a:latin typeface="Times New Roman"/>
                <a:cs typeface="Times New Roman"/>
              </a:rPr>
              <a:t>There</a:t>
            </a:r>
            <a:r>
              <a:rPr sz="2800" spc="-35" dirty="0">
                <a:latin typeface="Times New Roman"/>
                <a:cs typeface="Times New Roman"/>
              </a:rPr>
              <a:t> </a:t>
            </a:r>
            <a:r>
              <a:rPr sz="2800" dirty="0">
                <a:latin typeface="Times New Roman"/>
                <a:cs typeface="Times New Roman"/>
              </a:rPr>
              <a:t>are</a:t>
            </a:r>
            <a:r>
              <a:rPr sz="2800" spc="-35" dirty="0">
                <a:latin typeface="Times New Roman"/>
                <a:cs typeface="Times New Roman"/>
              </a:rPr>
              <a:t> </a:t>
            </a:r>
            <a:r>
              <a:rPr sz="2800" dirty="0">
                <a:latin typeface="Times New Roman"/>
                <a:cs typeface="Times New Roman"/>
              </a:rPr>
              <a:t>numerous</a:t>
            </a:r>
            <a:r>
              <a:rPr sz="2800" spc="-35" dirty="0">
                <a:latin typeface="Times New Roman"/>
                <a:cs typeface="Times New Roman"/>
              </a:rPr>
              <a:t> </a:t>
            </a:r>
            <a:r>
              <a:rPr sz="2800" dirty="0">
                <a:latin typeface="Times New Roman"/>
                <a:cs typeface="Times New Roman"/>
              </a:rPr>
              <a:t>types</a:t>
            </a:r>
            <a:r>
              <a:rPr sz="2800" spc="-40" dirty="0">
                <a:latin typeface="Times New Roman"/>
                <a:cs typeface="Times New Roman"/>
              </a:rPr>
              <a:t> </a:t>
            </a:r>
            <a:r>
              <a:rPr sz="2800" dirty="0">
                <a:latin typeface="Times New Roman"/>
                <a:cs typeface="Times New Roman"/>
              </a:rPr>
              <a:t>of</a:t>
            </a:r>
            <a:r>
              <a:rPr sz="2800" spc="-25" dirty="0">
                <a:latin typeface="Times New Roman"/>
                <a:cs typeface="Times New Roman"/>
              </a:rPr>
              <a:t> </a:t>
            </a:r>
            <a:r>
              <a:rPr sz="2800" dirty="0">
                <a:latin typeface="Times New Roman"/>
                <a:cs typeface="Times New Roman"/>
              </a:rPr>
              <a:t>rootkits</a:t>
            </a:r>
            <a:r>
              <a:rPr sz="2800" spc="-55" dirty="0">
                <a:latin typeface="Times New Roman"/>
                <a:cs typeface="Times New Roman"/>
              </a:rPr>
              <a:t> </a:t>
            </a:r>
            <a:r>
              <a:rPr sz="2800" dirty="0">
                <a:latin typeface="Times New Roman"/>
                <a:cs typeface="Times New Roman"/>
              </a:rPr>
              <a:t>based</a:t>
            </a:r>
            <a:r>
              <a:rPr sz="2800" spc="-35" dirty="0">
                <a:latin typeface="Times New Roman"/>
                <a:cs typeface="Times New Roman"/>
              </a:rPr>
              <a:t> </a:t>
            </a:r>
            <a:r>
              <a:rPr sz="2800" dirty="0">
                <a:latin typeface="Times New Roman"/>
                <a:cs typeface="Times New Roman"/>
              </a:rPr>
              <a:t>on</a:t>
            </a:r>
            <a:r>
              <a:rPr sz="2800" spc="-25" dirty="0">
                <a:latin typeface="Times New Roman"/>
                <a:cs typeface="Times New Roman"/>
              </a:rPr>
              <a:t> </a:t>
            </a:r>
            <a:r>
              <a:rPr sz="2800" dirty="0">
                <a:latin typeface="Times New Roman"/>
                <a:cs typeface="Times New Roman"/>
              </a:rPr>
              <a:t>the</a:t>
            </a:r>
            <a:r>
              <a:rPr sz="2800" spc="-35" dirty="0">
                <a:latin typeface="Times New Roman"/>
                <a:cs typeface="Times New Roman"/>
              </a:rPr>
              <a:t> </a:t>
            </a:r>
            <a:r>
              <a:rPr sz="2800" dirty="0">
                <a:latin typeface="Times New Roman"/>
                <a:cs typeface="Times New Roman"/>
              </a:rPr>
              <a:t>objective</a:t>
            </a:r>
            <a:r>
              <a:rPr sz="2800" spc="-55" dirty="0">
                <a:latin typeface="Times New Roman"/>
                <a:cs typeface="Times New Roman"/>
              </a:rPr>
              <a:t> </a:t>
            </a:r>
            <a:r>
              <a:rPr sz="2800" dirty="0">
                <a:latin typeface="Times New Roman"/>
                <a:cs typeface="Times New Roman"/>
              </a:rPr>
              <a:t>and</a:t>
            </a:r>
            <a:r>
              <a:rPr sz="2800" spc="-35" dirty="0">
                <a:latin typeface="Times New Roman"/>
                <a:cs typeface="Times New Roman"/>
              </a:rPr>
              <a:t> </a:t>
            </a:r>
            <a:r>
              <a:rPr sz="2800" spc="-10" dirty="0">
                <a:latin typeface="Times New Roman"/>
                <a:cs typeface="Times New Roman"/>
              </a:rPr>
              <a:t>point 	</a:t>
            </a:r>
            <a:r>
              <a:rPr sz="2800" dirty="0">
                <a:latin typeface="Times New Roman"/>
                <a:cs typeface="Times New Roman"/>
              </a:rPr>
              <a:t>of</a:t>
            </a:r>
            <a:r>
              <a:rPr sz="2800" spc="-30" dirty="0">
                <a:latin typeface="Times New Roman"/>
                <a:cs typeface="Times New Roman"/>
              </a:rPr>
              <a:t> </a:t>
            </a:r>
            <a:r>
              <a:rPr sz="2800" dirty="0">
                <a:latin typeface="Times New Roman"/>
                <a:cs typeface="Times New Roman"/>
              </a:rPr>
              <a:t>attack</a:t>
            </a:r>
            <a:r>
              <a:rPr sz="2800" spc="-30" dirty="0">
                <a:latin typeface="Times New Roman"/>
                <a:cs typeface="Times New Roman"/>
              </a:rPr>
              <a:t> </a:t>
            </a:r>
            <a:r>
              <a:rPr sz="2800" dirty="0">
                <a:latin typeface="Times New Roman"/>
                <a:cs typeface="Times New Roman"/>
              </a:rPr>
              <a:t>on</a:t>
            </a:r>
            <a:r>
              <a:rPr sz="2800" spc="-30" dirty="0">
                <a:latin typeface="Times New Roman"/>
                <a:cs typeface="Times New Roman"/>
              </a:rPr>
              <a:t> </a:t>
            </a:r>
            <a:r>
              <a:rPr sz="2800" dirty="0">
                <a:latin typeface="Times New Roman"/>
                <a:cs typeface="Times New Roman"/>
              </a:rPr>
              <a:t>the</a:t>
            </a:r>
            <a:r>
              <a:rPr sz="2800" spc="-30" dirty="0">
                <a:latin typeface="Times New Roman"/>
                <a:cs typeface="Times New Roman"/>
              </a:rPr>
              <a:t> </a:t>
            </a:r>
            <a:r>
              <a:rPr sz="2800" spc="-10" dirty="0">
                <a:latin typeface="Times New Roman"/>
                <a:cs typeface="Times New Roman"/>
              </a:rPr>
              <a:t>systems.</a:t>
            </a:r>
            <a:r>
              <a:rPr sz="2800" spc="-165" dirty="0">
                <a:latin typeface="Times New Roman"/>
                <a:cs typeface="Times New Roman"/>
              </a:rPr>
              <a:t> </a:t>
            </a:r>
            <a:r>
              <a:rPr sz="2800" dirty="0">
                <a:latin typeface="Times New Roman"/>
                <a:cs typeface="Times New Roman"/>
              </a:rPr>
              <a:t>A</a:t>
            </a:r>
            <a:r>
              <a:rPr sz="2800" spc="-160" dirty="0">
                <a:latin typeface="Times New Roman"/>
                <a:cs typeface="Times New Roman"/>
              </a:rPr>
              <a:t> </a:t>
            </a:r>
            <a:r>
              <a:rPr sz="2800" dirty="0">
                <a:latin typeface="Times New Roman"/>
                <a:cs typeface="Times New Roman"/>
              </a:rPr>
              <a:t>few</a:t>
            </a:r>
            <a:r>
              <a:rPr sz="2800" spc="-30" dirty="0">
                <a:latin typeface="Times New Roman"/>
                <a:cs typeface="Times New Roman"/>
              </a:rPr>
              <a:t> </a:t>
            </a:r>
            <a:r>
              <a:rPr sz="2800" dirty="0">
                <a:latin typeface="Times New Roman"/>
                <a:cs typeface="Times New Roman"/>
              </a:rPr>
              <a:t>very</a:t>
            </a:r>
            <a:r>
              <a:rPr sz="2800" spc="-15" dirty="0">
                <a:latin typeface="Times New Roman"/>
                <a:cs typeface="Times New Roman"/>
              </a:rPr>
              <a:t> </a:t>
            </a:r>
            <a:r>
              <a:rPr sz="2800" dirty="0">
                <a:latin typeface="Times New Roman"/>
                <a:cs typeface="Times New Roman"/>
              </a:rPr>
              <a:t>well-known</a:t>
            </a:r>
            <a:r>
              <a:rPr sz="2800" spc="-30" dirty="0">
                <a:latin typeface="Times New Roman"/>
                <a:cs typeface="Times New Roman"/>
              </a:rPr>
              <a:t> </a:t>
            </a:r>
            <a:r>
              <a:rPr sz="2800" dirty="0">
                <a:latin typeface="Times New Roman"/>
                <a:cs typeface="Times New Roman"/>
              </a:rPr>
              <a:t>and</a:t>
            </a:r>
            <a:r>
              <a:rPr sz="2800" spc="-25" dirty="0">
                <a:latin typeface="Times New Roman"/>
                <a:cs typeface="Times New Roman"/>
              </a:rPr>
              <a:t> </a:t>
            </a:r>
            <a:r>
              <a:rPr sz="2800" spc="-10" dirty="0">
                <a:latin typeface="Times New Roman"/>
                <a:cs typeface="Times New Roman"/>
              </a:rPr>
              <a:t>important 	</a:t>
            </a:r>
            <a:r>
              <a:rPr sz="2800" dirty="0">
                <a:latin typeface="Times New Roman"/>
                <a:cs typeface="Times New Roman"/>
              </a:rPr>
              <a:t>rootkits</a:t>
            </a:r>
            <a:r>
              <a:rPr sz="2800" spc="-45" dirty="0">
                <a:latin typeface="Times New Roman"/>
                <a:cs typeface="Times New Roman"/>
              </a:rPr>
              <a:t> </a:t>
            </a:r>
            <a:r>
              <a:rPr sz="2800" dirty="0">
                <a:latin typeface="Times New Roman"/>
                <a:cs typeface="Times New Roman"/>
              </a:rPr>
              <a:t>are</a:t>
            </a:r>
            <a:r>
              <a:rPr sz="2800" spc="-20" dirty="0">
                <a:latin typeface="Times New Roman"/>
                <a:cs typeface="Times New Roman"/>
              </a:rPr>
              <a:t> </a:t>
            </a:r>
            <a:r>
              <a:rPr sz="2800" dirty="0">
                <a:latin typeface="Times New Roman"/>
                <a:cs typeface="Times New Roman"/>
              </a:rPr>
              <a:t>listed</a:t>
            </a:r>
            <a:r>
              <a:rPr sz="2800" spc="-40" dirty="0">
                <a:latin typeface="Times New Roman"/>
                <a:cs typeface="Times New Roman"/>
              </a:rPr>
              <a:t> </a:t>
            </a:r>
            <a:r>
              <a:rPr sz="2800" spc="-10" dirty="0">
                <a:latin typeface="Times New Roman"/>
                <a:cs typeface="Times New Roman"/>
              </a:rPr>
              <a:t>below:</a:t>
            </a:r>
            <a:endParaRPr sz="2800">
              <a:latin typeface="Times New Roman"/>
              <a:cs typeface="Times New Roman"/>
            </a:endParaRPr>
          </a:p>
          <a:p>
            <a:pPr marL="240665" indent="-227965">
              <a:lnSpc>
                <a:spcPct val="100000"/>
              </a:lnSpc>
              <a:spcBef>
                <a:spcPts val="675"/>
              </a:spcBef>
              <a:buFont typeface="Arial MT"/>
              <a:buChar char="•"/>
              <a:tabLst>
                <a:tab pos="240665" algn="l"/>
              </a:tabLst>
            </a:pPr>
            <a:r>
              <a:rPr sz="2800" dirty="0">
                <a:latin typeface="Times New Roman"/>
                <a:cs typeface="Times New Roman"/>
              </a:rPr>
              <a:t>Memory</a:t>
            </a:r>
            <a:r>
              <a:rPr sz="2800" spc="-45" dirty="0">
                <a:latin typeface="Times New Roman"/>
                <a:cs typeface="Times New Roman"/>
              </a:rPr>
              <a:t> </a:t>
            </a:r>
            <a:r>
              <a:rPr sz="2800" spc="-10" dirty="0">
                <a:latin typeface="Times New Roman"/>
                <a:cs typeface="Times New Roman"/>
              </a:rPr>
              <a:t>rootkits</a:t>
            </a:r>
            <a:endParaRPr sz="2800">
              <a:latin typeface="Times New Roman"/>
              <a:cs typeface="Times New Roman"/>
            </a:endParaRPr>
          </a:p>
          <a:p>
            <a:pPr marL="240665" indent="-227965">
              <a:lnSpc>
                <a:spcPct val="100000"/>
              </a:lnSpc>
              <a:spcBef>
                <a:spcPts val="660"/>
              </a:spcBef>
              <a:buFont typeface="Arial MT"/>
              <a:buChar char="•"/>
              <a:tabLst>
                <a:tab pos="240665" algn="l"/>
              </a:tabLst>
            </a:pPr>
            <a:r>
              <a:rPr sz="2800" dirty="0">
                <a:latin typeface="Times New Roman"/>
                <a:cs typeface="Times New Roman"/>
              </a:rPr>
              <a:t>Kernel</a:t>
            </a:r>
            <a:r>
              <a:rPr sz="2800" spc="-75" dirty="0">
                <a:latin typeface="Times New Roman"/>
                <a:cs typeface="Times New Roman"/>
              </a:rPr>
              <a:t> </a:t>
            </a:r>
            <a:r>
              <a:rPr sz="2800" spc="-10" dirty="0">
                <a:latin typeface="Times New Roman"/>
                <a:cs typeface="Times New Roman"/>
              </a:rPr>
              <a:t>rootkits</a:t>
            </a:r>
            <a:endParaRPr sz="2800">
              <a:latin typeface="Times New Roman"/>
              <a:cs typeface="Times New Roman"/>
            </a:endParaRPr>
          </a:p>
          <a:p>
            <a:pPr marL="240029" indent="-227329">
              <a:lnSpc>
                <a:spcPct val="100000"/>
              </a:lnSpc>
              <a:spcBef>
                <a:spcPts val="660"/>
              </a:spcBef>
              <a:buFont typeface="Arial MT"/>
              <a:buChar char="•"/>
              <a:tabLst>
                <a:tab pos="240029" algn="l"/>
              </a:tabLst>
            </a:pPr>
            <a:r>
              <a:rPr sz="2800" dirty="0">
                <a:latin typeface="Times New Roman"/>
                <a:cs typeface="Times New Roman"/>
              </a:rPr>
              <a:t>Bootkit</a:t>
            </a:r>
            <a:r>
              <a:rPr sz="2800" spc="-20" dirty="0">
                <a:latin typeface="Times New Roman"/>
                <a:cs typeface="Times New Roman"/>
              </a:rPr>
              <a:t> </a:t>
            </a:r>
            <a:r>
              <a:rPr sz="2800" spc="-10" dirty="0">
                <a:latin typeface="Times New Roman"/>
                <a:cs typeface="Times New Roman"/>
              </a:rPr>
              <a:t>rootkits</a:t>
            </a:r>
            <a:endParaRPr sz="2800">
              <a:latin typeface="Times New Roman"/>
              <a:cs typeface="Times New Roman"/>
            </a:endParaRPr>
          </a:p>
          <a:p>
            <a:pPr marL="240665" indent="-227965">
              <a:lnSpc>
                <a:spcPct val="100000"/>
              </a:lnSpc>
              <a:spcBef>
                <a:spcPts val="670"/>
              </a:spcBef>
              <a:buFont typeface="Arial MT"/>
              <a:buChar char="•"/>
              <a:tabLst>
                <a:tab pos="240665" algn="l"/>
              </a:tabLst>
            </a:pPr>
            <a:r>
              <a:rPr sz="2800" dirty="0">
                <a:latin typeface="Times New Roman"/>
                <a:cs typeface="Times New Roman"/>
              </a:rPr>
              <a:t>Firmware</a:t>
            </a:r>
            <a:r>
              <a:rPr sz="2800" spc="-95" dirty="0">
                <a:latin typeface="Times New Roman"/>
                <a:cs typeface="Times New Roman"/>
              </a:rPr>
              <a:t> </a:t>
            </a:r>
            <a:r>
              <a:rPr sz="2800" spc="-10" dirty="0">
                <a:latin typeface="Times New Roman"/>
                <a:cs typeface="Times New Roman"/>
              </a:rPr>
              <a:t>rootkits</a:t>
            </a:r>
            <a:endParaRPr sz="2800">
              <a:latin typeface="Times New Roman"/>
              <a:cs typeface="Times New Roman"/>
            </a:endParaRPr>
          </a:p>
          <a:p>
            <a:pPr marL="240665" indent="-227965">
              <a:lnSpc>
                <a:spcPct val="100000"/>
              </a:lnSpc>
              <a:spcBef>
                <a:spcPts val="660"/>
              </a:spcBef>
              <a:buFont typeface="Arial MT"/>
              <a:buChar char="•"/>
              <a:tabLst>
                <a:tab pos="240665" algn="l"/>
              </a:tabLst>
            </a:pPr>
            <a:r>
              <a:rPr sz="2800" dirty="0">
                <a:latin typeface="Times New Roman"/>
                <a:cs typeface="Times New Roman"/>
              </a:rPr>
              <a:t>Library</a:t>
            </a:r>
            <a:r>
              <a:rPr sz="2800" spc="-75" dirty="0">
                <a:latin typeface="Times New Roman"/>
                <a:cs typeface="Times New Roman"/>
              </a:rPr>
              <a:t> </a:t>
            </a:r>
            <a:r>
              <a:rPr sz="2800" spc="-10" dirty="0">
                <a:latin typeface="Times New Roman"/>
                <a:cs typeface="Times New Roman"/>
              </a:rPr>
              <a:t>rootkits</a:t>
            </a:r>
            <a:endParaRPr sz="2800">
              <a:latin typeface="Times New Roman"/>
              <a:cs typeface="Times New Roman"/>
            </a:endParaRPr>
          </a:p>
          <a:p>
            <a:pPr marL="240029" indent="-227329">
              <a:lnSpc>
                <a:spcPct val="100000"/>
              </a:lnSpc>
              <a:spcBef>
                <a:spcPts val="660"/>
              </a:spcBef>
              <a:buFont typeface="Arial MT"/>
              <a:buChar char="•"/>
              <a:tabLst>
                <a:tab pos="240029" algn="l"/>
              </a:tabLst>
            </a:pPr>
            <a:r>
              <a:rPr sz="2800" dirty="0">
                <a:latin typeface="Times New Roman"/>
                <a:cs typeface="Times New Roman"/>
              </a:rPr>
              <a:t>Application</a:t>
            </a:r>
            <a:r>
              <a:rPr sz="2800" spc="-100" dirty="0">
                <a:latin typeface="Times New Roman"/>
                <a:cs typeface="Times New Roman"/>
              </a:rPr>
              <a:t> </a:t>
            </a:r>
            <a:r>
              <a:rPr sz="2800" spc="-10" dirty="0">
                <a:latin typeface="Times New Roman"/>
                <a:cs typeface="Times New Roman"/>
              </a:rPr>
              <a:t>rootkits</a:t>
            </a:r>
            <a:endParaRPr sz="2800">
              <a:latin typeface="Times New Roman"/>
              <a:cs typeface="Times New Roman"/>
            </a:endParaRPr>
          </a:p>
        </p:txBody>
      </p:sp>
    </p:spTree>
    <p:extLst>
      <p:ext uri="{BB962C8B-B14F-4D97-AF65-F5344CB8AC3E}">
        <p14:creationId xmlns:p14="http://schemas.microsoft.com/office/powerpoint/2010/main" val="38583733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35127" rIns="0" bIns="0" rtlCol="0">
            <a:spAutoFit/>
          </a:bodyPr>
          <a:lstStyle/>
          <a:p>
            <a:pPr marL="12700">
              <a:lnSpc>
                <a:spcPct val="100000"/>
              </a:lnSpc>
              <a:spcBef>
                <a:spcPts val="105"/>
              </a:spcBef>
            </a:pPr>
            <a:r>
              <a:rPr spc="-10" dirty="0"/>
              <a:t>ROOTKIT</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3" name="object 3"/>
          <p:cNvSpPr txBox="1"/>
          <p:nvPr/>
        </p:nvSpPr>
        <p:spPr>
          <a:xfrm>
            <a:off x="916939" y="1804161"/>
            <a:ext cx="10316210" cy="4286885"/>
          </a:xfrm>
          <a:prstGeom prst="rect">
            <a:avLst/>
          </a:prstGeom>
        </p:spPr>
        <p:txBody>
          <a:bodyPr vert="horz" wrap="square" lIns="0" tIns="60960" rIns="0" bIns="0" rtlCol="0">
            <a:spAutoFit/>
          </a:bodyPr>
          <a:lstStyle/>
          <a:p>
            <a:pPr marL="12700" marR="5080">
              <a:lnSpc>
                <a:spcPts val="3020"/>
              </a:lnSpc>
              <a:spcBef>
                <a:spcPts val="480"/>
              </a:spcBef>
            </a:pPr>
            <a:r>
              <a:rPr sz="2800" dirty="0">
                <a:latin typeface="Times New Roman"/>
                <a:cs typeface="Times New Roman"/>
              </a:rPr>
              <a:t>If</a:t>
            </a:r>
            <a:r>
              <a:rPr sz="2800" spc="-35" dirty="0">
                <a:latin typeface="Times New Roman"/>
                <a:cs typeface="Times New Roman"/>
              </a:rPr>
              <a:t> </a:t>
            </a:r>
            <a:r>
              <a:rPr sz="2800" dirty="0">
                <a:latin typeface="Times New Roman"/>
                <a:cs typeface="Times New Roman"/>
              </a:rPr>
              <a:t>the</a:t>
            </a:r>
            <a:r>
              <a:rPr sz="2800" spc="-70" dirty="0">
                <a:latin typeface="Times New Roman"/>
                <a:cs typeface="Times New Roman"/>
              </a:rPr>
              <a:t> </a:t>
            </a:r>
            <a:r>
              <a:rPr sz="2800" dirty="0">
                <a:latin typeface="Times New Roman"/>
                <a:cs typeface="Times New Roman"/>
              </a:rPr>
              <a:t>computer</a:t>
            </a:r>
            <a:r>
              <a:rPr sz="2800" spc="-35" dirty="0">
                <a:latin typeface="Times New Roman"/>
                <a:cs typeface="Times New Roman"/>
              </a:rPr>
              <a:t> </a:t>
            </a:r>
            <a:r>
              <a:rPr sz="2800" dirty="0">
                <a:latin typeface="Times New Roman"/>
                <a:cs typeface="Times New Roman"/>
              </a:rPr>
              <a:t>shows</a:t>
            </a:r>
            <a:r>
              <a:rPr sz="2800" spc="-40" dirty="0">
                <a:latin typeface="Times New Roman"/>
                <a:cs typeface="Times New Roman"/>
              </a:rPr>
              <a:t> </a:t>
            </a:r>
            <a:r>
              <a:rPr sz="2800" dirty="0">
                <a:latin typeface="Times New Roman"/>
                <a:cs typeface="Times New Roman"/>
              </a:rPr>
              <a:t>the</a:t>
            </a:r>
            <a:r>
              <a:rPr sz="2800" spc="-55" dirty="0">
                <a:latin typeface="Times New Roman"/>
                <a:cs typeface="Times New Roman"/>
              </a:rPr>
              <a:t> </a:t>
            </a:r>
            <a:r>
              <a:rPr sz="2800" dirty="0">
                <a:latin typeface="Times New Roman"/>
                <a:cs typeface="Times New Roman"/>
              </a:rPr>
              <a:t>following</a:t>
            </a:r>
            <a:r>
              <a:rPr sz="2800" spc="-55" dirty="0">
                <a:latin typeface="Times New Roman"/>
                <a:cs typeface="Times New Roman"/>
              </a:rPr>
              <a:t> </a:t>
            </a:r>
            <a:r>
              <a:rPr sz="2800" dirty="0">
                <a:latin typeface="Times New Roman"/>
                <a:cs typeface="Times New Roman"/>
              </a:rPr>
              <a:t>symptoms,</a:t>
            </a:r>
            <a:r>
              <a:rPr sz="2800" spc="-50" dirty="0">
                <a:latin typeface="Times New Roman"/>
                <a:cs typeface="Times New Roman"/>
              </a:rPr>
              <a:t> </a:t>
            </a:r>
            <a:r>
              <a:rPr sz="2800" dirty="0">
                <a:latin typeface="Times New Roman"/>
                <a:cs typeface="Times New Roman"/>
              </a:rPr>
              <a:t>then</a:t>
            </a:r>
            <a:r>
              <a:rPr sz="2800" spc="-55" dirty="0">
                <a:latin typeface="Times New Roman"/>
                <a:cs typeface="Times New Roman"/>
              </a:rPr>
              <a:t> </a:t>
            </a:r>
            <a:r>
              <a:rPr sz="2800" dirty="0">
                <a:latin typeface="Times New Roman"/>
                <a:cs typeface="Times New Roman"/>
              </a:rPr>
              <a:t>you</a:t>
            </a:r>
            <a:r>
              <a:rPr sz="2800" spc="-50" dirty="0">
                <a:latin typeface="Times New Roman"/>
                <a:cs typeface="Times New Roman"/>
              </a:rPr>
              <a:t> </a:t>
            </a:r>
            <a:r>
              <a:rPr sz="2800" dirty="0">
                <a:latin typeface="Times New Roman"/>
                <a:cs typeface="Times New Roman"/>
              </a:rPr>
              <a:t>should</a:t>
            </a:r>
            <a:r>
              <a:rPr sz="2800" spc="-75" dirty="0">
                <a:latin typeface="Times New Roman"/>
                <a:cs typeface="Times New Roman"/>
              </a:rPr>
              <a:t> </a:t>
            </a:r>
            <a:r>
              <a:rPr sz="2800" spc="-10" dirty="0">
                <a:latin typeface="Times New Roman"/>
                <a:cs typeface="Times New Roman"/>
              </a:rPr>
              <a:t>suspect </a:t>
            </a:r>
            <a:r>
              <a:rPr sz="2800" dirty="0">
                <a:latin typeface="Times New Roman"/>
                <a:cs typeface="Times New Roman"/>
              </a:rPr>
              <a:t>that</a:t>
            </a:r>
            <a:r>
              <a:rPr sz="2800" spc="-30" dirty="0">
                <a:latin typeface="Times New Roman"/>
                <a:cs typeface="Times New Roman"/>
              </a:rPr>
              <a:t> </a:t>
            </a:r>
            <a:r>
              <a:rPr sz="2800" dirty="0">
                <a:latin typeface="Times New Roman"/>
                <a:cs typeface="Times New Roman"/>
              </a:rPr>
              <a:t>the</a:t>
            </a:r>
            <a:r>
              <a:rPr sz="2800" spc="-20" dirty="0">
                <a:latin typeface="Times New Roman"/>
                <a:cs typeface="Times New Roman"/>
              </a:rPr>
              <a:t> </a:t>
            </a:r>
            <a:r>
              <a:rPr sz="2800" dirty="0">
                <a:latin typeface="Times New Roman"/>
                <a:cs typeface="Times New Roman"/>
              </a:rPr>
              <a:t>computer</a:t>
            </a:r>
            <a:r>
              <a:rPr sz="2800" spc="-15" dirty="0">
                <a:latin typeface="Times New Roman"/>
                <a:cs typeface="Times New Roman"/>
              </a:rPr>
              <a:t> </a:t>
            </a:r>
            <a:r>
              <a:rPr sz="2800" dirty="0">
                <a:latin typeface="Times New Roman"/>
                <a:cs typeface="Times New Roman"/>
              </a:rPr>
              <a:t>has</a:t>
            </a:r>
            <a:r>
              <a:rPr sz="2800" spc="-35" dirty="0">
                <a:latin typeface="Times New Roman"/>
                <a:cs typeface="Times New Roman"/>
              </a:rPr>
              <a:t> </a:t>
            </a:r>
            <a:r>
              <a:rPr sz="2800" dirty="0">
                <a:latin typeface="Times New Roman"/>
                <a:cs typeface="Times New Roman"/>
              </a:rPr>
              <a:t>been</a:t>
            </a:r>
            <a:r>
              <a:rPr sz="2800" spc="-20" dirty="0">
                <a:latin typeface="Times New Roman"/>
                <a:cs typeface="Times New Roman"/>
              </a:rPr>
              <a:t> </a:t>
            </a:r>
            <a:r>
              <a:rPr sz="2800" dirty="0">
                <a:latin typeface="Times New Roman"/>
                <a:cs typeface="Times New Roman"/>
              </a:rPr>
              <a:t>infected</a:t>
            </a:r>
            <a:r>
              <a:rPr sz="2800" spc="-15" dirty="0">
                <a:latin typeface="Times New Roman"/>
                <a:cs typeface="Times New Roman"/>
              </a:rPr>
              <a:t> </a:t>
            </a:r>
            <a:r>
              <a:rPr sz="2800" dirty="0">
                <a:latin typeface="Times New Roman"/>
                <a:cs typeface="Times New Roman"/>
              </a:rPr>
              <a:t>by</a:t>
            </a:r>
            <a:r>
              <a:rPr sz="2800" spc="-25" dirty="0">
                <a:latin typeface="Times New Roman"/>
                <a:cs typeface="Times New Roman"/>
              </a:rPr>
              <a:t> </a:t>
            </a:r>
            <a:r>
              <a:rPr sz="2800" dirty="0">
                <a:latin typeface="Times New Roman"/>
                <a:cs typeface="Times New Roman"/>
              </a:rPr>
              <a:t>the</a:t>
            </a:r>
            <a:r>
              <a:rPr sz="2800" spc="-15" dirty="0">
                <a:latin typeface="Times New Roman"/>
                <a:cs typeface="Times New Roman"/>
              </a:rPr>
              <a:t> </a:t>
            </a:r>
            <a:r>
              <a:rPr sz="2800" dirty="0">
                <a:latin typeface="Times New Roman"/>
                <a:cs typeface="Times New Roman"/>
              </a:rPr>
              <a:t>rootkit</a:t>
            </a:r>
            <a:r>
              <a:rPr sz="2800" spc="-45" dirty="0">
                <a:latin typeface="Times New Roman"/>
                <a:cs typeface="Times New Roman"/>
              </a:rPr>
              <a:t> </a:t>
            </a:r>
            <a:r>
              <a:rPr sz="2800" spc="-10" dirty="0">
                <a:latin typeface="Times New Roman"/>
                <a:cs typeface="Times New Roman"/>
              </a:rPr>
              <a:t>attack.</a:t>
            </a:r>
            <a:endParaRPr sz="2800">
              <a:latin typeface="Times New Roman"/>
              <a:cs typeface="Times New Roman"/>
            </a:endParaRPr>
          </a:p>
          <a:p>
            <a:pPr marL="240665" indent="-227965">
              <a:lnSpc>
                <a:spcPct val="100000"/>
              </a:lnSpc>
              <a:spcBef>
                <a:spcPts val="635"/>
              </a:spcBef>
              <a:buFont typeface="Arial MT"/>
              <a:buChar char="•"/>
              <a:tabLst>
                <a:tab pos="240665" algn="l"/>
              </a:tabLst>
            </a:pPr>
            <a:r>
              <a:rPr sz="2800" dirty="0">
                <a:latin typeface="Times New Roman"/>
                <a:cs typeface="Times New Roman"/>
              </a:rPr>
              <a:t>Modifications</a:t>
            </a:r>
            <a:r>
              <a:rPr sz="2800" spc="-40" dirty="0">
                <a:latin typeface="Times New Roman"/>
                <a:cs typeface="Times New Roman"/>
              </a:rPr>
              <a:t> </a:t>
            </a:r>
            <a:r>
              <a:rPr sz="2800" dirty="0">
                <a:latin typeface="Times New Roman"/>
                <a:cs typeface="Times New Roman"/>
              </a:rPr>
              <a:t>in</a:t>
            </a:r>
            <a:r>
              <a:rPr sz="2800" spc="-35" dirty="0">
                <a:latin typeface="Times New Roman"/>
                <a:cs typeface="Times New Roman"/>
              </a:rPr>
              <a:t> </a:t>
            </a:r>
            <a:r>
              <a:rPr sz="2800" dirty="0">
                <a:latin typeface="Times New Roman"/>
                <a:cs typeface="Times New Roman"/>
              </a:rPr>
              <a:t>the</a:t>
            </a:r>
            <a:r>
              <a:rPr sz="2800" spc="-40" dirty="0">
                <a:latin typeface="Times New Roman"/>
                <a:cs typeface="Times New Roman"/>
              </a:rPr>
              <a:t> </a:t>
            </a:r>
            <a:r>
              <a:rPr sz="2800" dirty="0">
                <a:latin typeface="Times New Roman"/>
                <a:cs typeface="Times New Roman"/>
              </a:rPr>
              <a:t>dates</a:t>
            </a:r>
            <a:r>
              <a:rPr sz="2800" spc="-40" dirty="0">
                <a:latin typeface="Times New Roman"/>
                <a:cs typeface="Times New Roman"/>
              </a:rPr>
              <a:t> </a:t>
            </a:r>
            <a:r>
              <a:rPr sz="2800" dirty="0">
                <a:latin typeface="Times New Roman"/>
                <a:cs typeface="Times New Roman"/>
              </a:rPr>
              <a:t>and</a:t>
            </a:r>
            <a:r>
              <a:rPr sz="2800" spc="-30" dirty="0">
                <a:latin typeface="Times New Roman"/>
                <a:cs typeface="Times New Roman"/>
              </a:rPr>
              <a:t> </a:t>
            </a:r>
            <a:r>
              <a:rPr sz="2800" dirty="0">
                <a:latin typeface="Times New Roman"/>
                <a:cs typeface="Times New Roman"/>
              </a:rPr>
              <a:t>time</a:t>
            </a:r>
            <a:r>
              <a:rPr sz="2800" spc="-35" dirty="0">
                <a:latin typeface="Times New Roman"/>
                <a:cs typeface="Times New Roman"/>
              </a:rPr>
              <a:t> </a:t>
            </a:r>
            <a:r>
              <a:rPr sz="2800" dirty="0">
                <a:latin typeface="Times New Roman"/>
                <a:cs typeface="Times New Roman"/>
              </a:rPr>
              <a:t>of</a:t>
            </a:r>
            <a:r>
              <a:rPr sz="2800" spc="-30" dirty="0">
                <a:latin typeface="Times New Roman"/>
                <a:cs typeface="Times New Roman"/>
              </a:rPr>
              <a:t> </a:t>
            </a:r>
            <a:r>
              <a:rPr sz="2800" spc="-10" dirty="0">
                <a:latin typeface="Times New Roman"/>
                <a:cs typeface="Times New Roman"/>
              </a:rPr>
              <a:t>computer</a:t>
            </a:r>
            <a:endParaRPr sz="2800">
              <a:latin typeface="Times New Roman"/>
              <a:cs typeface="Times New Roman"/>
            </a:endParaRPr>
          </a:p>
          <a:p>
            <a:pPr marL="240665" indent="-227965">
              <a:lnSpc>
                <a:spcPct val="100000"/>
              </a:lnSpc>
              <a:spcBef>
                <a:spcPts val="660"/>
              </a:spcBef>
              <a:buFont typeface="Arial MT"/>
              <a:buChar char="•"/>
              <a:tabLst>
                <a:tab pos="240665" algn="l"/>
              </a:tabLst>
            </a:pPr>
            <a:r>
              <a:rPr sz="2800" dirty="0">
                <a:latin typeface="Times New Roman"/>
                <a:cs typeface="Times New Roman"/>
              </a:rPr>
              <a:t>Slowing</a:t>
            </a:r>
            <a:r>
              <a:rPr sz="2800" spc="-50" dirty="0">
                <a:latin typeface="Times New Roman"/>
                <a:cs typeface="Times New Roman"/>
              </a:rPr>
              <a:t> </a:t>
            </a:r>
            <a:r>
              <a:rPr sz="2800" dirty="0">
                <a:latin typeface="Times New Roman"/>
                <a:cs typeface="Times New Roman"/>
              </a:rPr>
              <a:t>down</a:t>
            </a:r>
            <a:r>
              <a:rPr sz="2800" spc="-35" dirty="0">
                <a:latin typeface="Times New Roman"/>
                <a:cs typeface="Times New Roman"/>
              </a:rPr>
              <a:t> </a:t>
            </a:r>
            <a:r>
              <a:rPr sz="2800" dirty="0">
                <a:latin typeface="Times New Roman"/>
                <a:cs typeface="Times New Roman"/>
              </a:rPr>
              <a:t>of</a:t>
            </a:r>
            <a:r>
              <a:rPr sz="2800" spc="-35" dirty="0">
                <a:latin typeface="Times New Roman"/>
                <a:cs typeface="Times New Roman"/>
              </a:rPr>
              <a:t> </a:t>
            </a:r>
            <a:r>
              <a:rPr sz="2800" dirty="0">
                <a:latin typeface="Times New Roman"/>
                <a:cs typeface="Times New Roman"/>
              </a:rPr>
              <a:t>the</a:t>
            </a:r>
            <a:r>
              <a:rPr sz="2800" spc="-55" dirty="0">
                <a:latin typeface="Times New Roman"/>
                <a:cs typeface="Times New Roman"/>
              </a:rPr>
              <a:t> </a:t>
            </a:r>
            <a:r>
              <a:rPr sz="2800" spc="-10" dirty="0">
                <a:latin typeface="Times New Roman"/>
                <a:cs typeface="Times New Roman"/>
              </a:rPr>
              <a:t>computer</a:t>
            </a:r>
            <a:endParaRPr sz="2800">
              <a:latin typeface="Times New Roman"/>
              <a:cs typeface="Times New Roman"/>
            </a:endParaRPr>
          </a:p>
          <a:p>
            <a:pPr marL="240665" indent="-227965">
              <a:lnSpc>
                <a:spcPct val="100000"/>
              </a:lnSpc>
              <a:spcBef>
                <a:spcPts val="660"/>
              </a:spcBef>
              <a:buFont typeface="Arial MT"/>
              <a:buChar char="•"/>
              <a:tabLst>
                <a:tab pos="240665" algn="l"/>
              </a:tabLst>
            </a:pPr>
            <a:r>
              <a:rPr sz="2800" dirty="0">
                <a:latin typeface="Times New Roman"/>
                <a:cs typeface="Times New Roman"/>
              </a:rPr>
              <a:t>Unexpected</a:t>
            </a:r>
            <a:r>
              <a:rPr sz="2800" spc="-55" dirty="0">
                <a:latin typeface="Times New Roman"/>
                <a:cs typeface="Times New Roman"/>
              </a:rPr>
              <a:t> </a:t>
            </a:r>
            <a:r>
              <a:rPr sz="2800" dirty="0">
                <a:latin typeface="Times New Roman"/>
                <a:cs typeface="Times New Roman"/>
              </a:rPr>
              <a:t>system</a:t>
            </a:r>
            <a:r>
              <a:rPr sz="2800" spc="-65" dirty="0">
                <a:latin typeface="Times New Roman"/>
                <a:cs typeface="Times New Roman"/>
              </a:rPr>
              <a:t> </a:t>
            </a:r>
            <a:r>
              <a:rPr sz="2800" dirty="0">
                <a:latin typeface="Times New Roman"/>
                <a:cs typeface="Times New Roman"/>
              </a:rPr>
              <a:t>error</a:t>
            </a:r>
            <a:r>
              <a:rPr sz="2800" spc="-40" dirty="0">
                <a:latin typeface="Times New Roman"/>
                <a:cs typeface="Times New Roman"/>
              </a:rPr>
              <a:t> </a:t>
            </a:r>
            <a:r>
              <a:rPr sz="2800" spc="-10" dirty="0">
                <a:latin typeface="Times New Roman"/>
                <a:cs typeface="Times New Roman"/>
              </a:rPr>
              <a:t>messages</a:t>
            </a:r>
            <a:endParaRPr sz="2800">
              <a:latin typeface="Times New Roman"/>
              <a:cs typeface="Times New Roman"/>
            </a:endParaRPr>
          </a:p>
          <a:p>
            <a:pPr marL="240029" marR="36195" indent="-227965">
              <a:lnSpc>
                <a:spcPts val="3020"/>
              </a:lnSpc>
              <a:spcBef>
                <a:spcPts val="1055"/>
              </a:spcBef>
              <a:buFont typeface="Arial MT"/>
              <a:buChar char="•"/>
              <a:tabLst>
                <a:tab pos="241300" algn="l"/>
              </a:tabLst>
            </a:pPr>
            <a:r>
              <a:rPr sz="2800" dirty="0">
                <a:latin typeface="Times New Roman"/>
                <a:cs typeface="Times New Roman"/>
              </a:rPr>
              <a:t>Many</a:t>
            </a:r>
            <a:r>
              <a:rPr sz="2800" spc="-55" dirty="0">
                <a:latin typeface="Times New Roman"/>
                <a:cs typeface="Times New Roman"/>
              </a:rPr>
              <a:t> </a:t>
            </a:r>
            <a:r>
              <a:rPr sz="2800" dirty="0">
                <a:latin typeface="Times New Roman"/>
                <a:cs typeface="Times New Roman"/>
              </a:rPr>
              <a:t>programs,</a:t>
            </a:r>
            <a:r>
              <a:rPr sz="2800" spc="-50" dirty="0">
                <a:latin typeface="Times New Roman"/>
                <a:cs typeface="Times New Roman"/>
              </a:rPr>
              <a:t> </a:t>
            </a:r>
            <a:r>
              <a:rPr sz="2800" dirty="0">
                <a:latin typeface="Times New Roman"/>
                <a:cs typeface="Times New Roman"/>
              </a:rPr>
              <a:t>especially</a:t>
            </a:r>
            <a:r>
              <a:rPr sz="2800" spc="-65" dirty="0">
                <a:latin typeface="Times New Roman"/>
                <a:cs typeface="Times New Roman"/>
              </a:rPr>
              <a:t> </a:t>
            </a:r>
            <a:r>
              <a:rPr sz="2800" dirty="0">
                <a:latin typeface="Times New Roman"/>
                <a:cs typeface="Times New Roman"/>
              </a:rPr>
              <a:t>computer</a:t>
            </a:r>
            <a:r>
              <a:rPr sz="2800" spc="-60" dirty="0">
                <a:latin typeface="Times New Roman"/>
                <a:cs typeface="Times New Roman"/>
              </a:rPr>
              <a:t> </a:t>
            </a:r>
            <a:r>
              <a:rPr sz="2800" dirty="0">
                <a:latin typeface="Times New Roman"/>
                <a:cs typeface="Times New Roman"/>
              </a:rPr>
              <a:t>security-related</a:t>
            </a:r>
            <a:r>
              <a:rPr sz="2800" spc="-80" dirty="0">
                <a:latin typeface="Times New Roman"/>
                <a:cs typeface="Times New Roman"/>
              </a:rPr>
              <a:t> </a:t>
            </a:r>
            <a:r>
              <a:rPr sz="2800" dirty="0">
                <a:latin typeface="Times New Roman"/>
                <a:cs typeface="Times New Roman"/>
              </a:rPr>
              <a:t>programs,</a:t>
            </a:r>
            <a:r>
              <a:rPr sz="2800" spc="-50" dirty="0">
                <a:latin typeface="Times New Roman"/>
                <a:cs typeface="Times New Roman"/>
              </a:rPr>
              <a:t> </a:t>
            </a:r>
            <a:r>
              <a:rPr sz="2800" dirty="0">
                <a:latin typeface="Times New Roman"/>
                <a:cs typeface="Times New Roman"/>
              </a:rPr>
              <a:t>fail</a:t>
            </a:r>
            <a:r>
              <a:rPr sz="2800" spc="-60" dirty="0">
                <a:latin typeface="Times New Roman"/>
                <a:cs typeface="Times New Roman"/>
              </a:rPr>
              <a:t> </a:t>
            </a:r>
            <a:r>
              <a:rPr sz="2800" spc="-25" dirty="0">
                <a:latin typeface="Times New Roman"/>
                <a:cs typeface="Times New Roman"/>
              </a:rPr>
              <a:t>to 	</a:t>
            </a:r>
            <a:r>
              <a:rPr sz="2800" spc="-10" dirty="0">
                <a:latin typeface="Times New Roman"/>
                <a:cs typeface="Times New Roman"/>
              </a:rPr>
              <a:t>start</a:t>
            </a:r>
            <a:endParaRPr sz="2800">
              <a:latin typeface="Times New Roman"/>
              <a:cs typeface="Times New Roman"/>
            </a:endParaRPr>
          </a:p>
          <a:p>
            <a:pPr marL="240665" indent="-227965">
              <a:lnSpc>
                <a:spcPct val="100000"/>
              </a:lnSpc>
              <a:spcBef>
                <a:spcPts val="620"/>
              </a:spcBef>
              <a:buFont typeface="Arial MT"/>
              <a:buChar char="•"/>
              <a:tabLst>
                <a:tab pos="240665" algn="l"/>
              </a:tabLst>
            </a:pPr>
            <a:r>
              <a:rPr sz="2800" dirty="0">
                <a:latin typeface="Times New Roman"/>
                <a:cs typeface="Times New Roman"/>
              </a:rPr>
              <a:t>Substantial</a:t>
            </a:r>
            <a:r>
              <a:rPr sz="2800" spc="-70" dirty="0">
                <a:latin typeface="Times New Roman"/>
                <a:cs typeface="Times New Roman"/>
              </a:rPr>
              <a:t> </a:t>
            </a:r>
            <a:r>
              <a:rPr sz="2800" dirty="0">
                <a:latin typeface="Times New Roman"/>
                <a:cs typeface="Times New Roman"/>
              </a:rPr>
              <a:t>redirects</a:t>
            </a:r>
            <a:r>
              <a:rPr sz="2800" spc="-45" dirty="0">
                <a:latin typeface="Times New Roman"/>
                <a:cs typeface="Times New Roman"/>
              </a:rPr>
              <a:t> </a:t>
            </a:r>
            <a:r>
              <a:rPr sz="2800" dirty="0">
                <a:latin typeface="Times New Roman"/>
                <a:cs typeface="Times New Roman"/>
              </a:rPr>
              <a:t>on</a:t>
            </a:r>
            <a:r>
              <a:rPr sz="2800" spc="-50" dirty="0">
                <a:latin typeface="Times New Roman"/>
                <a:cs typeface="Times New Roman"/>
              </a:rPr>
              <a:t> </a:t>
            </a:r>
            <a:r>
              <a:rPr sz="2800" spc="-10" dirty="0">
                <a:latin typeface="Times New Roman"/>
                <a:cs typeface="Times New Roman"/>
              </a:rPr>
              <a:t>browsers</a:t>
            </a:r>
            <a:endParaRPr sz="2800">
              <a:latin typeface="Times New Roman"/>
              <a:cs typeface="Times New Roman"/>
            </a:endParaRPr>
          </a:p>
          <a:p>
            <a:pPr marL="240029" indent="-227329">
              <a:lnSpc>
                <a:spcPct val="100000"/>
              </a:lnSpc>
              <a:spcBef>
                <a:spcPts val="660"/>
              </a:spcBef>
              <a:buFont typeface="Arial MT"/>
              <a:buChar char="•"/>
              <a:tabLst>
                <a:tab pos="240029" algn="l"/>
              </a:tabLst>
            </a:pPr>
            <a:r>
              <a:rPr sz="2800" dirty="0">
                <a:latin typeface="Times New Roman"/>
                <a:cs typeface="Times New Roman"/>
              </a:rPr>
              <a:t>Appearance</a:t>
            </a:r>
            <a:r>
              <a:rPr sz="2800" spc="-20" dirty="0">
                <a:latin typeface="Times New Roman"/>
                <a:cs typeface="Times New Roman"/>
              </a:rPr>
              <a:t> </a:t>
            </a:r>
            <a:r>
              <a:rPr sz="2800" dirty="0">
                <a:latin typeface="Times New Roman"/>
                <a:cs typeface="Times New Roman"/>
              </a:rPr>
              <a:t>of</a:t>
            </a:r>
            <a:r>
              <a:rPr sz="2800" spc="-15" dirty="0">
                <a:latin typeface="Times New Roman"/>
                <a:cs typeface="Times New Roman"/>
              </a:rPr>
              <a:t> </a:t>
            </a:r>
            <a:r>
              <a:rPr sz="2800" dirty="0">
                <a:latin typeface="Times New Roman"/>
                <a:cs typeface="Times New Roman"/>
              </a:rPr>
              <a:t>blue</a:t>
            </a:r>
            <a:r>
              <a:rPr sz="2800" spc="-30" dirty="0">
                <a:latin typeface="Times New Roman"/>
                <a:cs typeface="Times New Roman"/>
              </a:rPr>
              <a:t> </a:t>
            </a:r>
            <a:r>
              <a:rPr sz="2800" dirty="0">
                <a:latin typeface="Times New Roman"/>
                <a:cs typeface="Times New Roman"/>
              </a:rPr>
              <a:t>screen</a:t>
            </a:r>
            <a:r>
              <a:rPr sz="2800" spc="-25" dirty="0">
                <a:latin typeface="Times New Roman"/>
                <a:cs typeface="Times New Roman"/>
              </a:rPr>
              <a:t> </a:t>
            </a:r>
            <a:r>
              <a:rPr sz="2800" dirty="0">
                <a:latin typeface="Times New Roman"/>
                <a:cs typeface="Times New Roman"/>
              </a:rPr>
              <a:t>of</a:t>
            </a:r>
            <a:r>
              <a:rPr sz="2800" spc="-10" dirty="0">
                <a:latin typeface="Times New Roman"/>
                <a:cs typeface="Times New Roman"/>
              </a:rPr>
              <a:t> death</a:t>
            </a:r>
            <a:endParaRPr sz="2800">
              <a:latin typeface="Times New Roman"/>
              <a:cs typeface="Times New Roman"/>
            </a:endParaRPr>
          </a:p>
        </p:txBody>
      </p:sp>
    </p:spTree>
    <p:extLst>
      <p:ext uri="{BB962C8B-B14F-4D97-AF65-F5344CB8AC3E}">
        <p14:creationId xmlns:p14="http://schemas.microsoft.com/office/powerpoint/2010/main" val="14433150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252729"/>
            <a:ext cx="2451100" cy="635000"/>
          </a:xfrm>
          <a:prstGeom prst="rect">
            <a:avLst/>
          </a:prstGeom>
        </p:spPr>
        <p:txBody>
          <a:bodyPr vert="horz" wrap="square" lIns="0" tIns="12065" rIns="0" bIns="0" rtlCol="0">
            <a:spAutoFit/>
          </a:bodyPr>
          <a:lstStyle/>
          <a:p>
            <a:pPr marL="12700">
              <a:lnSpc>
                <a:spcPct val="100000"/>
              </a:lnSpc>
              <a:spcBef>
                <a:spcPts val="95"/>
              </a:spcBef>
            </a:pPr>
            <a:r>
              <a:rPr sz="4000" spc="-10" dirty="0"/>
              <a:t>ROOTKIT</a:t>
            </a:r>
            <a:endParaRPr sz="400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3" name="object 3"/>
          <p:cNvSpPr txBox="1"/>
          <p:nvPr/>
        </p:nvSpPr>
        <p:spPr>
          <a:xfrm>
            <a:off x="916939" y="975436"/>
            <a:ext cx="10318115" cy="5426075"/>
          </a:xfrm>
          <a:prstGeom prst="rect">
            <a:avLst/>
          </a:prstGeom>
        </p:spPr>
        <p:txBody>
          <a:bodyPr vert="horz" wrap="square" lIns="0" tIns="132080" rIns="0" bIns="0" rtlCol="0">
            <a:spAutoFit/>
          </a:bodyPr>
          <a:lstStyle/>
          <a:p>
            <a:pPr marL="12700" marR="32384">
              <a:lnSpc>
                <a:spcPct val="70100"/>
              </a:lnSpc>
              <a:spcBef>
                <a:spcPts val="1040"/>
              </a:spcBef>
            </a:pPr>
            <a:r>
              <a:rPr sz="2600" spc="-70" dirty="0">
                <a:latin typeface="Times New Roman"/>
                <a:cs typeface="Times New Roman"/>
              </a:rPr>
              <a:t>You</a:t>
            </a:r>
            <a:r>
              <a:rPr sz="2600" spc="-45" dirty="0">
                <a:latin typeface="Times New Roman"/>
                <a:cs typeface="Times New Roman"/>
              </a:rPr>
              <a:t> </a:t>
            </a:r>
            <a:r>
              <a:rPr sz="2600" dirty="0">
                <a:latin typeface="Times New Roman"/>
                <a:cs typeface="Times New Roman"/>
              </a:rPr>
              <a:t>can</a:t>
            </a:r>
            <a:r>
              <a:rPr sz="2600" spc="-15" dirty="0">
                <a:latin typeface="Times New Roman"/>
                <a:cs typeface="Times New Roman"/>
              </a:rPr>
              <a:t> </a:t>
            </a:r>
            <a:r>
              <a:rPr sz="2600" dirty="0">
                <a:latin typeface="Times New Roman"/>
                <a:cs typeface="Times New Roman"/>
              </a:rPr>
              <a:t>take</a:t>
            </a:r>
            <a:r>
              <a:rPr sz="2600" spc="-25" dirty="0">
                <a:latin typeface="Times New Roman"/>
                <a:cs typeface="Times New Roman"/>
              </a:rPr>
              <a:t> </a:t>
            </a:r>
            <a:r>
              <a:rPr sz="2600" dirty="0">
                <a:latin typeface="Times New Roman"/>
                <a:cs typeface="Times New Roman"/>
              </a:rPr>
              <a:t>the</a:t>
            </a:r>
            <a:r>
              <a:rPr sz="2600" spc="-25" dirty="0">
                <a:latin typeface="Times New Roman"/>
                <a:cs typeface="Times New Roman"/>
              </a:rPr>
              <a:t> </a:t>
            </a:r>
            <a:r>
              <a:rPr sz="2600" dirty="0">
                <a:latin typeface="Times New Roman"/>
                <a:cs typeface="Times New Roman"/>
              </a:rPr>
              <a:t>following</a:t>
            </a:r>
            <a:r>
              <a:rPr sz="2600" spc="-30" dirty="0">
                <a:latin typeface="Times New Roman"/>
                <a:cs typeface="Times New Roman"/>
              </a:rPr>
              <a:t> </a:t>
            </a:r>
            <a:r>
              <a:rPr sz="2600" dirty="0">
                <a:latin typeface="Times New Roman"/>
                <a:cs typeface="Times New Roman"/>
              </a:rPr>
              <a:t>steps</a:t>
            </a:r>
            <a:r>
              <a:rPr sz="2600" spc="-25" dirty="0">
                <a:latin typeface="Times New Roman"/>
                <a:cs typeface="Times New Roman"/>
              </a:rPr>
              <a:t> </a:t>
            </a:r>
            <a:r>
              <a:rPr sz="2600" dirty="0">
                <a:latin typeface="Times New Roman"/>
                <a:cs typeface="Times New Roman"/>
              </a:rPr>
              <a:t>to</a:t>
            </a:r>
            <a:r>
              <a:rPr sz="2600" spc="-10" dirty="0">
                <a:latin typeface="Times New Roman"/>
                <a:cs typeface="Times New Roman"/>
              </a:rPr>
              <a:t> </a:t>
            </a:r>
            <a:r>
              <a:rPr sz="2600" dirty="0">
                <a:latin typeface="Times New Roman"/>
                <a:cs typeface="Times New Roman"/>
              </a:rPr>
              <a:t>avert</a:t>
            </a:r>
            <a:r>
              <a:rPr sz="2600" spc="-25" dirty="0">
                <a:latin typeface="Times New Roman"/>
                <a:cs typeface="Times New Roman"/>
              </a:rPr>
              <a:t> </a:t>
            </a:r>
            <a:r>
              <a:rPr sz="2600" dirty="0">
                <a:latin typeface="Times New Roman"/>
                <a:cs typeface="Times New Roman"/>
              </a:rPr>
              <a:t>from</a:t>
            </a:r>
            <a:r>
              <a:rPr sz="2600" spc="-20" dirty="0">
                <a:latin typeface="Times New Roman"/>
                <a:cs typeface="Times New Roman"/>
              </a:rPr>
              <a:t> </a:t>
            </a:r>
            <a:r>
              <a:rPr sz="2600" dirty="0">
                <a:latin typeface="Times New Roman"/>
                <a:cs typeface="Times New Roman"/>
              </a:rPr>
              <a:t>getting</a:t>
            </a:r>
            <a:r>
              <a:rPr sz="2600" spc="-25" dirty="0">
                <a:latin typeface="Times New Roman"/>
                <a:cs typeface="Times New Roman"/>
              </a:rPr>
              <a:t> </a:t>
            </a:r>
            <a:r>
              <a:rPr sz="2600" dirty="0">
                <a:latin typeface="Times New Roman"/>
                <a:cs typeface="Times New Roman"/>
              </a:rPr>
              <a:t>rootkits</a:t>
            </a:r>
            <a:r>
              <a:rPr sz="2600" spc="-20" dirty="0">
                <a:latin typeface="Times New Roman"/>
                <a:cs typeface="Times New Roman"/>
              </a:rPr>
              <a:t> </a:t>
            </a:r>
            <a:r>
              <a:rPr sz="2600" dirty="0">
                <a:latin typeface="Times New Roman"/>
                <a:cs typeface="Times New Roman"/>
              </a:rPr>
              <a:t>control</a:t>
            </a:r>
            <a:r>
              <a:rPr sz="2600" spc="-45" dirty="0">
                <a:latin typeface="Times New Roman"/>
                <a:cs typeface="Times New Roman"/>
              </a:rPr>
              <a:t> </a:t>
            </a:r>
            <a:r>
              <a:rPr sz="2600" dirty="0">
                <a:latin typeface="Times New Roman"/>
                <a:cs typeface="Times New Roman"/>
              </a:rPr>
              <a:t>of</a:t>
            </a:r>
            <a:r>
              <a:rPr sz="2600" spc="-10" dirty="0">
                <a:latin typeface="Times New Roman"/>
                <a:cs typeface="Times New Roman"/>
              </a:rPr>
              <a:t> </a:t>
            </a:r>
            <a:r>
              <a:rPr sz="2600" spc="-20" dirty="0">
                <a:latin typeface="Times New Roman"/>
                <a:cs typeface="Times New Roman"/>
              </a:rPr>
              <a:t>your </a:t>
            </a:r>
            <a:r>
              <a:rPr sz="2600" spc="-10" dirty="0">
                <a:latin typeface="Times New Roman"/>
                <a:cs typeface="Times New Roman"/>
              </a:rPr>
              <a:t>computer:</a:t>
            </a:r>
            <a:endParaRPr sz="2600">
              <a:latin typeface="Times New Roman"/>
              <a:cs typeface="Times New Roman"/>
            </a:endParaRPr>
          </a:p>
          <a:p>
            <a:pPr marL="241300" indent="-228600">
              <a:lnSpc>
                <a:spcPct val="100000"/>
              </a:lnSpc>
              <a:spcBef>
                <a:spcPts val="60"/>
              </a:spcBef>
              <a:buFont typeface="Arial MT"/>
              <a:buChar char="•"/>
              <a:tabLst>
                <a:tab pos="241300" algn="l"/>
              </a:tabLst>
            </a:pPr>
            <a:r>
              <a:rPr sz="2600" dirty="0">
                <a:latin typeface="Times New Roman"/>
                <a:cs typeface="Times New Roman"/>
              </a:rPr>
              <a:t>Always</a:t>
            </a:r>
            <a:r>
              <a:rPr sz="2600" spc="-35" dirty="0">
                <a:latin typeface="Times New Roman"/>
                <a:cs typeface="Times New Roman"/>
              </a:rPr>
              <a:t> </a:t>
            </a:r>
            <a:r>
              <a:rPr sz="2600" dirty="0">
                <a:latin typeface="Times New Roman"/>
                <a:cs typeface="Times New Roman"/>
              </a:rPr>
              <a:t>visit</a:t>
            </a:r>
            <a:r>
              <a:rPr sz="2600" spc="-25" dirty="0">
                <a:latin typeface="Times New Roman"/>
                <a:cs typeface="Times New Roman"/>
              </a:rPr>
              <a:t> </a:t>
            </a:r>
            <a:r>
              <a:rPr sz="2600" dirty="0">
                <a:latin typeface="Times New Roman"/>
                <a:cs typeface="Times New Roman"/>
              </a:rPr>
              <a:t>the</a:t>
            </a:r>
            <a:r>
              <a:rPr sz="2600" spc="-20" dirty="0">
                <a:latin typeface="Times New Roman"/>
                <a:cs typeface="Times New Roman"/>
              </a:rPr>
              <a:t> </a:t>
            </a:r>
            <a:r>
              <a:rPr sz="2600" dirty="0">
                <a:latin typeface="Times New Roman"/>
                <a:cs typeface="Times New Roman"/>
              </a:rPr>
              <a:t>legitimate</a:t>
            </a:r>
            <a:r>
              <a:rPr sz="2600" spc="-20" dirty="0">
                <a:latin typeface="Times New Roman"/>
                <a:cs typeface="Times New Roman"/>
              </a:rPr>
              <a:t> </a:t>
            </a:r>
            <a:r>
              <a:rPr sz="2600" dirty="0">
                <a:latin typeface="Times New Roman"/>
                <a:cs typeface="Times New Roman"/>
              </a:rPr>
              <a:t>and</a:t>
            </a:r>
            <a:r>
              <a:rPr sz="2600" spc="-25" dirty="0">
                <a:latin typeface="Times New Roman"/>
                <a:cs typeface="Times New Roman"/>
              </a:rPr>
              <a:t> </a:t>
            </a:r>
            <a:r>
              <a:rPr sz="2600" dirty="0">
                <a:latin typeface="Times New Roman"/>
                <a:cs typeface="Times New Roman"/>
              </a:rPr>
              <a:t>secure</a:t>
            </a:r>
            <a:r>
              <a:rPr sz="2600" spc="-40" dirty="0">
                <a:latin typeface="Times New Roman"/>
                <a:cs typeface="Times New Roman"/>
              </a:rPr>
              <a:t> </a:t>
            </a:r>
            <a:r>
              <a:rPr sz="2600" spc="-10" dirty="0">
                <a:latin typeface="Times New Roman"/>
                <a:cs typeface="Times New Roman"/>
              </a:rPr>
              <a:t>websites.</a:t>
            </a:r>
            <a:endParaRPr sz="2600">
              <a:latin typeface="Times New Roman"/>
              <a:cs typeface="Times New Roman"/>
            </a:endParaRPr>
          </a:p>
          <a:p>
            <a:pPr marL="241300" indent="-228600">
              <a:lnSpc>
                <a:spcPct val="100000"/>
              </a:lnSpc>
              <a:spcBef>
                <a:spcPts val="60"/>
              </a:spcBef>
              <a:buFont typeface="Arial MT"/>
              <a:buChar char="•"/>
              <a:tabLst>
                <a:tab pos="241300" algn="l"/>
              </a:tabLst>
            </a:pPr>
            <a:r>
              <a:rPr sz="2600" dirty="0">
                <a:latin typeface="Times New Roman"/>
                <a:cs typeface="Times New Roman"/>
              </a:rPr>
              <a:t>Do</a:t>
            </a:r>
            <a:r>
              <a:rPr sz="2600" spc="-20" dirty="0">
                <a:latin typeface="Times New Roman"/>
                <a:cs typeface="Times New Roman"/>
              </a:rPr>
              <a:t> </a:t>
            </a:r>
            <a:r>
              <a:rPr sz="2600" dirty="0">
                <a:latin typeface="Times New Roman"/>
                <a:cs typeface="Times New Roman"/>
              </a:rPr>
              <a:t>not</a:t>
            </a:r>
            <a:r>
              <a:rPr sz="2600" spc="-25" dirty="0">
                <a:latin typeface="Times New Roman"/>
                <a:cs typeface="Times New Roman"/>
              </a:rPr>
              <a:t> </a:t>
            </a:r>
            <a:r>
              <a:rPr sz="2600" dirty="0">
                <a:latin typeface="Times New Roman"/>
                <a:cs typeface="Times New Roman"/>
              </a:rPr>
              <a:t>download</a:t>
            </a:r>
            <a:r>
              <a:rPr sz="2600" spc="-60" dirty="0">
                <a:latin typeface="Times New Roman"/>
                <a:cs typeface="Times New Roman"/>
              </a:rPr>
              <a:t> </a:t>
            </a:r>
            <a:r>
              <a:rPr sz="2600" dirty="0">
                <a:latin typeface="Times New Roman"/>
                <a:cs typeface="Times New Roman"/>
              </a:rPr>
              <a:t>free</a:t>
            </a:r>
            <a:r>
              <a:rPr sz="2600" spc="-10" dirty="0">
                <a:latin typeface="Times New Roman"/>
                <a:cs typeface="Times New Roman"/>
              </a:rPr>
              <a:t> </a:t>
            </a:r>
            <a:r>
              <a:rPr sz="2600" dirty="0">
                <a:latin typeface="Times New Roman"/>
                <a:cs typeface="Times New Roman"/>
              </a:rPr>
              <a:t>and</a:t>
            </a:r>
            <a:r>
              <a:rPr sz="2600" spc="-15" dirty="0">
                <a:latin typeface="Times New Roman"/>
                <a:cs typeface="Times New Roman"/>
              </a:rPr>
              <a:t> </a:t>
            </a:r>
            <a:r>
              <a:rPr sz="2600" dirty="0">
                <a:latin typeface="Times New Roman"/>
                <a:cs typeface="Times New Roman"/>
              </a:rPr>
              <a:t>compromised</a:t>
            </a:r>
            <a:r>
              <a:rPr sz="2600" spc="-25" dirty="0">
                <a:latin typeface="Times New Roman"/>
                <a:cs typeface="Times New Roman"/>
              </a:rPr>
              <a:t> </a:t>
            </a:r>
            <a:r>
              <a:rPr sz="2600" spc="-10" dirty="0">
                <a:latin typeface="Times New Roman"/>
                <a:cs typeface="Times New Roman"/>
              </a:rPr>
              <a:t>products.</a:t>
            </a:r>
            <a:endParaRPr sz="2600">
              <a:latin typeface="Times New Roman"/>
              <a:cs typeface="Times New Roman"/>
            </a:endParaRPr>
          </a:p>
          <a:p>
            <a:pPr marL="241300" indent="-228600">
              <a:lnSpc>
                <a:spcPct val="100000"/>
              </a:lnSpc>
              <a:spcBef>
                <a:spcPts val="70"/>
              </a:spcBef>
              <a:buFont typeface="Arial MT"/>
              <a:buChar char="•"/>
              <a:tabLst>
                <a:tab pos="241300" algn="l"/>
              </a:tabLst>
            </a:pPr>
            <a:r>
              <a:rPr sz="2600" dirty="0">
                <a:latin typeface="Times New Roman"/>
                <a:cs typeface="Times New Roman"/>
              </a:rPr>
              <a:t>Open</a:t>
            </a:r>
            <a:r>
              <a:rPr sz="2600" spc="-35" dirty="0">
                <a:latin typeface="Times New Roman"/>
                <a:cs typeface="Times New Roman"/>
              </a:rPr>
              <a:t> </a:t>
            </a:r>
            <a:r>
              <a:rPr sz="2600" dirty="0">
                <a:latin typeface="Times New Roman"/>
                <a:cs typeface="Times New Roman"/>
              </a:rPr>
              <a:t>emails</a:t>
            </a:r>
            <a:r>
              <a:rPr sz="2600" spc="-10" dirty="0">
                <a:latin typeface="Times New Roman"/>
                <a:cs typeface="Times New Roman"/>
              </a:rPr>
              <a:t> </a:t>
            </a:r>
            <a:r>
              <a:rPr sz="2600" dirty="0">
                <a:latin typeface="Times New Roman"/>
                <a:cs typeface="Times New Roman"/>
              </a:rPr>
              <a:t>and</a:t>
            </a:r>
            <a:r>
              <a:rPr sz="2600" spc="-40" dirty="0">
                <a:latin typeface="Times New Roman"/>
                <a:cs typeface="Times New Roman"/>
              </a:rPr>
              <a:t> </a:t>
            </a:r>
            <a:r>
              <a:rPr sz="2600" dirty="0">
                <a:latin typeface="Times New Roman"/>
                <a:cs typeface="Times New Roman"/>
              </a:rPr>
              <a:t>their</a:t>
            </a:r>
            <a:r>
              <a:rPr sz="2600" spc="-15" dirty="0">
                <a:latin typeface="Times New Roman"/>
                <a:cs typeface="Times New Roman"/>
              </a:rPr>
              <a:t> </a:t>
            </a:r>
            <a:r>
              <a:rPr sz="2600" dirty="0">
                <a:latin typeface="Times New Roman"/>
                <a:cs typeface="Times New Roman"/>
              </a:rPr>
              <a:t>attachments</a:t>
            </a:r>
            <a:r>
              <a:rPr sz="2600" spc="-15" dirty="0">
                <a:latin typeface="Times New Roman"/>
                <a:cs typeface="Times New Roman"/>
              </a:rPr>
              <a:t> </a:t>
            </a:r>
            <a:r>
              <a:rPr sz="2600" dirty="0">
                <a:latin typeface="Times New Roman"/>
                <a:cs typeface="Times New Roman"/>
              </a:rPr>
              <a:t>from</a:t>
            </a:r>
            <a:r>
              <a:rPr sz="2600" spc="-30" dirty="0">
                <a:latin typeface="Times New Roman"/>
                <a:cs typeface="Times New Roman"/>
              </a:rPr>
              <a:t> </a:t>
            </a:r>
            <a:r>
              <a:rPr sz="2600" dirty="0">
                <a:latin typeface="Times New Roman"/>
                <a:cs typeface="Times New Roman"/>
              </a:rPr>
              <a:t>known</a:t>
            </a:r>
            <a:r>
              <a:rPr sz="2600" spc="-50" dirty="0">
                <a:latin typeface="Times New Roman"/>
                <a:cs typeface="Times New Roman"/>
              </a:rPr>
              <a:t> </a:t>
            </a:r>
            <a:r>
              <a:rPr sz="2600" dirty="0">
                <a:latin typeface="Times New Roman"/>
                <a:cs typeface="Times New Roman"/>
              </a:rPr>
              <a:t>people</a:t>
            </a:r>
            <a:r>
              <a:rPr sz="2600" spc="-50" dirty="0">
                <a:latin typeface="Times New Roman"/>
                <a:cs typeface="Times New Roman"/>
              </a:rPr>
              <a:t> </a:t>
            </a:r>
            <a:r>
              <a:rPr sz="2600" spc="-10" dirty="0">
                <a:latin typeface="Times New Roman"/>
                <a:cs typeface="Times New Roman"/>
              </a:rPr>
              <a:t>only.</a:t>
            </a:r>
            <a:endParaRPr sz="2600">
              <a:latin typeface="Times New Roman"/>
              <a:cs typeface="Times New Roman"/>
            </a:endParaRPr>
          </a:p>
          <a:p>
            <a:pPr marL="241300" indent="-228600">
              <a:lnSpc>
                <a:spcPct val="100000"/>
              </a:lnSpc>
              <a:spcBef>
                <a:spcPts val="60"/>
              </a:spcBef>
              <a:buFont typeface="Arial MT"/>
              <a:buChar char="•"/>
              <a:tabLst>
                <a:tab pos="241300" algn="l"/>
              </a:tabLst>
            </a:pPr>
            <a:r>
              <a:rPr sz="2600" dirty="0">
                <a:latin typeface="Times New Roman"/>
                <a:cs typeface="Times New Roman"/>
              </a:rPr>
              <a:t>Never</a:t>
            </a:r>
            <a:r>
              <a:rPr sz="2600" spc="-40" dirty="0">
                <a:latin typeface="Times New Roman"/>
                <a:cs typeface="Times New Roman"/>
              </a:rPr>
              <a:t> </a:t>
            </a:r>
            <a:r>
              <a:rPr sz="2600" dirty="0">
                <a:latin typeface="Times New Roman"/>
                <a:cs typeface="Times New Roman"/>
              </a:rPr>
              <a:t>open</a:t>
            </a:r>
            <a:r>
              <a:rPr sz="2600" spc="-35" dirty="0">
                <a:latin typeface="Times New Roman"/>
                <a:cs typeface="Times New Roman"/>
              </a:rPr>
              <a:t> </a:t>
            </a:r>
            <a:r>
              <a:rPr sz="2600" dirty="0">
                <a:latin typeface="Times New Roman"/>
                <a:cs typeface="Times New Roman"/>
              </a:rPr>
              <a:t>attachments</a:t>
            </a:r>
            <a:r>
              <a:rPr sz="2600" spc="-10" dirty="0">
                <a:latin typeface="Times New Roman"/>
                <a:cs typeface="Times New Roman"/>
              </a:rPr>
              <a:t> </a:t>
            </a:r>
            <a:r>
              <a:rPr sz="2600" dirty="0">
                <a:latin typeface="Times New Roman"/>
                <a:cs typeface="Times New Roman"/>
              </a:rPr>
              <a:t>in</a:t>
            </a:r>
            <a:r>
              <a:rPr sz="2600" spc="-10" dirty="0">
                <a:latin typeface="Times New Roman"/>
                <a:cs typeface="Times New Roman"/>
              </a:rPr>
              <a:t> </a:t>
            </a:r>
            <a:r>
              <a:rPr sz="2600" dirty="0">
                <a:latin typeface="Times New Roman"/>
                <a:cs typeface="Times New Roman"/>
              </a:rPr>
              <a:t>SMS</a:t>
            </a:r>
            <a:r>
              <a:rPr sz="2600" spc="-20" dirty="0">
                <a:latin typeface="Times New Roman"/>
                <a:cs typeface="Times New Roman"/>
              </a:rPr>
              <a:t> </a:t>
            </a:r>
            <a:r>
              <a:rPr sz="2600" dirty="0">
                <a:latin typeface="Times New Roman"/>
                <a:cs typeface="Times New Roman"/>
              </a:rPr>
              <a:t>and</a:t>
            </a:r>
            <a:r>
              <a:rPr sz="2600" spc="-20" dirty="0">
                <a:latin typeface="Times New Roman"/>
                <a:cs typeface="Times New Roman"/>
              </a:rPr>
              <a:t> </a:t>
            </a:r>
            <a:r>
              <a:rPr sz="2600" dirty="0">
                <a:latin typeface="Times New Roman"/>
                <a:cs typeface="Times New Roman"/>
              </a:rPr>
              <a:t>other</a:t>
            </a:r>
            <a:r>
              <a:rPr sz="2600" spc="-35" dirty="0">
                <a:latin typeface="Times New Roman"/>
                <a:cs typeface="Times New Roman"/>
              </a:rPr>
              <a:t> </a:t>
            </a:r>
            <a:r>
              <a:rPr sz="2600" spc="-10" dirty="0">
                <a:latin typeface="Times New Roman"/>
                <a:cs typeface="Times New Roman"/>
              </a:rPr>
              <a:t>messages.</a:t>
            </a:r>
            <a:endParaRPr sz="2600">
              <a:latin typeface="Times New Roman"/>
              <a:cs typeface="Times New Roman"/>
            </a:endParaRPr>
          </a:p>
          <a:p>
            <a:pPr marL="241300" indent="-228600">
              <a:lnSpc>
                <a:spcPct val="100000"/>
              </a:lnSpc>
              <a:spcBef>
                <a:spcPts val="60"/>
              </a:spcBef>
              <a:buFont typeface="Arial MT"/>
              <a:buChar char="•"/>
              <a:tabLst>
                <a:tab pos="241300" algn="l"/>
              </a:tabLst>
            </a:pPr>
            <a:r>
              <a:rPr sz="2600" dirty="0">
                <a:latin typeface="Times New Roman"/>
                <a:cs typeface="Times New Roman"/>
              </a:rPr>
              <a:t>Activate</a:t>
            </a:r>
            <a:r>
              <a:rPr sz="2600" spc="-30" dirty="0">
                <a:latin typeface="Times New Roman"/>
                <a:cs typeface="Times New Roman"/>
              </a:rPr>
              <a:t> </a:t>
            </a:r>
            <a:r>
              <a:rPr sz="2600" dirty="0">
                <a:latin typeface="Times New Roman"/>
                <a:cs typeface="Times New Roman"/>
              </a:rPr>
              <a:t>firewall</a:t>
            </a:r>
            <a:r>
              <a:rPr sz="2600" spc="-5" dirty="0">
                <a:latin typeface="Times New Roman"/>
                <a:cs typeface="Times New Roman"/>
              </a:rPr>
              <a:t> </a:t>
            </a:r>
            <a:r>
              <a:rPr sz="2600" dirty="0">
                <a:latin typeface="Times New Roman"/>
                <a:cs typeface="Times New Roman"/>
              </a:rPr>
              <a:t>on</a:t>
            </a:r>
            <a:r>
              <a:rPr sz="2600" spc="-30" dirty="0">
                <a:latin typeface="Times New Roman"/>
                <a:cs typeface="Times New Roman"/>
              </a:rPr>
              <a:t> </a:t>
            </a:r>
            <a:r>
              <a:rPr sz="2600" dirty="0">
                <a:latin typeface="Times New Roman"/>
                <a:cs typeface="Times New Roman"/>
              </a:rPr>
              <a:t>your</a:t>
            </a:r>
            <a:r>
              <a:rPr sz="2600" spc="-30" dirty="0">
                <a:latin typeface="Times New Roman"/>
                <a:cs typeface="Times New Roman"/>
              </a:rPr>
              <a:t> </a:t>
            </a:r>
            <a:r>
              <a:rPr sz="2600" spc="-10" dirty="0">
                <a:latin typeface="Times New Roman"/>
                <a:cs typeface="Times New Roman"/>
              </a:rPr>
              <a:t>system.</a:t>
            </a:r>
            <a:endParaRPr sz="2600">
              <a:latin typeface="Times New Roman"/>
              <a:cs typeface="Times New Roman"/>
            </a:endParaRPr>
          </a:p>
          <a:p>
            <a:pPr marL="241300" indent="-228600">
              <a:lnSpc>
                <a:spcPct val="100000"/>
              </a:lnSpc>
              <a:spcBef>
                <a:spcPts val="75"/>
              </a:spcBef>
              <a:buFont typeface="Arial MT"/>
              <a:buChar char="•"/>
              <a:tabLst>
                <a:tab pos="241300" algn="l"/>
              </a:tabLst>
            </a:pPr>
            <a:r>
              <a:rPr sz="2600" dirty="0">
                <a:latin typeface="Times New Roman"/>
                <a:cs typeface="Times New Roman"/>
              </a:rPr>
              <a:t>Activate</a:t>
            </a:r>
            <a:r>
              <a:rPr sz="2600" spc="-40" dirty="0">
                <a:latin typeface="Times New Roman"/>
                <a:cs typeface="Times New Roman"/>
              </a:rPr>
              <a:t> </a:t>
            </a:r>
            <a:r>
              <a:rPr sz="2600" u="sng" dirty="0">
                <a:uFill>
                  <a:solidFill>
                    <a:srgbClr val="000000"/>
                  </a:solidFill>
                </a:uFill>
                <a:latin typeface="Times New Roman"/>
                <a:cs typeface="Times New Roman"/>
              </a:rPr>
              <a:t>intrusion prevention</a:t>
            </a:r>
            <a:r>
              <a:rPr sz="2600" u="sng" spc="-40" dirty="0">
                <a:uFill>
                  <a:solidFill>
                    <a:srgbClr val="000000"/>
                  </a:solidFill>
                </a:uFill>
                <a:latin typeface="Times New Roman"/>
                <a:cs typeface="Times New Roman"/>
              </a:rPr>
              <a:t> </a:t>
            </a:r>
            <a:r>
              <a:rPr sz="2600" u="sng" dirty="0">
                <a:uFill>
                  <a:solidFill>
                    <a:srgbClr val="000000"/>
                  </a:solidFill>
                </a:uFill>
                <a:latin typeface="Times New Roman"/>
                <a:cs typeface="Times New Roman"/>
              </a:rPr>
              <a:t>system</a:t>
            </a:r>
            <a:r>
              <a:rPr sz="2600" u="sng" spc="-15" dirty="0">
                <a:uFill>
                  <a:solidFill>
                    <a:srgbClr val="000000"/>
                  </a:solidFill>
                </a:uFill>
                <a:latin typeface="Times New Roman"/>
                <a:cs typeface="Times New Roman"/>
              </a:rPr>
              <a:t> </a:t>
            </a:r>
            <a:r>
              <a:rPr sz="2600" u="sng" spc="-10" dirty="0">
                <a:uFill>
                  <a:solidFill>
                    <a:srgbClr val="000000"/>
                  </a:solidFill>
                </a:uFill>
                <a:latin typeface="Times New Roman"/>
                <a:cs typeface="Times New Roman"/>
              </a:rPr>
              <a:t>(IPS)</a:t>
            </a:r>
            <a:r>
              <a:rPr sz="2600" spc="-10" dirty="0">
                <a:latin typeface="Times New Roman"/>
                <a:cs typeface="Times New Roman"/>
              </a:rPr>
              <a:t>.</a:t>
            </a:r>
            <a:endParaRPr sz="2600">
              <a:latin typeface="Times New Roman"/>
              <a:cs typeface="Times New Roman"/>
            </a:endParaRPr>
          </a:p>
          <a:p>
            <a:pPr marL="241300" indent="-228600">
              <a:lnSpc>
                <a:spcPct val="100000"/>
              </a:lnSpc>
              <a:spcBef>
                <a:spcPts val="60"/>
              </a:spcBef>
              <a:buFont typeface="Arial MT"/>
              <a:buChar char="•"/>
              <a:tabLst>
                <a:tab pos="241300" algn="l"/>
              </a:tabLst>
            </a:pPr>
            <a:r>
              <a:rPr sz="2600" u="sng" dirty="0">
                <a:uFill>
                  <a:solidFill>
                    <a:srgbClr val="000000"/>
                  </a:solidFill>
                </a:uFill>
                <a:latin typeface="Times New Roman"/>
                <a:cs typeface="Times New Roman"/>
              </a:rPr>
              <a:t>Activate</a:t>
            </a:r>
            <a:r>
              <a:rPr sz="2600" u="sng" spc="-40" dirty="0">
                <a:uFill>
                  <a:solidFill>
                    <a:srgbClr val="000000"/>
                  </a:solidFill>
                </a:uFill>
                <a:latin typeface="Times New Roman"/>
                <a:cs typeface="Times New Roman"/>
              </a:rPr>
              <a:t> </a:t>
            </a:r>
            <a:r>
              <a:rPr sz="2600" u="sng" dirty="0">
                <a:uFill>
                  <a:solidFill>
                    <a:srgbClr val="000000"/>
                  </a:solidFill>
                </a:uFill>
                <a:latin typeface="Times New Roman"/>
                <a:cs typeface="Times New Roman"/>
              </a:rPr>
              <a:t>access</a:t>
            </a:r>
            <a:r>
              <a:rPr sz="2600" u="sng" spc="-20" dirty="0">
                <a:uFill>
                  <a:solidFill>
                    <a:srgbClr val="000000"/>
                  </a:solidFill>
                </a:uFill>
                <a:latin typeface="Times New Roman"/>
                <a:cs typeface="Times New Roman"/>
              </a:rPr>
              <a:t> </a:t>
            </a:r>
            <a:r>
              <a:rPr sz="2600" u="sng" dirty="0">
                <a:uFill>
                  <a:solidFill>
                    <a:srgbClr val="000000"/>
                  </a:solidFill>
                </a:uFill>
                <a:latin typeface="Times New Roman"/>
                <a:cs typeface="Times New Roman"/>
              </a:rPr>
              <a:t>control</a:t>
            </a:r>
            <a:r>
              <a:rPr sz="2600" u="sng" spc="-45" dirty="0">
                <a:uFill>
                  <a:solidFill>
                    <a:srgbClr val="000000"/>
                  </a:solidFill>
                </a:uFill>
                <a:latin typeface="Times New Roman"/>
                <a:cs typeface="Times New Roman"/>
              </a:rPr>
              <a:t> </a:t>
            </a:r>
            <a:r>
              <a:rPr sz="2600" u="sng" dirty="0">
                <a:uFill>
                  <a:solidFill>
                    <a:srgbClr val="000000"/>
                  </a:solidFill>
                </a:uFill>
                <a:latin typeface="Times New Roman"/>
                <a:cs typeface="Times New Roman"/>
              </a:rPr>
              <a:t>lists</a:t>
            </a:r>
            <a:r>
              <a:rPr sz="2600" u="sng" spc="15" dirty="0">
                <a:uFill>
                  <a:solidFill>
                    <a:srgbClr val="000000"/>
                  </a:solidFill>
                </a:uFill>
                <a:latin typeface="Times New Roman"/>
                <a:cs typeface="Times New Roman"/>
              </a:rPr>
              <a:t> </a:t>
            </a:r>
            <a:r>
              <a:rPr sz="2600" u="sng" dirty="0">
                <a:uFill>
                  <a:solidFill>
                    <a:srgbClr val="000000"/>
                  </a:solidFill>
                </a:uFill>
                <a:latin typeface="Times New Roman"/>
                <a:cs typeface="Times New Roman"/>
              </a:rPr>
              <a:t>(ACLs)</a:t>
            </a:r>
            <a:r>
              <a:rPr sz="2600" spc="-35" dirty="0">
                <a:latin typeface="Times New Roman"/>
                <a:cs typeface="Times New Roman"/>
              </a:rPr>
              <a:t> </a:t>
            </a:r>
            <a:r>
              <a:rPr sz="2600" dirty="0">
                <a:latin typeface="Times New Roman"/>
                <a:cs typeface="Times New Roman"/>
              </a:rPr>
              <a:t>on</a:t>
            </a:r>
            <a:r>
              <a:rPr sz="2600" spc="-20" dirty="0">
                <a:latin typeface="Times New Roman"/>
                <a:cs typeface="Times New Roman"/>
              </a:rPr>
              <a:t> </a:t>
            </a:r>
            <a:r>
              <a:rPr sz="2600" dirty="0">
                <a:latin typeface="Times New Roman"/>
                <a:cs typeface="Times New Roman"/>
              </a:rPr>
              <a:t>the</a:t>
            </a:r>
            <a:r>
              <a:rPr sz="2600" spc="-25" dirty="0">
                <a:latin typeface="Times New Roman"/>
                <a:cs typeface="Times New Roman"/>
              </a:rPr>
              <a:t> </a:t>
            </a:r>
            <a:r>
              <a:rPr sz="2600" dirty="0">
                <a:latin typeface="Times New Roman"/>
                <a:cs typeface="Times New Roman"/>
              </a:rPr>
              <a:t>system</a:t>
            </a:r>
            <a:r>
              <a:rPr sz="2600" spc="-25" dirty="0">
                <a:latin typeface="Times New Roman"/>
                <a:cs typeface="Times New Roman"/>
              </a:rPr>
              <a:t> </a:t>
            </a:r>
            <a:r>
              <a:rPr sz="2600" dirty="0">
                <a:latin typeface="Times New Roman"/>
                <a:cs typeface="Times New Roman"/>
              </a:rPr>
              <a:t>and</a:t>
            </a:r>
            <a:r>
              <a:rPr sz="2600" spc="-25" dirty="0">
                <a:latin typeface="Times New Roman"/>
                <a:cs typeface="Times New Roman"/>
              </a:rPr>
              <a:t> </a:t>
            </a:r>
            <a:r>
              <a:rPr sz="2600" spc="-10" dirty="0">
                <a:latin typeface="Times New Roman"/>
                <a:cs typeface="Times New Roman"/>
              </a:rPr>
              <a:t>network.</a:t>
            </a:r>
            <a:endParaRPr sz="2600">
              <a:latin typeface="Times New Roman"/>
              <a:cs typeface="Times New Roman"/>
            </a:endParaRPr>
          </a:p>
          <a:p>
            <a:pPr marL="241300" indent="-228600">
              <a:lnSpc>
                <a:spcPct val="100000"/>
              </a:lnSpc>
              <a:spcBef>
                <a:spcPts val="60"/>
              </a:spcBef>
              <a:buFont typeface="Arial MT"/>
              <a:buChar char="•"/>
              <a:tabLst>
                <a:tab pos="241300" algn="l"/>
              </a:tabLst>
            </a:pPr>
            <a:r>
              <a:rPr sz="2600" dirty="0">
                <a:latin typeface="Times New Roman"/>
                <a:cs typeface="Times New Roman"/>
              </a:rPr>
              <a:t>Scan</a:t>
            </a:r>
            <a:r>
              <a:rPr sz="2600" spc="-30" dirty="0">
                <a:latin typeface="Times New Roman"/>
                <a:cs typeface="Times New Roman"/>
              </a:rPr>
              <a:t> </a:t>
            </a:r>
            <a:r>
              <a:rPr sz="2600" dirty="0">
                <a:latin typeface="Times New Roman"/>
                <a:cs typeface="Times New Roman"/>
              </a:rPr>
              <a:t>and</a:t>
            </a:r>
            <a:r>
              <a:rPr sz="2600" spc="-15" dirty="0">
                <a:latin typeface="Times New Roman"/>
                <a:cs typeface="Times New Roman"/>
              </a:rPr>
              <a:t> </a:t>
            </a:r>
            <a:r>
              <a:rPr sz="2600" dirty="0">
                <a:latin typeface="Times New Roman"/>
                <a:cs typeface="Times New Roman"/>
              </a:rPr>
              <a:t>clean</a:t>
            </a:r>
            <a:r>
              <a:rPr sz="2600" spc="-15" dirty="0">
                <a:latin typeface="Times New Roman"/>
                <a:cs typeface="Times New Roman"/>
              </a:rPr>
              <a:t> </a:t>
            </a:r>
            <a:r>
              <a:rPr sz="2600" dirty="0">
                <a:latin typeface="Times New Roman"/>
                <a:cs typeface="Times New Roman"/>
              </a:rPr>
              <a:t>flash or</a:t>
            </a:r>
            <a:r>
              <a:rPr sz="2600" spc="-20" dirty="0">
                <a:latin typeface="Times New Roman"/>
                <a:cs typeface="Times New Roman"/>
              </a:rPr>
              <a:t> </a:t>
            </a:r>
            <a:r>
              <a:rPr sz="2600" dirty="0">
                <a:latin typeface="Times New Roman"/>
                <a:cs typeface="Times New Roman"/>
              </a:rPr>
              <a:t>other</a:t>
            </a:r>
            <a:r>
              <a:rPr sz="2600" spc="-30" dirty="0">
                <a:latin typeface="Times New Roman"/>
                <a:cs typeface="Times New Roman"/>
              </a:rPr>
              <a:t> </a:t>
            </a:r>
            <a:r>
              <a:rPr sz="2600" dirty="0">
                <a:latin typeface="Times New Roman"/>
                <a:cs typeface="Times New Roman"/>
              </a:rPr>
              <a:t>data</a:t>
            </a:r>
            <a:r>
              <a:rPr sz="2600" spc="-10" dirty="0">
                <a:latin typeface="Times New Roman"/>
                <a:cs typeface="Times New Roman"/>
              </a:rPr>
              <a:t> </a:t>
            </a:r>
            <a:r>
              <a:rPr sz="2600" dirty="0">
                <a:latin typeface="Times New Roman"/>
                <a:cs typeface="Times New Roman"/>
              </a:rPr>
              <a:t>traveling</a:t>
            </a:r>
            <a:r>
              <a:rPr sz="2600" spc="-15" dirty="0">
                <a:latin typeface="Times New Roman"/>
                <a:cs typeface="Times New Roman"/>
              </a:rPr>
              <a:t> </a:t>
            </a:r>
            <a:r>
              <a:rPr sz="2600" dirty="0">
                <a:latin typeface="Times New Roman"/>
                <a:cs typeface="Times New Roman"/>
              </a:rPr>
              <a:t>devices</a:t>
            </a:r>
            <a:r>
              <a:rPr sz="2600" spc="-30" dirty="0">
                <a:latin typeface="Times New Roman"/>
                <a:cs typeface="Times New Roman"/>
              </a:rPr>
              <a:t> </a:t>
            </a:r>
            <a:r>
              <a:rPr sz="2600" dirty="0">
                <a:latin typeface="Times New Roman"/>
                <a:cs typeface="Times New Roman"/>
              </a:rPr>
              <a:t>before</a:t>
            </a:r>
            <a:r>
              <a:rPr sz="2600" spc="-30" dirty="0">
                <a:latin typeface="Times New Roman"/>
                <a:cs typeface="Times New Roman"/>
              </a:rPr>
              <a:t> </a:t>
            </a:r>
            <a:r>
              <a:rPr sz="2600" dirty="0">
                <a:latin typeface="Times New Roman"/>
                <a:cs typeface="Times New Roman"/>
              </a:rPr>
              <a:t>opening</a:t>
            </a:r>
            <a:r>
              <a:rPr sz="2600" spc="-40" dirty="0">
                <a:latin typeface="Times New Roman"/>
                <a:cs typeface="Times New Roman"/>
              </a:rPr>
              <a:t> </a:t>
            </a:r>
            <a:r>
              <a:rPr sz="2600" dirty="0">
                <a:latin typeface="Times New Roman"/>
                <a:cs typeface="Times New Roman"/>
              </a:rPr>
              <a:t>the </a:t>
            </a:r>
            <a:r>
              <a:rPr sz="2600" spc="-10" dirty="0">
                <a:latin typeface="Times New Roman"/>
                <a:cs typeface="Times New Roman"/>
              </a:rPr>
              <a:t>files.</a:t>
            </a:r>
            <a:endParaRPr sz="2600">
              <a:latin typeface="Times New Roman"/>
              <a:cs typeface="Times New Roman"/>
            </a:endParaRPr>
          </a:p>
          <a:p>
            <a:pPr marL="241300" marR="603885" indent="-229235">
              <a:lnSpc>
                <a:spcPct val="70000"/>
              </a:lnSpc>
              <a:spcBef>
                <a:spcPts val="1010"/>
              </a:spcBef>
              <a:buFont typeface="Arial MT"/>
              <a:buChar char="•"/>
              <a:tabLst>
                <a:tab pos="241300" algn="l"/>
              </a:tabLst>
            </a:pPr>
            <a:r>
              <a:rPr sz="2600" dirty="0">
                <a:latin typeface="Times New Roman"/>
                <a:cs typeface="Times New Roman"/>
              </a:rPr>
              <a:t>Use</a:t>
            </a:r>
            <a:r>
              <a:rPr sz="2600" spc="-25" dirty="0">
                <a:latin typeface="Times New Roman"/>
                <a:cs typeface="Times New Roman"/>
              </a:rPr>
              <a:t> </a:t>
            </a:r>
            <a:r>
              <a:rPr sz="2600" dirty="0">
                <a:latin typeface="Times New Roman"/>
                <a:cs typeface="Times New Roman"/>
              </a:rPr>
              <a:t>the</a:t>
            </a:r>
            <a:r>
              <a:rPr sz="2600" spc="-35" dirty="0">
                <a:latin typeface="Times New Roman"/>
                <a:cs typeface="Times New Roman"/>
              </a:rPr>
              <a:t> </a:t>
            </a:r>
            <a:r>
              <a:rPr sz="2600" dirty="0">
                <a:latin typeface="Times New Roman"/>
                <a:cs typeface="Times New Roman"/>
              </a:rPr>
              <a:t>latest</a:t>
            </a:r>
            <a:r>
              <a:rPr sz="2600" spc="-5" dirty="0">
                <a:latin typeface="Times New Roman"/>
                <a:cs typeface="Times New Roman"/>
              </a:rPr>
              <a:t> </a:t>
            </a:r>
            <a:r>
              <a:rPr sz="2600" spc="-10" dirty="0">
                <a:latin typeface="Times New Roman"/>
                <a:cs typeface="Times New Roman"/>
              </a:rPr>
              <a:t>anti-</a:t>
            </a:r>
            <a:r>
              <a:rPr sz="2600" dirty="0">
                <a:latin typeface="Times New Roman"/>
                <a:cs typeface="Times New Roman"/>
              </a:rPr>
              <a:t>rootkit</a:t>
            </a:r>
            <a:r>
              <a:rPr sz="2600" spc="-35" dirty="0">
                <a:latin typeface="Times New Roman"/>
                <a:cs typeface="Times New Roman"/>
              </a:rPr>
              <a:t> </a:t>
            </a:r>
            <a:r>
              <a:rPr sz="2600" dirty="0">
                <a:latin typeface="Times New Roman"/>
                <a:cs typeface="Times New Roman"/>
              </a:rPr>
              <a:t>tools</a:t>
            </a:r>
            <a:r>
              <a:rPr sz="2600" spc="-20" dirty="0">
                <a:latin typeface="Times New Roman"/>
                <a:cs typeface="Times New Roman"/>
              </a:rPr>
              <a:t> </a:t>
            </a:r>
            <a:r>
              <a:rPr sz="2600" dirty="0">
                <a:latin typeface="Times New Roman"/>
                <a:cs typeface="Times New Roman"/>
              </a:rPr>
              <a:t>with</a:t>
            </a:r>
            <a:r>
              <a:rPr sz="2600" spc="-10" dirty="0">
                <a:latin typeface="Times New Roman"/>
                <a:cs typeface="Times New Roman"/>
              </a:rPr>
              <a:t> </a:t>
            </a:r>
            <a:r>
              <a:rPr sz="2600" u="sng" dirty="0">
                <a:uFill>
                  <a:solidFill>
                    <a:srgbClr val="000000"/>
                  </a:solidFill>
                </a:uFill>
                <a:latin typeface="Times New Roman"/>
                <a:cs typeface="Times New Roman"/>
              </a:rPr>
              <a:t>Security</a:t>
            </a:r>
            <a:r>
              <a:rPr sz="2600" u="sng" spc="-75" dirty="0">
                <a:uFill>
                  <a:solidFill>
                    <a:srgbClr val="000000"/>
                  </a:solidFill>
                </a:uFill>
                <a:latin typeface="Times New Roman"/>
                <a:cs typeface="Times New Roman"/>
              </a:rPr>
              <a:t> </a:t>
            </a:r>
            <a:r>
              <a:rPr sz="2600" u="sng" spc="-10" dirty="0">
                <a:uFill>
                  <a:solidFill>
                    <a:srgbClr val="000000"/>
                  </a:solidFill>
                </a:uFill>
                <a:latin typeface="Times New Roman"/>
                <a:cs typeface="Times New Roman"/>
              </a:rPr>
              <a:t>Technology</a:t>
            </a:r>
            <a:r>
              <a:rPr sz="2600" u="sng" spc="-60" dirty="0">
                <a:uFill>
                  <a:solidFill>
                    <a:srgbClr val="000000"/>
                  </a:solidFill>
                </a:uFill>
                <a:latin typeface="Times New Roman"/>
                <a:cs typeface="Times New Roman"/>
              </a:rPr>
              <a:t> </a:t>
            </a:r>
            <a:r>
              <a:rPr sz="2600" u="sng" dirty="0">
                <a:uFill>
                  <a:solidFill>
                    <a:srgbClr val="000000"/>
                  </a:solidFill>
                </a:uFill>
                <a:latin typeface="Times New Roman"/>
                <a:cs typeface="Times New Roman"/>
              </a:rPr>
              <a:t>and</a:t>
            </a:r>
            <a:r>
              <a:rPr sz="2600" u="sng" spc="-20" dirty="0">
                <a:uFill>
                  <a:solidFill>
                    <a:srgbClr val="000000"/>
                  </a:solidFill>
                </a:uFill>
                <a:latin typeface="Times New Roman"/>
                <a:cs typeface="Times New Roman"/>
              </a:rPr>
              <a:t> </a:t>
            </a:r>
            <a:r>
              <a:rPr sz="2600" u="sng" spc="-10" dirty="0">
                <a:uFill>
                  <a:solidFill>
                    <a:srgbClr val="000000"/>
                  </a:solidFill>
                </a:uFill>
                <a:latin typeface="Times New Roman"/>
                <a:cs typeface="Times New Roman"/>
              </a:rPr>
              <a:t>Response</a:t>
            </a:r>
            <a:r>
              <a:rPr sz="2600" spc="-10" dirty="0">
                <a:latin typeface="Times New Roman"/>
                <a:cs typeface="Times New Roman"/>
              </a:rPr>
              <a:t> </a:t>
            </a:r>
            <a:r>
              <a:rPr sz="2600" u="sng" spc="-10" dirty="0">
                <a:uFill>
                  <a:solidFill>
                    <a:srgbClr val="000000"/>
                  </a:solidFill>
                </a:uFill>
                <a:latin typeface="Times New Roman"/>
                <a:cs typeface="Times New Roman"/>
              </a:rPr>
              <a:t>(STAR)</a:t>
            </a:r>
            <a:r>
              <a:rPr sz="2600" spc="-10" dirty="0">
                <a:latin typeface="Times New Roman"/>
                <a:cs typeface="Times New Roman"/>
              </a:rPr>
              <a:t>.</a:t>
            </a:r>
            <a:endParaRPr sz="2600">
              <a:latin typeface="Times New Roman"/>
              <a:cs typeface="Times New Roman"/>
            </a:endParaRPr>
          </a:p>
          <a:p>
            <a:pPr marL="241300" indent="-228600">
              <a:lnSpc>
                <a:spcPct val="100000"/>
              </a:lnSpc>
              <a:spcBef>
                <a:spcPts val="60"/>
              </a:spcBef>
              <a:buFont typeface="Arial MT"/>
              <a:buChar char="•"/>
              <a:tabLst>
                <a:tab pos="241300" algn="l"/>
              </a:tabLst>
            </a:pPr>
            <a:r>
              <a:rPr sz="2600" dirty="0">
                <a:latin typeface="Times New Roman"/>
                <a:cs typeface="Times New Roman"/>
              </a:rPr>
              <a:t>Keep</a:t>
            </a:r>
            <a:r>
              <a:rPr sz="2600" spc="-25" dirty="0">
                <a:latin typeface="Times New Roman"/>
                <a:cs typeface="Times New Roman"/>
              </a:rPr>
              <a:t> </a:t>
            </a:r>
            <a:r>
              <a:rPr sz="2600" dirty="0">
                <a:latin typeface="Times New Roman"/>
                <a:cs typeface="Times New Roman"/>
              </a:rPr>
              <a:t>your</a:t>
            </a:r>
            <a:r>
              <a:rPr sz="2600" spc="-25" dirty="0">
                <a:latin typeface="Times New Roman"/>
                <a:cs typeface="Times New Roman"/>
              </a:rPr>
              <a:t> </a:t>
            </a:r>
            <a:r>
              <a:rPr sz="2600" spc="-10" dirty="0">
                <a:latin typeface="Times New Roman"/>
                <a:cs typeface="Times New Roman"/>
              </a:rPr>
              <a:t>anti-</a:t>
            </a:r>
            <a:r>
              <a:rPr sz="2600" dirty="0">
                <a:latin typeface="Times New Roman"/>
                <a:cs typeface="Times New Roman"/>
              </a:rPr>
              <a:t>malware</a:t>
            </a:r>
            <a:r>
              <a:rPr sz="2600" spc="-10" dirty="0">
                <a:latin typeface="Times New Roman"/>
                <a:cs typeface="Times New Roman"/>
              </a:rPr>
              <a:t> </a:t>
            </a:r>
            <a:r>
              <a:rPr sz="2600" dirty="0">
                <a:latin typeface="Times New Roman"/>
                <a:cs typeface="Times New Roman"/>
              </a:rPr>
              <a:t>up</a:t>
            </a:r>
            <a:r>
              <a:rPr sz="2600" spc="-10" dirty="0">
                <a:latin typeface="Times New Roman"/>
                <a:cs typeface="Times New Roman"/>
              </a:rPr>
              <a:t> </a:t>
            </a:r>
            <a:r>
              <a:rPr sz="2600" dirty="0">
                <a:latin typeface="Times New Roman"/>
                <a:cs typeface="Times New Roman"/>
              </a:rPr>
              <a:t>to </a:t>
            </a:r>
            <a:r>
              <a:rPr sz="2600" spc="-10" dirty="0">
                <a:latin typeface="Times New Roman"/>
                <a:cs typeface="Times New Roman"/>
              </a:rPr>
              <a:t>date.</a:t>
            </a:r>
            <a:endParaRPr sz="2600">
              <a:latin typeface="Times New Roman"/>
              <a:cs typeface="Times New Roman"/>
            </a:endParaRPr>
          </a:p>
          <a:p>
            <a:pPr marL="241300" indent="-228600">
              <a:lnSpc>
                <a:spcPct val="100000"/>
              </a:lnSpc>
              <a:spcBef>
                <a:spcPts val="60"/>
              </a:spcBef>
              <a:buFont typeface="Arial MT"/>
              <a:buChar char="•"/>
              <a:tabLst>
                <a:tab pos="241300" algn="l"/>
              </a:tabLst>
            </a:pPr>
            <a:r>
              <a:rPr sz="2600" dirty="0">
                <a:latin typeface="Times New Roman"/>
                <a:cs typeface="Times New Roman"/>
              </a:rPr>
              <a:t>Keep</a:t>
            </a:r>
            <a:r>
              <a:rPr sz="2600" spc="-25" dirty="0">
                <a:latin typeface="Times New Roman"/>
                <a:cs typeface="Times New Roman"/>
              </a:rPr>
              <a:t> </a:t>
            </a:r>
            <a:r>
              <a:rPr sz="2600" dirty="0">
                <a:latin typeface="Times New Roman"/>
                <a:cs typeface="Times New Roman"/>
              </a:rPr>
              <a:t>OS</a:t>
            </a:r>
            <a:r>
              <a:rPr sz="2600" spc="5" dirty="0">
                <a:latin typeface="Times New Roman"/>
                <a:cs typeface="Times New Roman"/>
              </a:rPr>
              <a:t> </a:t>
            </a:r>
            <a:r>
              <a:rPr sz="2600" dirty="0">
                <a:latin typeface="Times New Roman"/>
                <a:cs typeface="Times New Roman"/>
              </a:rPr>
              <a:t>up</a:t>
            </a:r>
            <a:r>
              <a:rPr sz="2600" spc="-10" dirty="0">
                <a:latin typeface="Times New Roman"/>
                <a:cs typeface="Times New Roman"/>
              </a:rPr>
              <a:t> </a:t>
            </a:r>
            <a:r>
              <a:rPr sz="2600" dirty="0">
                <a:latin typeface="Times New Roman"/>
                <a:cs typeface="Times New Roman"/>
              </a:rPr>
              <a:t>to</a:t>
            </a:r>
            <a:r>
              <a:rPr sz="2600" spc="-15" dirty="0">
                <a:latin typeface="Times New Roman"/>
                <a:cs typeface="Times New Roman"/>
              </a:rPr>
              <a:t> </a:t>
            </a:r>
            <a:r>
              <a:rPr sz="2600" spc="-10" dirty="0">
                <a:latin typeface="Times New Roman"/>
                <a:cs typeface="Times New Roman"/>
              </a:rPr>
              <a:t>date.</a:t>
            </a:r>
            <a:endParaRPr sz="2600">
              <a:latin typeface="Times New Roman"/>
              <a:cs typeface="Times New Roman"/>
            </a:endParaRPr>
          </a:p>
        </p:txBody>
      </p:sp>
    </p:spTree>
    <p:extLst>
      <p:ext uri="{BB962C8B-B14F-4D97-AF65-F5344CB8AC3E}">
        <p14:creationId xmlns:p14="http://schemas.microsoft.com/office/powerpoint/2010/main" val="35210389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7319" rIns="0" bIns="0" rtlCol="0">
            <a:spAutoFit/>
          </a:bodyPr>
          <a:lstStyle/>
          <a:p>
            <a:pPr marL="12700">
              <a:lnSpc>
                <a:spcPct val="100000"/>
              </a:lnSpc>
              <a:spcBef>
                <a:spcPts val="105"/>
              </a:spcBef>
            </a:pPr>
            <a:r>
              <a:rPr spc="-65" dirty="0"/>
              <a:t>SPYWARE</a:t>
            </a:r>
          </a:p>
        </p:txBody>
      </p:sp>
      <p:pic>
        <p:nvPicPr>
          <p:cNvPr id="3" name="object 3"/>
          <p:cNvPicPr/>
          <p:nvPr/>
        </p:nvPicPr>
        <p:blipFill>
          <a:blip r:embed="rId2" cstate="print"/>
          <a:stretch>
            <a:fillRect/>
          </a:stretch>
        </p:blipFill>
        <p:spPr>
          <a:xfrm>
            <a:off x="1952244" y="2148839"/>
            <a:ext cx="8287511" cy="3704844"/>
          </a:xfrm>
          <a:prstGeom prst="rect">
            <a:avLst/>
          </a:prstGeom>
        </p:spPr>
      </p:pic>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Tree>
    <p:extLst>
      <p:ext uri="{BB962C8B-B14F-4D97-AF65-F5344CB8AC3E}">
        <p14:creationId xmlns:p14="http://schemas.microsoft.com/office/powerpoint/2010/main" val="15723688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35127" rIns="0" bIns="0" rtlCol="0">
            <a:spAutoFit/>
          </a:bodyPr>
          <a:lstStyle/>
          <a:p>
            <a:pPr marL="12700">
              <a:lnSpc>
                <a:spcPct val="100000"/>
              </a:lnSpc>
              <a:spcBef>
                <a:spcPts val="105"/>
              </a:spcBef>
            </a:pPr>
            <a:r>
              <a:rPr spc="-65" dirty="0"/>
              <a:t>SPYWARE</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3" name="object 3"/>
          <p:cNvSpPr txBox="1"/>
          <p:nvPr/>
        </p:nvSpPr>
        <p:spPr>
          <a:xfrm>
            <a:off x="916939" y="1804161"/>
            <a:ext cx="9710420" cy="3011170"/>
          </a:xfrm>
          <a:prstGeom prst="rect">
            <a:avLst/>
          </a:prstGeom>
        </p:spPr>
        <p:txBody>
          <a:bodyPr vert="horz" wrap="square" lIns="0" tIns="60960" rIns="0" bIns="0" rtlCol="0">
            <a:spAutoFit/>
          </a:bodyPr>
          <a:lstStyle/>
          <a:p>
            <a:pPr marL="240029" marR="302895" indent="-227965">
              <a:lnSpc>
                <a:spcPts val="3020"/>
              </a:lnSpc>
              <a:spcBef>
                <a:spcPts val="480"/>
              </a:spcBef>
              <a:buFont typeface="Arial MT"/>
              <a:buChar char="•"/>
              <a:tabLst>
                <a:tab pos="241300" algn="l"/>
              </a:tabLst>
            </a:pPr>
            <a:r>
              <a:rPr sz="2800" i="1" u="sng" dirty="0">
                <a:uFill>
                  <a:solidFill>
                    <a:srgbClr val="000000"/>
                  </a:solidFill>
                </a:uFill>
                <a:latin typeface="Times New Roman"/>
                <a:cs typeface="Times New Roman"/>
              </a:rPr>
              <a:t>Spyware</a:t>
            </a:r>
            <a:r>
              <a:rPr sz="2800" i="1" spc="-50" dirty="0">
                <a:latin typeface="Times New Roman"/>
                <a:cs typeface="Times New Roman"/>
              </a:rPr>
              <a:t> </a:t>
            </a:r>
            <a:r>
              <a:rPr sz="2800" dirty="0">
                <a:latin typeface="Times New Roman"/>
                <a:cs typeface="Times New Roman"/>
              </a:rPr>
              <a:t>is</a:t>
            </a:r>
            <a:r>
              <a:rPr sz="2800" spc="-50" dirty="0">
                <a:latin typeface="Times New Roman"/>
                <a:cs typeface="Times New Roman"/>
              </a:rPr>
              <a:t> </a:t>
            </a:r>
            <a:r>
              <a:rPr sz="2800" dirty="0">
                <a:latin typeface="Times New Roman"/>
                <a:cs typeface="Times New Roman"/>
              </a:rPr>
              <a:t>a</a:t>
            </a:r>
            <a:r>
              <a:rPr sz="2800" spc="-50" dirty="0">
                <a:latin typeface="Times New Roman"/>
                <a:cs typeface="Times New Roman"/>
              </a:rPr>
              <a:t> </a:t>
            </a:r>
            <a:r>
              <a:rPr sz="2800" dirty="0">
                <a:latin typeface="Times New Roman"/>
                <a:cs typeface="Times New Roman"/>
              </a:rPr>
              <a:t>software</a:t>
            </a:r>
            <a:r>
              <a:rPr sz="2800" spc="-50" dirty="0">
                <a:latin typeface="Times New Roman"/>
                <a:cs typeface="Times New Roman"/>
              </a:rPr>
              <a:t> </a:t>
            </a:r>
            <a:r>
              <a:rPr sz="2800" dirty="0">
                <a:latin typeface="Times New Roman"/>
                <a:cs typeface="Times New Roman"/>
              </a:rPr>
              <a:t>code</a:t>
            </a:r>
            <a:r>
              <a:rPr sz="2800" spc="-55" dirty="0">
                <a:latin typeface="Times New Roman"/>
                <a:cs typeface="Times New Roman"/>
              </a:rPr>
              <a:t> </a:t>
            </a:r>
            <a:r>
              <a:rPr sz="2800" dirty="0">
                <a:latin typeface="Times New Roman"/>
                <a:cs typeface="Times New Roman"/>
              </a:rPr>
              <a:t>or</a:t>
            </a:r>
            <a:r>
              <a:rPr sz="2800" spc="-35" dirty="0">
                <a:latin typeface="Times New Roman"/>
                <a:cs typeface="Times New Roman"/>
              </a:rPr>
              <a:t> </a:t>
            </a:r>
            <a:r>
              <a:rPr sz="2800" dirty="0">
                <a:latin typeface="Times New Roman"/>
                <a:cs typeface="Times New Roman"/>
              </a:rPr>
              <a:t>program,</a:t>
            </a:r>
            <a:r>
              <a:rPr sz="2800" spc="-35" dirty="0">
                <a:latin typeface="Times New Roman"/>
                <a:cs typeface="Times New Roman"/>
              </a:rPr>
              <a:t> </a:t>
            </a:r>
            <a:r>
              <a:rPr sz="2800" dirty="0">
                <a:latin typeface="Times New Roman"/>
                <a:cs typeface="Times New Roman"/>
              </a:rPr>
              <a:t>which</a:t>
            </a:r>
            <a:r>
              <a:rPr sz="2800" spc="-50" dirty="0">
                <a:latin typeface="Times New Roman"/>
                <a:cs typeface="Times New Roman"/>
              </a:rPr>
              <a:t> </a:t>
            </a:r>
            <a:r>
              <a:rPr sz="2800" dirty="0">
                <a:latin typeface="Times New Roman"/>
                <a:cs typeface="Times New Roman"/>
              </a:rPr>
              <a:t>is</a:t>
            </a:r>
            <a:r>
              <a:rPr sz="2800" spc="-50" dirty="0">
                <a:latin typeface="Times New Roman"/>
                <a:cs typeface="Times New Roman"/>
              </a:rPr>
              <a:t> </a:t>
            </a:r>
            <a:r>
              <a:rPr sz="2800" dirty="0">
                <a:latin typeface="Times New Roman"/>
                <a:cs typeface="Times New Roman"/>
              </a:rPr>
              <a:t>installed</a:t>
            </a:r>
            <a:r>
              <a:rPr sz="2800" spc="-70" dirty="0">
                <a:latin typeface="Times New Roman"/>
                <a:cs typeface="Times New Roman"/>
              </a:rPr>
              <a:t> </a:t>
            </a:r>
            <a:r>
              <a:rPr sz="2800" dirty="0">
                <a:latin typeface="Times New Roman"/>
                <a:cs typeface="Times New Roman"/>
              </a:rPr>
              <a:t>on</a:t>
            </a:r>
            <a:r>
              <a:rPr sz="2800" spc="-35" dirty="0">
                <a:latin typeface="Times New Roman"/>
                <a:cs typeface="Times New Roman"/>
              </a:rPr>
              <a:t> </a:t>
            </a:r>
            <a:r>
              <a:rPr sz="2800" spc="-25" dirty="0">
                <a:latin typeface="Times New Roman"/>
                <a:cs typeface="Times New Roman"/>
              </a:rPr>
              <a:t>the 	</a:t>
            </a:r>
            <a:r>
              <a:rPr sz="2800" dirty="0">
                <a:latin typeface="Times New Roman"/>
                <a:cs typeface="Times New Roman"/>
              </a:rPr>
              <a:t>computers</a:t>
            </a:r>
            <a:r>
              <a:rPr sz="2800" spc="-35" dirty="0">
                <a:latin typeface="Times New Roman"/>
                <a:cs typeface="Times New Roman"/>
              </a:rPr>
              <a:t> </a:t>
            </a:r>
            <a:r>
              <a:rPr sz="2800" dirty="0">
                <a:latin typeface="Times New Roman"/>
                <a:cs typeface="Times New Roman"/>
              </a:rPr>
              <a:t>without</a:t>
            </a:r>
            <a:r>
              <a:rPr sz="2800" spc="-35" dirty="0">
                <a:latin typeface="Times New Roman"/>
                <a:cs typeface="Times New Roman"/>
              </a:rPr>
              <a:t> </a:t>
            </a:r>
            <a:r>
              <a:rPr sz="2800" dirty="0">
                <a:latin typeface="Times New Roman"/>
                <a:cs typeface="Times New Roman"/>
              </a:rPr>
              <a:t>letting</a:t>
            </a:r>
            <a:r>
              <a:rPr sz="2800" spc="-50" dirty="0">
                <a:latin typeface="Times New Roman"/>
                <a:cs typeface="Times New Roman"/>
              </a:rPr>
              <a:t> </a:t>
            </a:r>
            <a:r>
              <a:rPr sz="2800" dirty="0">
                <a:latin typeface="Times New Roman"/>
                <a:cs typeface="Times New Roman"/>
              </a:rPr>
              <a:t>the</a:t>
            </a:r>
            <a:r>
              <a:rPr sz="2800" spc="-30" dirty="0">
                <a:latin typeface="Times New Roman"/>
                <a:cs typeface="Times New Roman"/>
              </a:rPr>
              <a:t> </a:t>
            </a:r>
            <a:r>
              <a:rPr sz="2800" dirty="0">
                <a:latin typeface="Times New Roman"/>
                <a:cs typeface="Times New Roman"/>
              </a:rPr>
              <a:t>user</a:t>
            </a:r>
            <a:r>
              <a:rPr sz="2800" spc="-35" dirty="0">
                <a:latin typeface="Times New Roman"/>
                <a:cs typeface="Times New Roman"/>
              </a:rPr>
              <a:t> </a:t>
            </a:r>
            <a:r>
              <a:rPr sz="2800" dirty="0">
                <a:latin typeface="Times New Roman"/>
                <a:cs typeface="Times New Roman"/>
              </a:rPr>
              <a:t>know</a:t>
            </a:r>
            <a:r>
              <a:rPr sz="2800" spc="-30" dirty="0">
                <a:latin typeface="Times New Roman"/>
                <a:cs typeface="Times New Roman"/>
              </a:rPr>
              <a:t> </a:t>
            </a:r>
            <a:r>
              <a:rPr sz="2800" dirty="0">
                <a:latin typeface="Times New Roman"/>
                <a:cs typeface="Times New Roman"/>
              </a:rPr>
              <a:t>about</a:t>
            </a:r>
            <a:r>
              <a:rPr sz="2800" spc="-15" dirty="0">
                <a:latin typeface="Times New Roman"/>
                <a:cs typeface="Times New Roman"/>
              </a:rPr>
              <a:t> </a:t>
            </a:r>
            <a:r>
              <a:rPr sz="2800" spc="-25" dirty="0">
                <a:latin typeface="Times New Roman"/>
                <a:cs typeface="Times New Roman"/>
              </a:rPr>
              <a:t>it.</a:t>
            </a:r>
            <a:endParaRPr sz="2800">
              <a:latin typeface="Times New Roman"/>
              <a:cs typeface="Times New Roman"/>
            </a:endParaRPr>
          </a:p>
          <a:p>
            <a:pPr marL="240029" marR="103505" indent="-227965">
              <a:lnSpc>
                <a:spcPts val="3020"/>
              </a:lnSpc>
              <a:spcBef>
                <a:spcPts val="1015"/>
              </a:spcBef>
              <a:buFont typeface="Arial MT"/>
              <a:buChar char="•"/>
              <a:tabLst>
                <a:tab pos="241300" algn="l"/>
              </a:tabLst>
            </a:pPr>
            <a:r>
              <a:rPr sz="2800" dirty="0">
                <a:latin typeface="Times New Roman"/>
                <a:cs typeface="Times New Roman"/>
              </a:rPr>
              <a:t>The</a:t>
            </a:r>
            <a:r>
              <a:rPr sz="2800" spc="-25" dirty="0">
                <a:latin typeface="Times New Roman"/>
                <a:cs typeface="Times New Roman"/>
              </a:rPr>
              <a:t> </a:t>
            </a:r>
            <a:r>
              <a:rPr sz="2800" dirty="0">
                <a:latin typeface="Times New Roman"/>
                <a:cs typeface="Times New Roman"/>
              </a:rPr>
              <a:t>main</a:t>
            </a:r>
            <a:r>
              <a:rPr sz="2800" spc="-20" dirty="0">
                <a:latin typeface="Times New Roman"/>
                <a:cs typeface="Times New Roman"/>
              </a:rPr>
              <a:t> </a:t>
            </a:r>
            <a:r>
              <a:rPr sz="2800" dirty="0">
                <a:latin typeface="Times New Roman"/>
                <a:cs typeface="Times New Roman"/>
              </a:rPr>
              <a:t>objective</a:t>
            </a:r>
            <a:r>
              <a:rPr sz="2800" spc="-55" dirty="0">
                <a:latin typeface="Times New Roman"/>
                <a:cs typeface="Times New Roman"/>
              </a:rPr>
              <a:t> </a:t>
            </a:r>
            <a:r>
              <a:rPr sz="2800" dirty="0">
                <a:latin typeface="Times New Roman"/>
                <a:cs typeface="Times New Roman"/>
              </a:rPr>
              <a:t>of</a:t>
            </a:r>
            <a:r>
              <a:rPr sz="2800" spc="-20" dirty="0">
                <a:latin typeface="Times New Roman"/>
                <a:cs typeface="Times New Roman"/>
              </a:rPr>
              <a:t> </a:t>
            </a:r>
            <a:r>
              <a:rPr sz="2800" dirty="0">
                <a:latin typeface="Times New Roman"/>
                <a:cs typeface="Times New Roman"/>
              </a:rPr>
              <a:t>this</a:t>
            </a:r>
            <a:r>
              <a:rPr sz="2800" spc="-40" dirty="0">
                <a:latin typeface="Times New Roman"/>
                <a:cs typeface="Times New Roman"/>
              </a:rPr>
              <a:t> </a:t>
            </a:r>
            <a:r>
              <a:rPr sz="2800" dirty="0">
                <a:latin typeface="Times New Roman"/>
                <a:cs typeface="Times New Roman"/>
              </a:rPr>
              <a:t>program</a:t>
            </a:r>
            <a:r>
              <a:rPr sz="2800" spc="-35" dirty="0">
                <a:latin typeface="Times New Roman"/>
                <a:cs typeface="Times New Roman"/>
              </a:rPr>
              <a:t> </a:t>
            </a:r>
            <a:r>
              <a:rPr sz="2800" dirty="0">
                <a:latin typeface="Times New Roman"/>
                <a:cs typeface="Times New Roman"/>
              </a:rPr>
              <a:t>is</a:t>
            </a:r>
            <a:r>
              <a:rPr sz="2800" spc="-30" dirty="0">
                <a:latin typeface="Times New Roman"/>
                <a:cs typeface="Times New Roman"/>
              </a:rPr>
              <a:t> </a:t>
            </a:r>
            <a:r>
              <a:rPr sz="2800" dirty="0">
                <a:latin typeface="Times New Roman"/>
                <a:cs typeface="Times New Roman"/>
              </a:rPr>
              <a:t>to</a:t>
            </a:r>
            <a:r>
              <a:rPr sz="2800" spc="-30" dirty="0">
                <a:latin typeface="Times New Roman"/>
                <a:cs typeface="Times New Roman"/>
              </a:rPr>
              <a:t> </a:t>
            </a:r>
            <a:r>
              <a:rPr sz="2800" dirty="0">
                <a:latin typeface="Times New Roman"/>
                <a:cs typeface="Times New Roman"/>
              </a:rPr>
              <a:t>monitor</a:t>
            </a:r>
            <a:r>
              <a:rPr sz="2800" spc="-30" dirty="0">
                <a:latin typeface="Times New Roman"/>
                <a:cs typeface="Times New Roman"/>
              </a:rPr>
              <a:t> </a:t>
            </a:r>
            <a:r>
              <a:rPr sz="2800" dirty="0">
                <a:latin typeface="Times New Roman"/>
                <a:cs typeface="Times New Roman"/>
              </a:rPr>
              <a:t>online</a:t>
            </a:r>
            <a:r>
              <a:rPr sz="2800" spc="-50" dirty="0">
                <a:latin typeface="Times New Roman"/>
                <a:cs typeface="Times New Roman"/>
              </a:rPr>
              <a:t> </a:t>
            </a:r>
            <a:r>
              <a:rPr sz="2800" spc="-10" dirty="0">
                <a:latin typeface="Times New Roman"/>
                <a:cs typeface="Times New Roman"/>
              </a:rPr>
              <a:t>activities, 	</a:t>
            </a:r>
            <a:r>
              <a:rPr sz="2800" dirty="0">
                <a:latin typeface="Times New Roman"/>
                <a:cs typeface="Times New Roman"/>
              </a:rPr>
              <a:t>computer</a:t>
            </a:r>
            <a:r>
              <a:rPr sz="2800" spc="-40" dirty="0">
                <a:latin typeface="Times New Roman"/>
                <a:cs typeface="Times New Roman"/>
              </a:rPr>
              <a:t> </a:t>
            </a:r>
            <a:r>
              <a:rPr sz="2800" dirty="0">
                <a:latin typeface="Times New Roman"/>
                <a:cs typeface="Times New Roman"/>
              </a:rPr>
              <a:t>using</a:t>
            </a:r>
            <a:r>
              <a:rPr sz="2800" spc="-65" dirty="0">
                <a:latin typeface="Times New Roman"/>
                <a:cs typeface="Times New Roman"/>
              </a:rPr>
              <a:t> </a:t>
            </a:r>
            <a:r>
              <a:rPr sz="2800" dirty="0">
                <a:latin typeface="Times New Roman"/>
                <a:cs typeface="Times New Roman"/>
              </a:rPr>
              <a:t>habits,</a:t>
            </a:r>
            <a:r>
              <a:rPr sz="2800" spc="-55" dirty="0">
                <a:latin typeface="Times New Roman"/>
                <a:cs typeface="Times New Roman"/>
              </a:rPr>
              <a:t> </a:t>
            </a:r>
            <a:r>
              <a:rPr sz="2800" dirty="0">
                <a:latin typeface="Times New Roman"/>
                <a:cs typeface="Times New Roman"/>
              </a:rPr>
              <a:t>and</a:t>
            </a:r>
            <a:r>
              <a:rPr sz="2800" spc="-45" dirty="0">
                <a:latin typeface="Times New Roman"/>
                <a:cs typeface="Times New Roman"/>
              </a:rPr>
              <a:t> </a:t>
            </a:r>
            <a:r>
              <a:rPr sz="2800" dirty="0">
                <a:latin typeface="Times New Roman"/>
                <a:cs typeface="Times New Roman"/>
              </a:rPr>
              <a:t>personal</a:t>
            </a:r>
            <a:r>
              <a:rPr sz="2800" spc="-25" dirty="0">
                <a:latin typeface="Times New Roman"/>
                <a:cs typeface="Times New Roman"/>
              </a:rPr>
              <a:t> </a:t>
            </a:r>
            <a:r>
              <a:rPr sz="2800" spc="-10" dirty="0">
                <a:latin typeface="Times New Roman"/>
                <a:cs typeface="Times New Roman"/>
              </a:rPr>
              <a:t>interests.</a:t>
            </a:r>
            <a:endParaRPr sz="2800">
              <a:latin typeface="Times New Roman"/>
              <a:cs typeface="Times New Roman"/>
            </a:endParaRPr>
          </a:p>
          <a:p>
            <a:pPr marL="240029" marR="5080" indent="-227965">
              <a:lnSpc>
                <a:spcPct val="90000"/>
              </a:lnSpc>
              <a:spcBef>
                <a:spcPts val="960"/>
              </a:spcBef>
              <a:buFont typeface="Arial MT"/>
              <a:buChar char="•"/>
              <a:tabLst>
                <a:tab pos="241300" algn="l"/>
              </a:tabLst>
            </a:pPr>
            <a:r>
              <a:rPr sz="2800" dirty="0">
                <a:latin typeface="Times New Roman"/>
                <a:cs typeface="Times New Roman"/>
              </a:rPr>
              <a:t>At</a:t>
            </a:r>
            <a:r>
              <a:rPr sz="2800" spc="-25" dirty="0">
                <a:latin typeface="Times New Roman"/>
                <a:cs typeface="Times New Roman"/>
              </a:rPr>
              <a:t> </a:t>
            </a:r>
            <a:r>
              <a:rPr sz="2800" dirty="0">
                <a:latin typeface="Times New Roman"/>
                <a:cs typeface="Times New Roman"/>
              </a:rPr>
              <a:t>the</a:t>
            </a:r>
            <a:r>
              <a:rPr sz="2800" spc="-45" dirty="0">
                <a:latin typeface="Times New Roman"/>
                <a:cs typeface="Times New Roman"/>
              </a:rPr>
              <a:t> </a:t>
            </a:r>
            <a:r>
              <a:rPr sz="2800" dirty="0">
                <a:latin typeface="Times New Roman"/>
                <a:cs typeface="Times New Roman"/>
              </a:rPr>
              <a:t>initial</a:t>
            </a:r>
            <a:r>
              <a:rPr sz="2800" spc="-50" dirty="0">
                <a:latin typeface="Times New Roman"/>
                <a:cs typeface="Times New Roman"/>
              </a:rPr>
              <a:t> </a:t>
            </a:r>
            <a:r>
              <a:rPr sz="2800" dirty="0">
                <a:latin typeface="Times New Roman"/>
                <a:cs typeface="Times New Roman"/>
              </a:rPr>
              <a:t>stages,</a:t>
            </a:r>
            <a:r>
              <a:rPr sz="2800" spc="-25" dirty="0">
                <a:latin typeface="Times New Roman"/>
                <a:cs typeface="Times New Roman"/>
              </a:rPr>
              <a:t> </a:t>
            </a:r>
            <a:r>
              <a:rPr sz="2800" dirty="0">
                <a:latin typeface="Times New Roman"/>
                <a:cs typeface="Times New Roman"/>
              </a:rPr>
              <a:t>the</a:t>
            </a:r>
            <a:r>
              <a:rPr sz="2800" spc="-35" dirty="0">
                <a:latin typeface="Times New Roman"/>
                <a:cs typeface="Times New Roman"/>
              </a:rPr>
              <a:t> </a:t>
            </a:r>
            <a:r>
              <a:rPr sz="2800" dirty="0">
                <a:latin typeface="Times New Roman"/>
                <a:cs typeface="Times New Roman"/>
              </a:rPr>
              <a:t>attack</a:t>
            </a:r>
            <a:r>
              <a:rPr sz="2800" spc="-30" dirty="0">
                <a:latin typeface="Times New Roman"/>
                <a:cs typeface="Times New Roman"/>
              </a:rPr>
              <a:t> </a:t>
            </a:r>
            <a:r>
              <a:rPr sz="2800" dirty="0">
                <a:latin typeface="Times New Roman"/>
                <a:cs typeface="Times New Roman"/>
              </a:rPr>
              <a:t>of</a:t>
            </a:r>
            <a:r>
              <a:rPr sz="2800" spc="-15" dirty="0">
                <a:latin typeface="Times New Roman"/>
                <a:cs typeface="Times New Roman"/>
              </a:rPr>
              <a:t> </a:t>
            </a:r>
            <a:r>
              <a:rPr sz="2800" dirty="0">
                <a:latin typeface="Times New Roman"/>
                <a:cs typeface="Times New Roman"/>
              </a:rPr>
              <a:t>spyware</a:t>
            </a:r>
            <a:r>
              <a:rPr sz="2800" spc="-30" dirty="0">
                <a:latin typeface="Times New Roman"/>
                <a:cs typeface="Times New Roman"/>
              </a:rPr>
              <a:t> </a:t>
            </a:r>
            <a:r>
              <a:rPr sz="2800" dirty="0">
                <a:latin typeface="Times New Roman"/>
                <a:cs typeface="Times New Roman"/>
              </a:rPr>
              <a:t>is</a:t>
            </a:r>
            <a:r>
              <a:rPr sz="2800" spc="-25" dirty="0">
                <a:latin typeface="Times New Roman"/>
                <a:cs typeface="Times New Roman"/>
              </a:rPr>
              <a:t> </a:t>
            </a:r>
            <a:r>
              <a:rPr sz="2800" dirty="0">
                <a:latin typeface="Times New Roman"/>
                <a:cs typeface="Times New Roman"/>
              </a:rPr>
              <a:t>not</a:t>
            </a:r>
            <a:r>
              <a:rPr sz="2800" spc="-30" dirty="0">
                <a:latin typeface="Times New Roman"/>
                <a:cs typeface="Times New Roman"/>
              </a:rPr>
              <a:t> </a:t>
            </a:r>
            <a:r>
              <a:rPr sz="2800" dirty="0">
                <a:latin typeface="Times New Roman"/>
                <a:cs typeface="Times New Roman"/>
              </a:rPr>
              <a:t>even</a:t>
            </a:r>
            <a:r>
              <a:rPr sz="2800" spc="-25" dirty="0">
                <a:latin typeface="Times New Roman"/>
                <a:cs typeface="Times New Roman"/>
              </a:rPr>
              <a:t> </a:t>
            </a:r>
            <a:r>
              <a:rPr sz="2800" dirty="0">
                <a:latin typeface="Times New Roman"/>
                <a:cs typeface="Times New Roman"/>
              </a:rPr>
              <a:t>noticed,</a:t>
            </a:r>
            <a:r>
              <a:rPr sz="2800" spc="-50" dirty="0">
                <a:latin typeface="Times New Roman"/>
                <a:cs typeface="Times New Roman"/>
              </a:rPr>
              <a:t> </a:t>
            </a:r>
            <a:r>
              <a:rPr sz="2800" spc="-25" dirty="0">
                <a:latin typeface="Times New Roman"/>
                <a:cs typeface="Times New Roman"/>
              </a:rPr>
              <a:t>but 	</a:t>
            </a:r>
            <a:r>
              <a:rPr sz="2800" dirty="0">
                <a:latin typeface="Times New Roman"/>
                <a:cs typeface="Times New Roman"/>
              </a:rPr>
              <a:t>slowly</a:t>
            </a:r>
            <a:r>
              <a:rPr sz="2800" spc="-45" dirty="0">
                <a:latin typeface="Times New Roman"/>
                <a:cs typeface="Times New Roman"/>
              </a:rPr>
              <a:t> </a:t>
            </a:r>
            <a:r>
              <a:rPr sz="2800" dirty="0">
                <a:latin typeface="Times New Roman"/>
                <a:cs typeface="Times New Roman"/>
              </a:rPr>
              <a:t>and</a:t>
            </a:r>
            <a:r>
              <a:rPr sz="2800" spc="-30" dirty="0">
                <a:latin typeface="Times New Roman"/>
                <a:cs typeface="Times New Roman"/>
              </a:rPr>
              <a:t> </a:t>
            </a:r>
            <a:r>
              <a:rPr sz="2800" spc="-10" dirty="0">
                <a:latin typeface="Times New Roman"/>
                <a:cs typeface="Times New Roman"/>
              </a:rPr>
              <a:t>gradually,</a:t>
            </a:r>
            <a:r>
              <a:rPr sz="2800" spc="-45" dirty="0">
                <a:latin typeface="Times New Roman"/>
                <a:cs typeface="Times New Roman"/>
              </a:rPr>
              <a:t> </a:t>
            </a:r>
            <a:r>
              <a:rPr sz="2800" dirty="0">
                <a:latin typeface="Times New Roman"/>
                <a:cs typeface="Times New Roman"/>
              </a:rPr>
              <a:t>the</a:t>
            </a:r>
            <a:r>
              <a:rPr sz="2800" spc="-40" dirty="0">
                <a:latin typeface="Times New Roman"/>
                <a:cs typeface="Times New Roman"/>
              </a:rPr>
              <a:t> </a:t>
            </a:r>
            <a:r>
              <a:rPr sz="2800" dirty="0">
                <a:latin typeface="Times New Roman"/>
                <a:cs typeface="Times New Roman"/>
              </a:rPr>
              <a:t>impact</a:t>
            </a:r>
            <a:r>
              <a:rPr sz="2800" spc="-30" dirty="0">
                <a:latin typeface="Times New Roman"/>
                <a:cs typeface="Times New Roman"/>
              </a:rPr>
              <a:t> </a:t>
            </a:r>
            <a:r>
              <a:rPr sz="2800" dirty="0">
                <a:latin typeface="Times New Roman"/>
                <a:cs typeface="Times New Roman"/>
              </a:rPr>
              <a:t>of</a:t>
            </a:r>
            <a:r>
              <a:rPr sz="2800" spc="-20" dirty="0">
                <a:latin typeface="Times New Roman"/>
                <a:cs typeface="Times New Roman"/>
              </a:rPr>
              <a:t> </a:t>
            </a:r>
            <a:r>
              <a:rPr sz="2800" dirty="0">
                <a:latin typeface="Times New Roman"/>
                <a:cs typeface="Times New Roman"/>
              </a:rPr>
              <a:t>the</a:t>
            </a:r>
            <a:r>
              <a:rPr sz="2800" spc="-30" dirty="0">
                <a:latin typeface="Times New Roman"/>
                <a:cs typeface="Times New Roman"/>
              </a:rPr>
              <a:t> </a:t>
            </a:r>
            <a:r>
              <a:rPr sz="2800" dirty="0">
                <a:latin typeface="Times New Roman"/>
                <a:cs typeface="Times New Roman"/>
              </a:rPr>
              <a:t>spyware</a:t>
            </a:r>
            <a:r>
              <a:rPr sz="2800" spc="-40" dirty="0">
                <a:latin typeface="Times New Roman"/>
                <a:cs typeface="Times New Roman"/>
              </a:rPr>
              <a:t> </a:t>
            </a:r>
            <a:r>
              <a:rPr sz="2800" dirty="0">
                <a:latin typeface="Times New Roman"/>
                <a:cs typeface="Times New Roman"/>
              </a:rPr>
              <a:t>unleashes</a:t>
            </a:r>
            <a:r>
              <a:rPr sz="2800" spc="-40" dirty="0">
                <a:latin typeface="Times New Roman"/>
                <a:cs typeface="Times New Roman"/>
              </a:rPr>
              <a:t> </a:t>
            </a:r>
            <a:r>
              <a:rPr sz="2800" dirty="0">
                <a:latin typeface="Times New Roman"/>
                <a:cs typeface="Times New Roman"/>
              </a:rPr>
              <a:t>on</a:t>
            </a:r>
            <a:r>
              <a:rPr sz="2800" spc="-25" dirty="0">
                <a:latin typeface="Times New Roman"/>
                <a:cs typeface="Times New Roman"/>
              </a:rPr>
              <a:t> </a:t>
            </a:r>
            <a:r>
              <a:rPr sz="2800" spc="-20" dirty="0">
                <a:latin typeface="Times New Roman"/>
                <a:cs typeface="Times New Roman"/>
              </a:rPr>
              <a:t>your 	</a:t>
            </a:r>
            <a:r>
              <a:rPr sz="2800" dirty="0">
                <a:latin typeface="Times New Roman"/>
                <a:cs typeface="Times New Roman"/>
              </a:rPr>
              <a:t>system</a:t>
            </a:r>
            <a:r>
              <a:rPr sz="2800" spc="-35" dirty="0">
                <a:latin typeface="Times New Roman"/>
                <a:cs typeface="Times New Roman"/>
              </a:rPr>
              <a:t> </a:t>
            </a:r>
            <a:r>
              <a:rPr sz="2800" dirty="0">
                <a:latin typeface="Times New Roman"/>
                <a:cs typeface="Times New Roman"/>
              </a:rPr>
              <a:t>as</a:t>
            </a:r>
            <a:r>
              <a:rPr sz="2800" spc="-25" dirty="0">
                <a:latin typeface="Times New Roman"/>
                <a:cs typeface="Times New Roman"/>
              </a:rPr>
              <a:t> </a:t>
            </a:r>
            <a:r>
              <a:rPr sz="2800" dirty="0">
                <a:latin typeface="Times New Roman"/>
                <a:cs typeface="Times New Roman"/>
              </a:rPr>
              <a:t>well</a:t>
            </a:r>
            <a:r>
              <a:rPr sz="2800" spc="-20" dirty="0">
                <a:latin typeface="Times New Roman"/>
                <a:cs typeface="Times New Roman"/>
              </a:rPr>
              <a:t> </a:t>
            </a:r>
            <a:r>
              <a:rPr sz="2800" dirty="0">
                <a:latin typeface="Times New Roman"/>
                <a:cs typeface="Times New Roman"/>
              </a:rPr>
              <a:t>as</a:t>
            </a:r>
            <a:r>
              <a:rPr sz="2800" spc="-25" dirty="0">
                <a:latin typeface="Times New Roman"/>
                <a:cs typeface="Times New Roman"/>
              </a:rPr>
              <a:t> </a:t>
            </a:r>
            <a:r>
              <a:rPr sz="2800" dirty="0">
                <a:latin typeface="Times New Roman"/>
                <a:cs typeface="Times New Roman"/>
              </a:rPr>
              <a:t>personally</a:t>
            </a:r>
            <a:r>
              <a:rPr sz="2800" spc="-45" dirty="0">
                <a:latin typeface="Times New Roman"/>
                <a:cs typeface="Times New Roman"/>
              </a:rPr>
              <a:t> </a:t>
            </a:r>
            <a:r>
              <a:rPr sz="2800" dirty="0">
                <a:latin typeface="Times New Roman"/>
                <a:cs typeface="Times New Roman"/>
              </a:rPr>
              <a:t>on</a:t>
            </a:r>
            <a:r>
              <a:rPr sz="2800" spc="-10" dirty="0">
                <a:latin typeface="Times New Roman"/>
                <a:cs typeface="Times New Roman"/>
              </a:rPr>
              <a:t> </a:t>
            </a:r>
            <a:r>
              <a:rPr sz="2800" spc="-20" dirty="0">
                <a:latin typeface="Times New Roman"/>
                <a:cs typeface="Times New Roman"/>
              </a:rPr>
              <a:t>you.</a:t>
            </a:r>
            <a:endParaRPr sz="2800">
              <a:latin typeface="Times New Roman"/>
              <a:cs typeface="Times New Roman"/>
            </a:endParaRPr>
          </a:p>
        </p:txBody>
      </p:sp>
    </p:spTree>
    <p:extLst>
      <p:ext uri="{BB962C8B-B14F-4D97-AF65-F5344CB8AC3E}">
        <p14:creationId xmlns:p14="http://schemas.microsoft.com/office/powerpoint/2010/main" val="24210618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35127" rIns="0" bIns="0" rtlCol="0">
            <a:spAutoFit/>
          </a:bodyPr>
          <a:lstStyle/>
          <a:p>
            <a:pPr marL="12700">
              <a:lnSpc>
                <a:spcPct val="100000"/>
              </a:lnSpc>
              <a:spcBef>
                <a:spcPts val="105"/>
              </a:spcBef>
            </a:pPr>
            <a:r>
              <a:rPr spc="-65" dirty="0"/>
              <a:t>SPYWARE</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3" name="object 3"/>
          <p:cNvSpPr txBox="1"/>
          <p:nvPr/>
        </p:nvSpPr>
        <p:spPr>
          <a:xfrm>
            <a:off x="916939" y="1804161"/>
            <a:ext cx="9935845" cy="3902710"/>
          </a:xfrm>
          <a:prstGeom prst="rect">
            <a:avLst/>
          </a:prstGeom>
        </p:spPr>
        <p:txBody>
          <a:bodyPr vert="horz" wrap="square" lIns="0" tIns="60960" rIns="0" bIns="0" rtlCol="0">
            <a:spAutoFit/>
          </a:bodyPr>
          <a:lstStyle/>
          <a:p>
            <a:pPr marL="12700" marR="5080">
              <a:lnSpc>
                <a:spcPts val="3020"/>
              </a:lnSpc>
              <a:spcBef>
                <a:spcPts val="480"/>
              </a:spcBef>
            </a:pPr>
            <a:r>
              <a:rPr sz="2800" dirty="0">
                <a:latin typeface="Times New Roman"/>
                <a:cs typeface="Times New Roman"/>
              </a:rPr>
              <a:t>The</a:t>
            </a:r>
            <a:r>
              <a:rPr sz="2800" spc="-40" dirty="0">
                <a:latin typeface="Times New Roman"/>
                <a:cs typeface="Times New Roman"/>
              </a:rPr>
              <a:t> </a:t>
            </a:r>
            <a:r>
              <a:rPr sz="2800" dirty="0">
                <a:latin typeface="Times New Roman"/>
                <a:cs typeface="Times New Roman"/>
              </a:rPr>
              <a:t>symptoms</a:t>
            </a:r>
            <a:r>
              <a:rPr sz="2800" spc="-30" dirty="0">
                <a:latin typeface="Times New Roman"/>
                <a:cs typeface="Times New Roman"/>
              </a:rPr>
              <a:t> </a:t>
            </a:r>
            <a:r>
              <a:rPr sz="2800" dirty="0">
                <a:latin typeface="Times New Roman"/>
                <a:cs typeface="Times New Roman"/>
              </a:rPr>
              <a:t>of</a:t>
            </a:r>
            <a:r>
              <a:rPr sz="2800" spc="-35" dirty="0">
                <a:latin typeface="Times New Roman"/>
                <a:cs typeface="Times New Roman"/>
              </a:rPr>
              <a:t> </a:t>
            </a:r>
            <a:r>
              <a:rPr sz="2800" dirty="0">
                <a:latin typeface="Times New Roman"/>
                <a:cs typeface="Times New Roman"/>
              </a:rPr>
              <a:t>a</a:t>
            </a:r>
            <a:r>
              <a:rPr sz="2800" spc="-50" dirty="0">
                <a:latin typeface="Times New Roman"/>
                <a:cs typeface="Times New Roman"/>
              </a:rPr>
              <a:t> </a:t>
            </a:r>
            <a:r>
              <a:rPr sz="2800" dirty="0">
                <a:latin typeface="Times New Roman"/>
                <a:cs typeface="Times New Roman"/>
              </a:rPr>
              <a:t>spyware</a:t>
            </a:r>
            <a:r>
              <a:rPr sz="2800" spc="-45" dirty="0">
                <a:latin typeface="Times New Roman"/>
                <a:cs typeface="Times New Roman"/>
              </a:rPr>
              <a:t> </a:t>
            </a:r>
            <a:r>
              <a:rPr sz="2800" dirty="0">
                <a:latin typeface="Times New Roman"/>
                <a:cs typeface="Times New Roman"/>
              </a:rPr>
              <a:t>attack</a:t>
            </a:r>
            <a:r>
              <a:rPr sz="2800" spc="-50" dirty="0">
                <a:latin typeface="Times New Roman"/>
                <a:cs typeface="Times New Roman"/>
              </a:rPr>
              <a:t> </a:t>
            </a:r>
            <a:r>
              <a:rPr sz="2800" dirty="0">
                <a:latin typeface="Times New Roman"/>
                <a:cs typeface="Times New Roman"/>
              </a:rPr>
              <a:t>on</a:t>
            </a:r>
            <a:r>
              <a:rPr sz="2800" spc="-35" dirty="0">
                <a:latin typeface="Times New Roman"/>
                <a:cs typeface="Times New Roman"/>
              </a:rPr>
              <a:t> </a:t>
            </a:r>
            <a:r>
              <a:rPr sz="2800" dirty="0">
                <a:latin typeface="Times New Roman"/>
                <a:cs typeface="Times New Roman"/>
              </a:rPr>
              <a:t>your</a:t>
            </a:r>
            <a:r>
              <a:rPr sz="2800" spc="-50" dirty="0">
                <a:latin typeface="Times New Roman"/>
                <a:cs typeface="Times New Roman"/>
              </a:rPr>
              <a:t> </a:t>
            </a:r>
            <a:r>
              <a:rPr sz="2800" dirty="0">
                <a:latin typeface="Times New Roman"/>
                <a:cs typeface="Times New Roman"/>
              </a:rPr>
              <a:t>computer</a:t>
            </a:r>
            <a:r>
              <a:rPr sz="2800" spc="-40" dirty="0">
                <a:latin typeface="Times New Roman"/>
                <a:cs typeface="Times New Roman"/>
              </a:rPr>
              <a:t> </a:t>
            </a:r>
            <a:r>
              <a:rPr sz="2800" dirty="0">
                <a:latin typeface="Times New Roman"/>
                <a:cs typeface="Times New Roman"/>
              </a:rPr>
              <a:t>may</a:t>
            </a:r>
            <a:r>
              <a:rPr sz="2800" spc="-40" dirty="0">
                <a:latin typeface="Times New Roman"/>
                <a:cs typeface="Times New Roman"/>
              </a:rPr>
              <a:t> </a:t>
            </a:r>
            <a:r>
              <a:rPr sz="2800" dirty="0">
                <a:latin typeface="Times New Roman"/>
                <a:cs typeface="Times New Roman"/>
              </a:rPr>
              <a:t>include</a:t>
            </a:r>
            <a:r>
              <a:rPr sz="2800" spc="-65" dirty="0">
                <a:latin typeface="Times New Roman"/>
                <a:cs typeface="Times New Roman"/>
              </a:rPr>
              <a:t> </a:t>
            </a:r>
            <a:r>
              <a:rPr sz="2800" spc="-25" dirty="0">
                <a:latin typeface="Times New Roman"/>
                <a:cs typeface="Times New Roman"/>
              </a:rPr>
              <a:t>the </a:t>
            </a:r>
            <a:r>
              <a:rPr sz="2800" spc="-10" dirty="0">
                <a:latin typeface="Times New Roman"/>
                <a:cs typeface="Times New Roman"/>
              </a:rPr>
              <a:t>following:</a:t>
            </a:r>
            <a:endParaRPr sz="2800">
              <a:latin typeface="Times New Roman"/>
              <a:cs typeface="Times New Roman"/>
            </a:endParaRPr>
          </a:p>
          <a:p>
            <a:pPr marL="240665" indent="-227965">
              <a:lnSpc>
                <a:spcPct val="100000"/>
              </a:lnSpc>
              <a:spcBef>
                <a:spcPts val="635"/>
              </a:spcBef>
              <a:buFont typeface="Arial MT"/>
              <a:buChar char="•"/>
              <a:tabLst>
                <a:tab pos="240665" algn="l"/>
              </a:tabLst>
            </a:pPr>
            <a:r>
              <a:rPr sz="2800" dirty="0">
                <a:latin typeface="Times New Roman"/>
                <a:cs typeface="Times New Roman"/>
              </a:rPr>
              <a:t>System</a:t>
            </a:r>
            <a:r>
              <a:rPr sz="2800" spc="-55" dirty="0">
                <a:latin typeface="Times New Roman"/>
                <a:cs typeface="Times New Roman"/>
              </a:rPr>
              <a:t> </a:t>
            </a:r>
            <a:r>
              <a:rPr sz="2800" dirty="0">
                <a:latin typeface="Times New Roman"/>
                <a:cs typeface="Times New Roman"/>
              </a:rPr>
              <a:t>performance</a:t>
            </a:r>
            <a:r>
              <a:rPr sz="2800" spc="-55" dirty="0">
                <a:latin typeface="Times New Roman"/>
                <a:cs typeface="Times New Roman"/>
              </a:rPr>
              <a:t> </a:t>
            </a:r>
            <a:r>
              <a:rPr sz="2800" dirty="0">
                <a:latin typeface="Times New Roman"/>
                <a:cs typeface="Times New Roman"/>
              </a:rPr>
              <a:t>slows</a:t>
            </a:r>
            <a:r>
              <a:rPr sz="2800" spc="-55" dirty="0">
                <a:latin typeface="Times New Roman"/>
                <a:cs typeface="Times New Roman"/>
              </a:rPr>
              <a:t> </a:t>
            </a:r>
            <a:r>
              <a:rPr sz="2800" spc="-20" dirty="0">
                <a:latin typeface="Times New Roman"/>
                <a:cs typeface="Times New Roman"/>
              </a:rPr>
              <a:t>down</a:t>
            </a:r>
            <a:endParaRPr sz="2800">
              <a:latin typeface="Times New Roman"/>
              <a:cs typeface="Times New Roman"/>
            </a:endParaRPr>
          </a:p>
          <a:p>
            <a:pPr marL="240665" indent="-227965">
              <a:lnSpc>
                <a:spcPct val="100000"/>
              </a:lnSpc>
              <a:spcBef>
                <a:spcPts val="660"/>
              </a:spcBef>
              <a:buFont typeface="Arial MT"/>
              <a:buChar char="•"/>
              <a:tabLst>
                <a:tab pos="240665" algn="l"/>
              </a:tabLst>
            </a:pPr>
            <a:r>
              <a:rPr sz="2800" dirty="0">
                <a:latin typeface="Times New Roman"/>
                <a:cs typeface="Times New Roman"/>
              </a:rPr>
              <a:t>Any</a:t>
            </a:r>
            <a:r>
              <a:rPr sz="2800" spc="-60" dirty="0">
                <a:latin typeface="Times New Roman"/>
                <a:cs typeface="Times New Roman"/>
              </a:rPr>
              <a:t> </a:t>
            </a:r>
            <a:r>
              <a:rPr sz="2800" dirty="0">
                <a:latin typeface="Times New Roman"/>
                <a:cs typeface="Times New Roman"/>
              </a:rPr>
              <a:t>program</a:t>
            </a:r>
            <a:r>
              <a:rPr sz="2800" spc="-70" dirty="0">
                <a:latin typeface="Times New Roman"/>
                <a:cs typeface="Times New Roman"/>
              </a:rPr>
              <a:t> </a:t>
            </a:r>
            <a:r>
              <a:rPr sz="2800" dirty="0">
                <a:latin typeface="Times New Roman"/>
                <a:cs typeface="Times New Roman"/>
              </a:rPr>
              <a:t>stops</a:t>
            </a:r>
            <a:r>
              <a:rPr sz="2800" spc="-65" dirty="0">
                <a:latin typeface="Times New Roman"/>
                <a:cs typeface="Times New Roman"/>
              </a:rPr>
              <a:t> </a:t>
            </a:r>
            <a:r>
              <a:rPr sz="2800" dirty="0">
                <a:latin typeface="Times New Roman"/>
                <a:cs typeface="Times New Roman"/>
              </a:rPr>
              <a:t>working</a:t>
            </a:r>
            <a:r>
              <a:rPr sz="2800" spc="-70" dirty="0">
                <a:latin typeface="Times New Roman"/>
                <a:cs typeface="Times New Roman"/>
              </a:rPr>
              <a:t> </a:t>
            </a:r>
            <a:r>
              <a:rPr sz="2800" spc="-10" dirty="0">
                <a:latin typeface="Times New Roman"/>
                <a:cs typeface="Times New Roman"/>
              </a:rPr>
              <a:t>properly</a:t>
            </a:r>
            <a:endParaRPr sz="2800">
              <a:latin typeface="Times New Roman"/>
              <a:cs typeface="Times New Roman"/>
            </a:endParaRPr>
          </a:p>
          <a:p>
            <a:pPr marL="240665" indent="-227965">
              <a:lnSpc>
                <a:spcPct val="100000"/>
              </a:lnSpc>
              <a:spcBef>
                <a:spcPts val="660"/>
              </a:spcBef>
              <a:buFont typeface="Arial MT"/>
              <a:buChar char="•"/>
              <a:tabLst>
                <a:tab pos="240665" algn="l"/>
              </a:tabLst>
            </a:pPr>
            <a:r>
              <a:rPr sz="2800" dirty="0">
                <a:latin typeface="Times New Roman"/>
                <a:cs typeface="Times New Roman"/>
              </a:rPr>
              <a:t>Many</a:t>
            </a:r>
            <a:r>
              <a:rPr sz="2800" spc="-45" dirty="0">
                <a:latin typeface="Times New Roman"/>
                <a:cs typeface="Times New Roman"/>
              </a:rPr>
              <a:t> </a:t>
            </a:r>
            <a:r>
              <a:rPr sz="2800" dirty="0">
                <a:latin typeface="Times New Roman"/>
                <a:cs typeface="Times New Roman"/>
              </a:rPr>
              <a:t>changes</a:t>
            </a:r>
            <a:r>
              <a:rPr sz="2800" spc="-50" dirty="0">
                <a:latin typeface="Times New Roman"/>
                <a:cs typeface="Times New Roman"/>
              </a:rPr>
              <a:t> </a:t>
            </a:r>
            <a:r>
              <a:rPr sz="2800" dirty="0">
                <a:latin typeface="Times New Roman"/>
                <a:cs typeface="Times New Roman"/>
              </a:rPr>
              <a:t>in</a:t>
            </a:r>
            <a:r>
              <a:rPr sz="2800" spc="-40" dirty="0">
                <a:latin typeface="Times New Roman"/>
                <a:cs typeface="Times New Roman"/>
              </a:rPr>
              <a:t> </a:t>
            </a:r>
            <a:r>
              <a:rPr sz="2800" dirty="0">
                <a:latin typeface="Times New Roman"/>
                <a:cs typeface="Times New Roman"/>
              </a:rPr>
              <a:t>browser</a:t>
            </a:r>
            <a:r>
              <a:rPr sz="2800" spc="-45" dirty="0">
                <a:latin typeface="Times New Roman"/>
                <a:cs typeface="Times New Roman"/>
              </a:rPr>
              <a:t> </a:t>
            </a:r>
            <a:r>
              <a:rPr sz="2800" dirty="0">
                <a:latin typeface="Times New Roman"/>
                <a:cs typeface="Times New Roman"/>
              </a:rPr>
              <a:t>tools</a:t>
            </a:r>
            <a:r>
              <a:rPr sz="2800" spc="-45" dirty="0">
                <a:latin typeface="Times New Roman"/>
                <a:cs typeface="Times New Roman"/>
              </a:rPr>
              <a:t> </a:t>
            </a:r>
            <a:r>
              <a:rPr sz="2800" dirty="0">
                <a:latin typeface="Times New Roman"/>
                <a:cs typeface="Times New Roman"/>
              </a:rPr>
              <a:t>bar</a:t>
            </a:r>
            <a:r>
              <a:rPr sz="2800" spc="-45" dirty="0">
                <a:latin typeface="Times New Roman"/>
                <a:cs typeface="Times New Roman"/>
              </a:rPr>
              <a:t> </a:t>
            </a:r>
            <a:r>
              <a:rPr sz="2800" dirty="0">
                <a:latin typeface="Times New Roman"/>
                <a:cs typeface="Times New Roman"/>
              </a:rPr>
              <a:t>and</a:t>
            </a:r>
            <a:r>
              <a:rPr sz="2800" spc="-35" dirty="0">
                <a:latin typeface="Times New Roman"/>
                <a:cs typeface="Times New Roman"/>
              </a:rPr>
              <a:t> </a:t>
            </a:r>
            <a:r>
              <a:rPr sz="2800" dirty="0">
                <a:latin typeface="Times New Roman"/>
                <a:cs typeface="Times New Roman"/>
              </a:rPr>
              <a:t>plugins</a:t>
            </a:r>
            <a:r>
              <a:rPr sz="2800" spc="-65" dirty="0">
                <a:latin typeface="Times New Roman"/>
                <a:cs typeface="Times New Roman"/>
              </a:rPr>
              <a:t> </a:t>
            </a:r>
            <a:r>
              <a:rPr sz="2800" spc="-10" dirty="0">
                <a:latin typeface="Times New Roman"/>
                <a:cs typeface="Times New Roman"/>
              </a:rPr>
              <a:t>appear</a:t>
            </a:r>
            <a:endParaRPr sz="2800">
              <a:latin typeface="Times New Roman"/>
              <a:cs typeface="Times New Roman"/>
            </a:endParaRPr>
          </a:p>
          <a:p>
            <a:pPr marL="240665" indent="-227965">
              <a:lnSpc>
                <a:spcPct val="100000"/>
              </a:lnSpc>
              <a:spcBef>
                <a:spcPts val="675"/>
              </a:spcBef>
              <a:buFont typeface="Arial MT"/>
              <a:buChar char="•"/>
              <a:tabLst>
                <a:tab pos="240665" algn="l"/>
              </a:tabLst>
            </a:pPr>
            <a:r>
              <a:rPr sz="2800" dirty="0">
                <a:latin typeface="Times New Roman"/>
                <a:cs typeface="Times New Roman"/>
              </a:rPr>
              <a:t>Advertisements</a:t>
            </a:r>
            <a:r>
              <a:rPr sz="2800" spc="-25" dirty="0">
                <a:latin typeface="Times New Roman"/>
                <a:cs typeface="Times New Roman"/>
              </a:rPr>
              <a:t> </a:t>
            </a:r>
            <a:r>
              <a:rPr sz="2800" dirty="0">
                <a:latin typeface="Times New Roman"/>
                <a:cs typeface="Times New Roman"/>
              </a:rPr>
              <a:t>appear</a:t>
            </a:r>
            <a:r>
              <a:rPr sz="2800" spc="-30" dirty="0">
                <a:latin typeface="Times New Roman"/>
                <a:cs typeface="Times New Roman"/>
              </a:rPr>
              <a:t> </a:t>
            </a:r>
            <a:r>
              <a:rPr sz="2800" dirty="0">
                <a:latin typeface="Times New Roman"/>
                <a:cs typeface="Times New Roman"/>
              </a:rPr>
              <a:t>on</a:t>
            </a:r>
            <a:r>
              <a:rPr sz="2800" spc="-30" dirty="0">
                <a:latin typeface="Times New Roman"/>
                <a:cs typeface="Times New Roman"/>
              </a:rPr>
              <a:t> </a:t>
            </a:r>
            <a:r>
              <a:rPr sz="2800" dirty="0">
                <a:latin typeface="Times New Roman"/>
                <a:cs typeface="Times New Roman"/>
              </a:rPr>
              <a:t>your</a:t>
            </a:r>
            <a:r>
              <a:rPr sz="2800" spc="-35" dirty="0">
                <a:latin typeface="Times New Roman"/>
                <a:cs typeface="Times New Roman"/>
              </a:rPr>
              <a:t> </a:t>
            </a:r>
            <a:r>
              <a:rPr sz="2800" dirty="0">
                <a:latin typeface="Times New Roman"/>
                <a:cs typeface="Times New Roman"/>
              </a:rPr>
              <a:t>screen</a:t>
            </a:r>
            <a:r>
              <a:rPr sz="2800" spc="-35" dirty="0">
                <a:latin typeface="Times New Roman"/>
                <a:cs typeface="Times New Roman"/>
              </a:rPr>
              <a:t> </a:t>
            </a:r>
            <a:r>
              <a:rPr sz="2800" spc="-10" dirty="0">
                <a:latin typeface="Times New Roman"/>
                <a:cs typeface="Times New Roman"/>
              </a:rPr>
              <a:t>incessantly</a:t>
            </a:r>
            <a:endParaRPr sz="2800">
              <a:latin typeface="Times New Roman"/>
              <a:cs typeface="Times New Roman"/>
            </a:endParaRPr>
          </a:p>
          <a:p>
            <a:pPr marL="240665" indent="-227965">
              <a:lnSpc>
                <a:spcPct val="100000"/>
              </a:lnSpc>
              <a:spcBef>
                <a:spcPts val="660"/>
              </a:spcBef>
              <a:buFont typeface="Arial MT"/>
              <a:buChar char="•"/>
              <a:tabLst>
                <a:tab pos="240665" algn="l"/>
              </a:tabLst>
            </a:pPr>
            <a:r>
              <a:rPr sz="2800" dirty="0">
                <a:latin typeface="Times New Roman"/>
                <a:cs typeface="Times New Roman"/>
              </a:rPr>
              <a:t>Internet</a:t>
            </a:r>
            <a:r>
              <a:rPr sz="2800" spc="-75" dirty="0">
                <a:latin typeface="Times New Roman"/>
                <a:cs typeface="Times New Roman"/>
              </a:rPr>
              <a:t> </a:t>
            </a:r>
            <a:r>
              <a:rPr sz="2800" dirty="0">
                <a:latin typeface="Times New Roman"/>
                <a:cs typeface="Times New Roman"/>
              </a:rPr>
              <a:t>bandwidth</a:t>
            </a:r>
            <a:r>
              <a:rPr sz="2800" spc="-75" dirty="0">
                <a:latin typeface="Times New Roman"/>
                <a:cs typeface="Times New Roman"/>
              </a:rPr>
              <a:t> </a:t>
            </a:r>
            <a:r>
              <a:rPr sz="2800" spc="-10" dirty="0">
                <a:latin typeface="Times New Roman"/>
                <a:cs typeface="Times New Roman"/>
              </a:rPr>
              <a:t>chokes</a:t>
            </a:r>
            <a:endParaRPr sz="2800">
              <a:latin typeface="Times New Roman"/>
              <a:cs typeface="Times New Roman"/>
            </a:endParaRPr>
          </a:p>
          <a:p>
            <a:pPr marL="240665" indent="-227965">
              <a:lnSpc>
                <a:spcPct val="100000"/>
              </a:lnSpc>
              <a:spcBef>
                <a:spcPts val="660"/>
              </a:spcBef>
              <a:buFont typeface="Arial MT"/>
              <a:buChar char="•"/>
              <a:tabLst>
                <a:tab pos="240665" algn="l"/>
              </a:tabLst>
            </a:pPr>
            <a:r>
              <a:rPr sz="2800" dirty="0">
                <a:latin typeface="Times New Roman"/>
                <a:cs typeface="Times New Roman"/>
              </a:rPr>
              <a:t>Search</a:t>
            </a:r>
            <a:r>
              <a:rPr sz="2800" spc="-35" dirty="0">
                <a:latin typeface="Times New Roman"/>
                <a:cs typeface="Times New Roman"/>
              </a:rPr>
              <a:t> </a:t>
            </a:r>
            <a:r>
              <a:rPr sz="2800" dirty="0">
                <a:latin typeface="Times New Roman"/>
                <a:cs typeface="Times New Roman"/>
              </a:rPr>
              <a:t>engine</a:t>
            </a:r>
            <a:r>
              <a:rPr sz="2800" spc="-55" dirty="0">
                <a:latin typeface="Times New Roman"/>
                <a:cs typeface="Times New Roman"/>
              </a:rPr>
              <a:t> </a:t>
            </a:r>
            <a:r>
              <a:rPr sz="2800" dirty="0">
                <a:latin typeface="Times New Roman"/>
                <a:cs typeface="Times New Roman"/>
              </a:rPr>
              <a:t>and</a:t>
            </a:r>
            <a:r>
              <a:rPr sz="2800" spc="-45" dirty="0">
                <a:latin typeface="Times New Roman"/>
                <a:cs typeface="Times New Roman"/>
              </a:rPr>
              <a:t> </a:t>
            </a:r>
            <a:r>
              <a:rPr sz="2800" dirty="0">
                <a:latin typeface="Times New Roman"/>
                <a:cs typeface="Times New Roman"/>
              </a:rPr>
              <a:t>other</a:t>
            </a:r>
            <a:r>
              <a:rPr sz="2800" spc="-55" dirty="0">
                <a:latin typeface="Times New Roman"/>
                <a:cs typeface="Times New Roman"/>
              </a:rPr>
              <a:t> </a:t>
            </a:r>
            <a:r>
              <a:rPr sz="2800" dirty="0">
                <a:latin typeface="Times New Roman"/>
                <a:cs typeface="Times New Roman"/>
              </a:rPr>
              <a:t>preferences</a:t>
            </a:r>
            <a:r>
              <a:rPr sz="2800" spc="-45" dirty="0">
                <a:latin typeface="Times New Roman"/>
                <a:cs typeface="Times New Roman"/>
              </a:rPr>
              <a:t> </a:t>
            </a:r>
            <a:r>
              <a:rPr sz="2800" spc="-10" dirty="0">
                <a:latin typeface="Times New Roman"/>
                <a:cs typeface="Times New Roman"/>
              </a:rPr>
              <a:t>change</a:t>
            </a:r>
            <a:endParaRPr sz="2800">
              <a:latin typeface="Times New Roman"/>
              <a:cs typeface="Times New Roman"/>
            </a:endParaRPr>
          </a:p>
        </p:txBody>
      </p:sp>
    </p:spTree>
    <p:extLst>
      <p:ext uri="{BB962C8B-B14F-4D97-AF65-F5344CB8AC3E}">
        <p14:creationId xmlns:p14="http://schemas.microsoft.com/office/powerpoint/2010/main" val="34525851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35127" rIns="0" bIns="0" rtlCol="0">
            <a:spAutoFit/>
          </a:bodyPr>
          <a:lstStyle/>
          <a:p>
            <a:pPr marL="12700">
              <a:lnSpc>
                <a:spcPct val="100000"/>
              </a:lnSpc>
              <a:spcBef>
                <a:spcPts val="105"/>
              </a:spcBef>
            </a:pPr>
            <a:r>
              <a:rPr spc="-65" dirty="0"/>
              <a:t>SPYWARE</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3" name="object 3"/>
          <p:cNvSpPr txBox="1">
            <a:spLocks noGrp="1"/>
          </p:cNvSpPr>
          <p:nvPr>
            <p:ph type="body" idx="1"/>
          </p:nvPr>
        </p:nvSpPr>
        <p:spPr>
          <a:prstGeom prst="rect">
            <a:avLst/>
          </a:prstGeom>
        </p:spPr>
        <p:txBody>
          <a:bodyPr vert="horz" wrap="square" lIns="0" tIns="426592" rIns="0" bIns="0" rtlCol="0">
            <a:spAutoFit/>
          </a:bodyPr>
          <a:lstStyle/>
          <a:p>
            <a:pPr marL="12700" marR="5080">
              <a:lnSpc>
                <a:spcPct val="80000"/>
              </a:lnSpc>
              <a:spcBef>
                <a:spcPts val="765"/>
              </a:spcBef>
            </a:pPr>
            <a:r>
              <a:rPr dirty="0"/>
              <a:t>Owing</a:t>
            </a:r>
            <a:r>
              <a:rPr spc="-35" dirty="0"/>
              <a:t> </a:t>
            </a:r>
            <a:r>
              <a:rPr dirty="0"/>
              <a:t>to</a:t>
            </a:r>
            <a:r>
              <a:rPr spc="-55" dirty="0"/>
              <a:t> </a:t>
            </a:r>
            <a:r>
              <a:rPr dirty="0"/>
              <a:t>the</a:t>
            </a:r>
            <a:r>
              <a:rPr spc="-55" dirty="0"/>
              <a:t> </a:t>
            </a:r>
            <a:r>
              <a:rPr dirty="0"/>
              <a:t>expanding</a:t>
            </a:r>
            <a:r>
              <a:rPr spc="-70" dirty="0"/>
              <a:t> </a:t>
            </a:r>
            <a:r>
              <a:rPr dirty="0"/>
              <a:t>volume</a:t>
            </a:r>
            <a:r>
              <a:rPr spc="-50" dirty="0"/>
              <a:t> </a:t>
            </a:r>
            <a:r>
              <a:rPr dirty="0"/>
              <a:t>of</a:t>
            </a:r>
            <a:r>
              <a:rPr spc="-50" dirty="0"/>
              <a:t> </a:t>
            </a:r>
            <a:r>
              <a:rPr dirty="0"/>
              <a:t>online</a:t>
            </a:r>
            <a:r>
              <a:rPr spc="-80" dirty="0"/>
              <a:t> </a:t>
            </a:r>
            <a:r>
              <a:rPr dirty="0"/>
              <a:t>advertisement,</a:t>
            </a:r>
            <a:r>
              <a:rPr spc="-50" dirty="0"/>
              <a:t> </a:t>
            </a:r>
            <a:r>
              <a:rPr spc="-10" dirty="0"/>
              <a:t>digital </a:t>
            </a:r>
            <a:r>
              <a:rPr dirty="0"/>
              <a:t>marketing,</a:t>
            </a:r>
            <a:r>
              <a:rPr spc="-55" dirty="0"/>
              <a:t> </a:t>
            </a:r>
            <a:r>
              <a:rPr dirty="0"/>
              <a:t>and</a:t>
            </a:r>
            <a:r>
              <a:rPr spc="-50" dirty="0"/>
              <a:t> </a:t>
            </a:r>
            <a:r>
              <a:rPr dirty="0"/>
              <a:t>electronic</a:t>
            </a:r>
            <a:r>
              <a:rPr spc="-70" dirty="0"/>
              <a:t> </a:t>
            </a:r>
            <a:r>
              <a:rPr dirty="0"/>
              <a:t>commerce,</a:t>
            </a:r>
            <a:r>
              <a:rPr spc="-15" dirty="0"/>
              <a:t> </a:t>
            </a:r>
            <a:r>
              <a:rPr dirty="0"/>
              <a:t>the</a:t>
            </a:r>
            <a:r>
              <a:rPr spc="-70" dirty="0"/>
              <a:t> </a:t>
            </a:r>
            <a:r>
              <a:rPr dirty="0"/>
              <a:t>number</a:t>
            </a:r>
            <a:r>
              <a:rPr spc="-35" dirty="0"/>
              <a:t> </a:t>
            </a:r>
            <a:r>
              <a:rPr dirty="0"/>
              <a:t>of</a:t>
            </a:r>
            <a:r>
              <a:rPr spc="-40" dirty="0"/>
              <a:t> </a:t>
            </a:r>
            <a:r>
              <a:rPr dirty="0"/>
              <a:t>spyware</a:t>
            </a:r>
            <a:r>
              <a:rPr spc="-55" dirty="0"/>
              <a:t> </a:t>
            </a:r>
            <a:r>
              <a:rPr dirty="0"/>
              <a:t>is</a:t>
            </a:r>
            <a:r>
              <a:rPr spc="-55" dirty="0"/>
              <a:t> </a:t>
            </a:r>
            <a:r>
              <a:rPr spc="-20" dirty="0"/>
              <a:t>also </a:t>
            </a:r>
            <a:r>
              <a:rPr dirty="0"/>
              <a:t>increasing</a:t>
            </a:r>
            <a:r>
              <a:rPr spc="-30" dirty="0"/>
              <a:t> </a:t>
            </a:r>
            <a:r>
              <a:rPr dirty="0"/>
              <a:t>in</a:t>
            </a:r>
            <a:r>
              <a:rPr spc="-25" dirty="0"/>
              <a:t> </a:t>
            </a:r>
            <a:r>
              <a:rPr dirty="0"/>
              <a:t>the</a:t>
            </a:r>
            <a:r>
              <a:rPr spc="-20" dirty="0"/>
              <a:t> </a:t>
            </a:r>
            <a:r>
              <a:rPr dirty="0"/>
              <a:t>marketplace.</a:t>
            </a:r>
            <a:r>
              <a:rPr spc="-20" dirty="0"/>
              <a:t> </a:t>
            </a:r>
            <a:r>
              <a:rPr dirty="0"/>
              <a:t>Newer</a:t>
            </a:r>
            <a:r>
              <a:rPr spc="5" dirty="0"/>
              <a:t> </a:t>
            </a:r>
            <a:r>
              <a:rPr dirty="0"/>
              <a:t>types</a:t>
            </a:r>
            <a:r>
              <a:rPr spc="-35" dirty="0"/>
              <a:t> </a:t>
            </a:r>
            <a:r>
              <a:rPr dirty="0"/>
              <a:t>of</a:t>
            </a:r>
            <a:r>
              <a:rPr spc="-10" dirty="0"/>
              <a:t> </a:t>
            </a:r>
            <a:r>
              <a:rPr dirty="0"/>
              <a:t>spyware</a:t>
            </a:r>
            <a:r>
              <a:rPr spc="-20" dirty="0"/>
              <a:t> </a:t>
            </a:r>
            <a:r>
              <a:rPr dirty="0"/>
              <a:t>are</a:t>
            </a:r>
            <a:r>
              <a:rPr spc="-20" dirty="0"/>
              <a:t> </a:t>
            </a:r>
            <a:r>
              <a:rPr spc="-10" dirty="0"/>
              <a:t>being </a:t>
            </a:r>
            <a:r>
              <a:rPr dirty="0"/>
              <a:t>launched</a:t>
            </a:r>
            <a:r>
              <a:rPr spc="-40" dirty="0"/>
              <a:t> </a:t>
            </a:r>
            <a:r>
              <a:rPr dirty="0"/>
              <a:t>to</a:t>
            </a:r>
            <a:r>
              <a:rPr spc="-20" dirty="0"/>
              <a:t> </a:t>
            </a:r>
            <a:r>
              <a:rPr dirty="0"/>
              <a:t>spy</a:t>
            </a:r>
            <a:r>
              <a:rPr spc="-25" dirty="0"/>
              <a:t> </a:t>
            </a:r>
            <a:r>
              <a:rPr dirty="0"/>
              <a:t>on</a:t>
            </a:r>
            <a:r>
              <a:rPr spc="-20" dirty="0"/>
              <a:t> </a:t>
            </a:r>
            <a:r>
              <a:rPr dirty="0"/>
              <a:t>the</a:t>
            </a:r>
            <a:r>
              <a:rPr spc="-35" dirty="0"/>
              <a:t> </a:t>
            </a:r>
            <a:r>
              <a:rPr dirty="0"/>
              <a:t>behavior</a:t>
            </a:r>
            <a:r>
              <a:rPr spc="-30" dirty="0"/>
              <a:t> </a:t>
            </a:r>
            <a:r>
              <a:rPr dirty="0"/>
              <a:t>of</a:t>
            </a:r>
            <a:r>
              <a:rPr spc="-20" dirty="0"/>
              <a:t> </a:t>
            </a:r>
            <a:r>
              <a:rPr dirty="0"/>
              <a:t>the</a:t>
            </a:r>
            <a:r>
              <a:rPr spc="-25" dirty="0"/>
              <a:t> </a:t>
            </a:r>
            <a:r>
              <a:rPr dirty="0"/>
              <a:t>online</a:t>
            </a:r>
            <a:r>
              <a:rPr spc="-45" dirty="0"/>
              <a:t> </a:t>
            </a:r>
            <a:r>
              <a:rPr dirty="0"/>
              <a:t>users.</a:t>
            </a:r>
            <a:r>
              <a:rPr spc="-85" dirty="0"/>
              <a:t> </a:t>
            </a:r>
            <a:r>
              <a:rPr dirty="0"/>
              <a:t>The</a:t>
            </a:r>
            <a:r>
              <a:rPr spc="-30" dirty="0"/>
              <a:t> </a:t>
            </a:r>
            <a:r>
              <a:rPr dirty="0"/>
              <a:t>main</a:t>
            </a:r>
            <a:r>
              <a:rPr spc="-20" dirty="0"/>
              <a:t> </a:t>
            </a:r>
            <a:r>
              <a:rPr spc="-10" dirty="0"/>
              <a:t>categories </a:t>
            </a:r>
            <a:r>
              <a:rPr dirty="0"/>
              <a:t>of</a:t>
            </a:r>
            <a:r>
              <a:rPr spc="-20" dirty="0"/>
              <a:t> </a:t>
            </a:r>
            <a:r>
              <a:rPr dirty="0"/>
              <a:t>the</a:t>
            </a:r>
            <a:r>
              <a:rPr spc="-25" dirty="0"/>
              <a:t> </a:t>
            </a:r>
            <a:r>
              <a:rPr dirty="0"/>
              <a:t>spyware</a:t>
            </a:r>
            <a:r>
              <a:rPr spc="-30" dirty="0"/>
              <a:t> </a:t>
            </a:r>
            <a:r>
              <a:rPr dirty="0"/>
              <a:t>are</a:t>
            </a:r>
            <a:r>
              <a:rPr spc="-25" dirty="0"/>
              <a:t> </a:t>
            </a:r>
            <a:r>
              <a:rPr dirty="0"/>
              <a:t>listed</a:t>
            </a:r>
            <a:r>
              <a:rPr spc="-45" dirty="0"/>
              <a:t> </a:t>
            </a:r>
            <a:r>
              <a:rPr spc="-10" dirty="0"/>
              <a:t>below:</a:t>
            </a:r>
          </a:p>
          <a:p>
            <a:pPr marL="240665" indent="-227965">
              <a:lnSpc>
                <a:spcPct val="100000"/>
              </a:lnSpc>
              <a:spcBef>
                <a:spcPts val="340"/>
              </a:spcBef>
              <a:buFont typeface="Arial MT"/>
              <a:buChar char="•"/>
              <a:tabLst>
                <a:tab pos="240665" algn="l"/>
              </a:tabLst>
            </a:pPr>
            <a:r>
              <a:rPr dirty="0"/>
              <a:t>Modem</a:t>
            </a:r>
            <a:r>
              <a:rPr spc="-40" dirty="0"/>
              <a:t> </a:t>
            </a:r>
            <a:r>
              <a:rPr dirty="0"/>
              <a:t>hijacker</a:t>
            </a:r>
            <a:r>
              <a:rPr spc="-25" dirty="0"/>
              <a:t> </a:t>
            </a:r>
            <a:r>
              <a:rPr spc="-10" dirty="0"/>
              <a:t>spyware</a:t>
            </a:r>
          </a:p>
          <a:p>
            <a:pPr marL="240029" indent="-227329">
              <a:lnSpc>
                <a:spcPct val="100000"/>
              </a:lnSpc>
              <a:spcBef>
                <a:spcPts val="320"/>
              </a:spcBef>
              <a:buFont typeface="Arial MT"/>
              <a:buChar char="•"/>
              <a:tabLst>
                <a:tab pos="240029" algn="l"/>
              </a:tabLst>
            </a:pPr>
            <a:r>
              <a:rPr dirty="0"/>
              <a:t>Browser</a:t>
            </a:r>
            <a:r>
              <a:rPr spc="-70" dirty="0"/>
              <a:t> </a:t>
            </a:r>
            <a:r>
              <a:rPr dirty="0"/>
              <a:t>hijacker</a:t>
            </a:r>
            <a:r>
              <a:rPr spc="-85" dirty="0"/>
              <a:t> </a:t>
            </a:r>
            <a:r>
              <a:rPr spc="-10" dirty="0"/>
              <a:t>spyware</a:t>
            </a:r>
          </a:p>
          <a:p>
            <a:pPr marL="240665" indent="-227965">
              <a:lnSpc>
                <a:spcPct val="100000"/>
              </a:lnSpc>
              <a:spcBef>
                <a:spcPts val="330"/>
              </a:spcBef>
              <a:buFont typeface="Arial MT"/>
              <a:buChar char="•"/>
              <a:tabLst>
                <a:tab pos="240665" algn="l"/>
              </a:tabLst>
            </a:pPr>
            <a:r>
              <a:rPr dirty="0"/>
              <a:t>Keyboard</a:t>
            </a:r>
            <a:r>
              <a:rPr spc="-75" dirty="0"/>
              <a:t> </a:t>
            </a:r>
            <a:r>
              <a:rPr dirty="0"/>
              <a:t>logger</a:t>
            </a:r>
            <a:r>
              <a:rPr spc="-95" dirty="0"/>
              <a:t> </a:t>
            </a:r>
            <a:r>
              <a:rPr spc="-10" dirty="0"/>
              <a:t>spyware</a:t>
            </a:r>
          </a:p>
          <a:p>
            <a:pPr marL="240665" indent="-227965">
              <a:lnSpc>
                <a:spcPct val="100000"/>
              </a:lnSpc>
              <a:spcBef>
                <a:spcPts val="335"/>
              </a:spcBef>
              <a:buFont typeface="Arial MT"/>
              <a:buChar char="•"/>
              <a:tabLst>
                <a:tab pos="240665" algn="l"/>
              </a:tabLst>
            </a:pPr>
            <a:r>
              <a:rPr dirty="0"/>
              <a:t>Commercial</a:t>
            </a:r>
            <a:r>
              <a:rPr spc="-30" dirty="0"/>
              <a:t> </a:t>
            </a:r>
            <a:r>
              <a:rPr spc="-10" dirty="0"/>
              <a:t>spyware</a:t>
            </a:r>
          </a:p>
          <a:p>
            <a:pPr marL="240029" indent="-227329">
              <a:lnSpc>
                <a:spcPct val="100000"/>
              </a:lnSpc>
              <a:spcBef>
                <a:spcPts val="325"/>
              </a:spcBef>
              <a:buFont typeface="Arial MT"/>
              <a:buChar char="•"/>
              <a:tabLst>
                <a:tab pos="240029" algn="l"/>
              </a:tabLst>
            </a:pPr>
            <a:r>
              <a:rPr dirty="0"/>
              <a:t>Majority</a:t>
            </a:r>
            <a:r>
              <a:rPr spc="-45" dirty="0"/>
              <a:t> </a:t>
            </a:r>
            <a:r>
              <a:rPr dirty="0"/>
              <a:t>of</a:t>
            </a:r>
            <a:r>
              <a:rPr spc="-35" dirty="0"/>
              <a:t> </a:t>
            </a:r>
            <a:r>
              <a:rPr dirty="0"/>
              <a:t>adware</a:t>
            </a:r>
            <a:r>
              <a:rPr spc="-45" dirty="0"/>
              <a:t> </a:t>
            </a:r>
            <a:r>
              <a:rPr dirty="0"/>
              <a:t>programs</a:t>
            </a:r>
            <a:r>
              <a:rPr spc="-35" dirty="0"/>
              <a:t> </a:t>
            </a:r>
            <a:r>
              <a:rPr dirty="0"/>
              <a:t>broadly</a:t>
            </a:r>
            <a:r>
              <a:rPr spc="-50" dirty="0"/>
              <a:t> </a:t>
            </a:r>
            <a:r>
              <a:rPr dirty="0"/>
              <a:t>fall</a:t>
            </a:r>
            <a:r>
              <a:rPr spc="-45" dirty="0"/>
              <a:t> </a:t>
            </a:r>
            <a:r>
              <a:rPr dirty="0"/>
              <a:t>under</a:t>
            </a:r>
            <a:r>
              <a:rPr spc="-55" dirty="0"/>
              <a:t> </a:t>
            </a:r>
            <a:r>
              <a:rPr dirty="0"/>
              <a:t>spyware</a:t>
            </a:r>
            <a:r>
              <a:rPr spc="-45" dirty="0"/>
              <a:t> </a:t>
            </a:r>
            <a:r>
              <a:rPr spc="-10" dirty="0"/>
              <a:t>category</a:t>
            </a:r>
          </a:p>
        </p:txBody>
      </p:sp>
    </p:spTree>
    <p:extLst>
      <p:ext uri="{BB962C8B-B14F-4D97-AF65-F5344CB8AC3E}">
        <p14:creationId xmlns:p14="http://schemas.microsoft.com/office/powerpoint/2010/main" val="795197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35127" rIns="0" bIns="0" rtlCol="0">
            <a:spAutoFit/>
          </a:bodyPr>
          <a:lstStyle/>
          <a:p>
            <a:pPr marL="12700">
              <a:lnSpc>
                <a:spcPct val="100000"/>
              </a:lnSpc>
              <a:spcBef>
                <a:spcPts val="105"/>
              </a:spcBef>
            </a:pPr>
            <a:r>
              <a:rPr spc="-65" dirty="0"/>
              <a:t>SPYWARE</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3" name="object 3"/>
          <p:cNvSpPr txBox="1"/>
          <p:nvPr/>
        </p:nvSpPr>
        <p:spPr>
          <a:xfrm>
            <a:off x="916939" y="1807210"/>
            <a:ext cx="10300970" cy="3785235"/>
          </a:xfrm>
          <a:prstGeom prst="rect">
            <a:avLst/>
          </a:prstGeom>
        </p:spPr>
        <p:txBody>
          <a:bodyPr vert="horz" wrap="square" lIns="0" tIns="52705" rIns="0" bIns="0" rtlCol="0">
            <a:spAutoFit/>
          </a:bodyPr>
          <a:lstStyle/>
          <a:p>
            <a:pPr marL="241300" marR="52069" indent="-229235">
              <a:lnSpc>
                <a:spcPct val="90000"/>
              </a:lnSpc>
              <a:spcBef>
                <a:spcPts val="415"/>
              </a:spcBef>
              <a:buFont typeface="Arial MT"/>
              <a:buChar char="•"/>
              <a:tabLst>
                <a:tab pos="241300" algn="l"/>
              </a:tabLst>
            </a:pPr>
            <a:r>
              <a:rPr sz="2600" dirty="0">
                <a:latin typeface="Times New Roman"/>
                <a:cs typeface="Times New Roman"/>
              </a:rPr>
              <a:t>In</a:t>
            </a:r>
            <a:r>
              <a:rPr sz="2600" spc="-30" dirty="0">
                <a:latin typeface="Times New Roman"/>
                <a:cs typeface="Times New Roman"/>
              </a:rPr>
              <a:t> </a:t>
            </a:r>
            <a:r>
              <a:rPr sz="2600" spc="-10" dirty="0">
                <a:latin typeface="Times New Roman"/>
                <a:cs typeface="Times New Roman"/>
              </a:rPr>
              <a:t>today’s</a:t>
            </a:r>
            <a:r>
              <a:rPr sz="2600" spc="-35" dirty="0">
                <a:latin typeface="Times New Roman"/>
                <a:cs typeface="Times New Roman"/>
              </a:rPr>
              <a:t> </a:t>
            </a:r>
            <a:r>
              <a:rPr sz="2600" dirty="0">
                <a:latin typeface="Times New Roman"/>
                <a:cs typeface="Times New Roman"/>
              </a:rPr>
              <a:t>Internet,</a:t>
            </a:r>
            <a:r>
              <a:rPr sz="2600" spc="-30" dirty="0">
                <a:latin typeface="Times New Roman"/>
                <a:cs typeface="Times New Roman"/>
              </a:rPr>
              <a:t> </a:t>
            </a:r>
            <a:r>
              <a:rPr sz="2600" dirty="0">
                <a:latin typeface="Times New Roman"/>
                <a:cs typeface="Times New Roman"/>
              </a:rPr>
              <a:t>where</a:t>
            </a:r>
            <a:r>
              <a:rPr sz="2600" spc="-35" dirty="0">
                <a:latin typeface="Times New Roman"/>
                <a:cs typeface="Times New Roman"/>
              </a:rPr>
              <a:t> </a:t>
            </a:r>
            <a:r>
              <a:rPr sz="2600" dirty="0">
                <a:latin typeface="Times New Roman"/>
                <a:cs typeface="Times New Roman"/>
              </a:rPr>
              <a:t>our</a:t>
            </a:r>
            <a:r>
              <a:rPr sz="2600" spc="-45" dirty="0">
                <a:latin typeface="Times New Roman"/>
                <a:cs typeface="Times New Roman"/>
              </a:rPr>
              <a:t> </a:t>
            </a:r>
            <a:r>
              <a:rPr sz="2600" dirty="0">
                <a:latin typeface="Times New Roman"/>
                <a:cs typeface="Times New Roman"/>
              </a:rPr>
              <a:t>behavior</a:t>
            </a:r>
            <a:r>
              <a:rPr sz="2600" spc="-40" dirty="0">
                <a:latin typeface="Times New Roman"/>
                <a:cs typeface="Times New Roman"/>
              </a:rPr>
              <a:t> </a:t>
            </a:r>
            <a:r>
              <a:rPr sz="2600" dirty="0">
                <a:latin typeface="Times New Roman"/>
                <a:cs typeface="Times New Roman"/>
              </a:rPr>
              <a:t>is</a:t>
            </a:r>
            <a:r>
              <a:rPr sz="2600" spc="-15" dirty="0">
                <a:latin typeface="Times New Roman"/>
                <a:cs typeface="Times New Roman"/>
              </a:rPr>
              <a:t> </a:t>
            </a:r>
            <a:r>
              <a:rPr sz="2600" dirty="0">
                <a:latin typeface="Times New Roman"/>
                <a:cs typeface="Times New Roman"/>
              </a:rPr>
              <a:t>tracked</a:t>
            </a:r>
            <a:r>
              <a:rPr sz="2600" spc="-35" dirty="0">
                <a:latin typeface="Times New Roman"/>
                <a:cs typeface="Times New Roman"/>
              </a:rPr>
              <a:t> </a:t>
            </a:r>
            <a:r>
              <a:rPr sz="2600" dirty="0">
                <a:latin typeface="Times New Roman"/>
                <a:cs typeface="Times New Roman"/>
              </a:rPr>
              <a:t>through</a:t>
            </a:r>
            <a:r>
              <a:rPr sz="2600" spc="-25" dirty="0">
                <a:latin typeface="Times New Roman"/>
                <a:cs typeface="Times New Roman"/>
              </a:rPr>
              <a:t> </a:t>
            </a:r>
            <a:r>
              <a:rPr sz="2600" spc="-10" dirty="0">
                <a:latin typeface="Times New Roman"/>
                <a:cs typeface="Times New Roman"/>
              </a:rPr>
              <a:t>multiple </a:t>
            </a:r>
            <a:r>
              <a:rPr sz="2600" dirty="0">
                <a:latin typeface="Times New Roman"/>
                <a:cs typeface="Times New Roman"/>
              </a:rPr>
              <a:t>legitimate</a:t>
            </a:r>
            <a:r>
              <a:rPr sz="2600" spc="-20" dirty="0">
                <a:latin typeface="Times New Roman"/>
                <a:cs typeface="Times New Roman"/>
              </a:rPr>
              <a:t> </a:t>
            </a:r>
            <a:r>
              <a:rPr sz="2600" dirty="0">
                <a:latin typeface="Times New Roman"/>
                <a:cs typeface="Times New Roman"/>
              </a:rPr>
              <a:t>ways</a:t>
            </a:r>
            <a:r>
              <a:rPr sz="2600" spc="-45" dirty="0">
                <a:latin typeface="Times New Roman"/>
                <a:cs typeface="Times New Roman"/>
              </a:rPr>
              <a:t> </a:t>
            </a:r>
            <a:r>
              <a:rPr sz="2600" dirty="0">
                <a:latin typeface="Times New Roman"/>
                <a:cs typeface="Times New Roman"/>
              </a:rPr>
              <a:t>powered</a:t>
            </a:r>
            <a:r>
              <a:rPr sz="2600" spc="-70" dirty="0">
                <a:latin typeface="Times New Roman"/>
                <a:cs typeface="Times New Roman"/>
              </a:rPr>
              <a:t> </a:t>
            </a:r>
            <a:r>
              <a:rPr sz="2600" dirty="0">
                <a:latin typeface="Times New Roman"/>
                <a:cs typeface="Times New Roman"/>
              </a:rPr>
              <a:t>by</a:t>
            </a:r>
            <a:r>
              <a:rPr sz="2600" spc="-30" dirty="0">
                <a:latin typeface="Times New Roman"/>
                <a:cs typeface="Times New Roman"/>
              </a:rPr>
              <a:t> </a:t>
            </a:r>
            <a:r>
              <a:rPr sz="2600" dirty="0">
                <a:latin typeface="Times New Roman"/>
                <a:cs typeface="Times New Roman"/>
              </a:rPr>
              <a:t>artificial</a:t>
            </a:r>
            <a:r>
              <a:rPr sz="2600" spc="-35" dirty="0">
                <a:latin typeface="Times New Roman"/>
                <a:cs typeface="Times New Roman"/>
              </a:rPr>
              <a:t> </a:t>
            </a:r>
            <a:r>
              <a:rPr sz="2600" dirty="0">
                <a:latin typeface="Times New Roman"/>
                <a:cs typeface="Times New Roman"/>
              </a:rPr>
              <a:t>intelligence,</a:t>
            </a:r>
            <a:r>
              <a:rPr sz="2600" spc="-30" dirty="0">
                <a:latin typeface="Times New Roman"/>
                <a:cs typeface="Times New Roman"/>
              </a:rPr>
              <a:t> </a:t>
            </a:r>
            <a:r>
              <a:rPr sz="2600" dirty="0">
                <a:latin typeface="Times New Roman"/>
                <a:cs typeface="Times New Roman"/>
              </a:rPr>
              <a:t>it</a:t>
            </a:r>
            <a:r>
              <a:rPr sz="2600" spc="-25" dirty="0">
                <a:latin typeface="Times New Roman"/>
                <a:cs typeface="Times New Roman"/>
              </a:rPr>
              <a:t> </a:t>
            </a:r>
            <a:r>
              <a:rPr sz="2600" dirty="0">
                <a:latin typeface="Times New Roman"/>
                <a:cs typeface="Times New Roman"/>
              </a:rPr>
              <a:t>is</a:t>
            </a:r>
            <a:r>
              <a:rPr sz="2600" spc="-30" dirty="0">
                <a:latin typeface="Times New Roman"/>
                <a:cs typeface="Times New Roman"/>
              </a:rPr>
              <a:t> </a:t>
            </a:r>
            <a:r>
              <a:rPr sz="2600" dirty="0">
                <a:latin typeface="Times New Roman"/>
                <a:cs typeface="Times New Roman"/>
              </a:rPr>
              <a:t>very</a:t>
            </a:r>
            <a:r>
              <a:rPr sz="2600" spc="-55" dirty="0">
                <a:latin typeface="Times New Roman"/>
                <a:cs typeface="Times New Roman"/>
              </a:rPr>
              <a:t> </a:t>
            </a:r>
            <a:r>
              <a:rPr sz="2600" dirty="0">
                <a:latin typeface="Times New Roman"/>
                <a:cs typeface="Times New Roman"/>
              </a:rPr>
              <a:t>difficult</a:t>
            </a:r>
            <a:r>
              <a:rPr sz="2600" spc="-30" dirty="0">
                <a:latin typeface="Times New Roman"/>
                <a:cs typeface="Times New Roman"/>
              </a:rPr>
              <a:t> </a:t>
            </a:r>
            <a:r>
              <a:rPr sz="2600" dirty="0">
                <a:latin typeface="Times New Roman"/>
                <a:cs typeface="Times New Roman"/>
              </a:rPr>
              <a:t>to</a:t>
            </a:r>
            <a:r>
              <a:rPr sz="2600" spc="-35" dirty="0">
                <a:latin typeface="Times New Roman"/>
                <a:cs typeface="Times New Roman"/>
              </a:rPr>
              <a:t> </a:t>
            </a:r>
            <a:r>
              <a:rPr sz="2600" spc="-20" dirty="0">
                <a:latin typeface="Times New Roman"/>
                <a:cs typeface="Times New Roman"/>
              </a:rPr>
              <a:t>save </a:t>
            </a:r>
            <a:r>
              <a:rPr sz="2600" dirty="0">
                <a:latin typeface="Times New Roman"/>
                <a:cs typeface="Times New Roman"/>
              </a:rPr>
              <a:t>ourselves</a:t>
            </a:r>
            <a:r>
              <a:rPr sz="2600" spc="-35" dirty="0">
                <a:latin typeface="Times New Roman"/>
                <a:cs typeface="Times New Roman"/>
              </a:rPr>
              <a:t> </a:t>
            </a:r>
            <a:r>
              <a:rPr sz="2600" dirty="0">
                <a:latin typeface="Times New Roman"/>
                <a:cs typeface="Times New Roman"/>
              </a:rPr>
              <a:t>from</a:t>
            </a:r>
            <a:r>
              <a:rPr sz="2600" spc="-25" dirty="0">
                <a:latin typeface="Times New Roman"/>
                <a:cs typeface="Times New Roman"/>
              </a:rPr>
              <a:t> </a:t>
            </a:r>
            <a:r>
              <a:rPr sz="2600" dirty="0">
                <a:latin typeface="Times New Roman"/>
                <a:cs typeface="Times New Roman"/>
              </a:rPr>
              <a:t>the</a:t>
            </a:r>
            <a:r>
              <a:rPr sz="2600" spc="-25" dirty="0">
                <a:latin typeface="Times New Roman"/>
                <a:cs typeface="Times New Roman"/>
              </a:rPr>
              <a:t> </a:t>
            </a:r>
            <a:r>
              <a:rPr sz="2600" dirty="0">
                <a:latin typeface="Times New Roman"/>
                <a:cs typeface="Times New Roman"/>
              </a:rPr>
              <a:t>impact</a:t>
            </a:r>
            <a:r>
              <a:rPr sz="2600" spc="-25" dirty="0">
                <a:latin typeface="Times New Roman"/>
                <a:cs typeface="Times New Roman"/>
              </a:rPr>
              <a:t> </a:t>
            </a:r>
            <a:r>
              <a:rPr sz="2600" dirty="0">
                <a:latin typeface="Times New Roman"/>
                <a:cs typeface="Times New Roman"/>
              </a:rPr>
              <a:t>of</a:t>
            </a:r>
            <a:r>
              <a:rPr sz="2600" spc="-15" dirty="0">
                <a:latin typeface="Times New Roman"/>
                <a:cs typeface="Times New Roman"/>
              </a:rPr>
              <a:t> </a:t>
            </a:r>
            <a:r>
              <a:rPr sz="2600" dirty="0">
                <a:latin typeface="Times New Roman"/>
                <a:cs typeface="Times New Roman"/>
              </a:rPr>
              <a:t>the</a:t>
            </a:r>
            <a:r>
              <a:rPr sz="2600" spc="-15" dirty="0">
                <a:latin typeface="Times New Roman"/>
                <a:cs typeface="Times New Roman"/>
              </a:rPr>
              <a:t> </a:t>
            </a:r>
            <a:r>
              <a:rPr sz="2600" dirty="0">
                <a:latin typeface="Times New Roman"/>
                <a:cs typeface="Times New Roman"/>
              </a:rPr>
              <a:t>spywares.</a:t>
            </a:r>
            <a:r>
              <a:rPr sz="2600" spc="-55" dirty="0">
                <a:latin typeface="Times New Roman"/>
                <a:cs typeface="Times New Roman"/>
              </a:rPr>
              <a:t> </a:t>
            </a:r>
            <a:r>
              <a:rPr sz="2600" dirty="0">
                <a:latin typeface="Times New Roman"/>
                <a:cs typeface="Times New Roman"/>
              </a:rPr>
              <a:t>But</a:t>
            </a:r>
            <a:r>
              <a:rPr sz="2600" spc="-15" dirty="0">
                <a:latin typeface="Times New Roman"/>
                <a:cs typeface="Times New Roman"/>
              </a:rPr>
              <a:t> </a:t>
            </a:r>
            <a:r>
              <a:rPr sz="2600" dirty="0">
                <a:latin typeface="Times New Roman"/>
                <a:cs typeface="Times New Roman"/>
              </a:rPr>
              <a:t>some</a:t>
            </a:r>
            <a:r>
              <a:rPr sz="2600" spc="-25" dirty="0">
                <a:latin typeface="Times New Roman"/>
                <a:cs typeface="Times New Roman"/>
              </a:rPr>
              <a:t> </a:t>
            </a:r>
            <a:r>
              <a:rPr sz="2600" dirty="0">
                <a:latin typeface="Times New Roman"/>
                <a:cs typeface="Times New Roman"/>
              </a:rPr>
              <a:t>precautions</a:t>
            </a:r>
            <a:r>
              <a:rPr sz="2600" spc="-50" dirty="0">
                <a:latin typeface="Times New Roman"/>
                <a:cs typeface="Times New Roman"/>
              </a:rPr>
              <a:t> </a:t>
            </a:r>
            <a:r>
              <a:rPr sz="2600" dirty="0">
                <a:latin typeface="Times New Roman"/>
                <a:cs typeface="Times New Roman"/>
              </a:rPr>
              <a:t>can</a:t>
            </a:r>
            <a:r>
              <a:rPr sz="2600" spc="-25" dirty="0">
                <a:latin typeface="Times New Roman"/>
                <a:cs typeface="Times New Roman"/>
              </a:rPr>
              <a:t> be </a:t>
            </a:r>
            <a:r>
              <a:rPr sz="2600" dirty="0">
                <a:latin typeface="Times New Roman"/>
                <a:cs typeface="Times New Roman"/>
              </a:rPr>
              <a:t>taken</a:t>
            </a:r>
            <a:r>
              <a:rPr sz="2600" spc="-15" dirty="0">
                <a:latin typeface="Times New Roman"/>
                <a:cs typeface="Times New Roman"/>
              </a:rPr>
              <a:t> </a:t>
            </a:r>
            <a:r>
              <a:rPr sz="2600" dirty="0">
                <a:latin typeface="Times New Roman"/>
                <a:cs typeface="Times New Roman"/>
              </a:rPr>
              <a:t>to reduce</a:t>
            </a:r>
            <a:r>
              <a:rPr sz="2600" spc="-40" dirty="0">
                <a:latin typeface="Times New Roman"/>
                <a:cs typeface="Times New Roman"/>
              </a:rPr>
              <a:t> </a:t>
            </a:r>
            <a:r>
              <a:rPr sz="2600" dirty="0">
                <a:latin typeface="Times New Roman"/>
                <a:cs typeface="Times New Roman"/>
              </a:rPr>
              <a:t>the impact</a:t>
            </a:r>
            <a:r>
              <a:rPr sz="2600" spc="-5" dirty="0">
                <a:latin typeface="Times New Roman"/>
                <a:cs typeface="Times New Roman"/>
              </a:rPr>
              <a:t> </a:t>
            </a:r>
            <a:r>
              <a:rPr sz="2600" dirty="0">
                <a:latin typeface="Times New Roman"/>
                <a:cs typeface="Times New Roman"/>
              </a:rPr>
              <a:t>of</a:t>
            </a:r>
            <a:r>
              <a:rPr sz="2600" spc="-20" dirty="0">
                <a:latin typeface="Times New Roman"/>
                <a:cs typeface="Times New Roman"/>
              </a:rPr>
              <a:t> </a:t>
            </a:r>
            <a:r>
              <a:rPr sz="2600" dirty="0">
                <a:latin typeface="Times New Roman"/>
                <a:cs typeface="Times New Roman"/>
              </a:rPr>
              <a:t>spyware</a:t>
            </a:r>
            <a:r>
              <a:rPr sz="2600" spc="-45" dirty="0">
                <a:latin typeface="Times New Roman"/>
                <a:cs typeface="Times New Roman"/>
              </a:rPr>
              <a:t> </a:t>
            </a:r>
            <a:r>
              <a:rPr sz="2600" dirty="0">
                <a:latin typeface="Times New Roman"/>
                <a:cs typeface="Times New Roman"/>
              </a:rPr>
              <a:t>on</a:t>
            </a:r>
            <a:r>
              <a:rPr sz="2600" spc="-5" dirty="0">
                <a:latin typeface="Times New Roman"/>
                <a:cs typeface="Times New Roman"/>
              </a:rPr>
              <a:t> </a:t>
            </a:r>
            <a:r>
              <a:rPr sz="2600" dirty="0">
                <a:latin typeface="Times New Roman"/>
                <a:cs typeface="Times New Roman"/>
              </a:rPr>
              <a:t>our</a:t>
            </a:r>
            <a:r>
              <a:rPr sz="2600" spc="-15" dirty="0">
                <a:latin typeface="Times New Roman"/>
                <a:cs typeface="Times New Roman"/>
              </a:rPr>
              <a:t> </a:t>
            </a:r>
            <a:r>
              <a:rPr sz="2600" spc="-10" dirty="0">
                <a:latin typeface="Times New Roman"/>
                <a:cs typeface="Times New Roman"/>
              </a:rPr>
              <a:t>computer.</a:t>
            </a:r>
            <a:endParaRPr sz="2600">
              <a:latin typeface="Times New Roman"/>
              <a:cs typeface="Times New Roman"/>
            </a:endParaRPr>
          </a:p>
          <a:p>
            <a:pPr marL="241300" indent="-228600">
              <a:lnSpc>
                <a:spcPct val="100000"/>
              </a:lnSpc>
              <a:spcBef>
                <a:spcPts val="695"/>
              </a:spcBef>
              <a:buFont typeface="Arial MT"/>
              <a:buChar char="•"/>
              <a:tabLst>
                <a:tab pos="241300" algn="l"/>
              </a:tabLst>
            </a:pPr>
            <a:r>
              <a:rPr sz="2600" dirty="0">
                <a:latin typeface="Times New Roman"/>
                <a:cs typeface="Times New Roman"/>
              </a:rPr>
              <a:t>A</a:t>
            </a:r>
            <a:r>
              <a:rPr sz="2600" spc="-165" dirty="0">
                <a:latin typeface="Times New Roman"/>
                <a:cs typeface="Times New Roman"/>
              </a:rPr>
              <a:t> </a:t>
            </a:r>
            <a:r>
              <a:rPr sz="2600" dirty="0">
                <a:latin typeface="Times New Roman"/>
                <a:cs typeface="Times New Roman"/>
              </a:rPr>
              <a:t>few</a:t>
            </a:r>
            <a:r>
              <a:rPr sz="2600" spc="-15" dirty="0">
                <a:latin typeface="Times New Roman"/>
                <a:cs typeface="Times New Roman"/>
              </a:rPr>
              <a:t> </a:t>
            </a:r>
            <a:r>
              <a:rPr sz="2600" dirty="0">
                <a:latin typeface="Times New Roman"/>
                <a:cs typeface="Times New Roman"/>
              </a:rPr>
              <a:t>important</a:t>
            </a:r>
            <a:r>
              <a:rPr sz="2600" spc="-30" dirty="0">
                <a:latin typeface="Times New Roman"/>
                <a:cs typeface="Times New Roman"/>
              </a:rPr>
              <a:t> </a:t>
            </a:r>
            <a:r>
              <a:rPr sz="2600" dirty="0">
                <a:latin typeface="Times New Roman"/>
                <a:cs typeface="Times New Roman"/>
              </a:rPr>
              <a:t>measures</a:t>
            </a:r>
            <a:r>
              <a:rPr sz="2600" spc="-15" dirty="0">
                <a:latin typeface="Times New Roman"/>
                <a:cs typeface="Times New Roman"/>
              </a:rPr>
              <a:t> </a:t>
            </a:r>
            <a:r>
              <a:rPr sz="2600" dirty="0">
                <a:latin typeface="Times New Roman"/>
                <a:cs typeface="Times New Roman"/>
              </a:rPr>
              <a:t>to</a:t>
            </a:r>
            <a:r>
              <a:rPr sz="2600" spc="-15" dirty="0">
                <a:latin typeface="Times New Roman"/>
                <a:cs typeface="Times New Roman"/>
              </a:rPr>
              <a:t> </a:t>
            </a:r>
            <a:r>
              <a:rPr sz="2600" dirty="0">
                <a:latin typeface="Times New Roman"/>
                <a:cs typeface="Times New Roman"/>
              </a:rPr>
              <a:t>reduce</a:t>
            </a:r>
            <a:r>
              <a:rPr sz="2600" spc="-45" dirty="0">
                <a:latin typeface="Times New Roman"/>
                <a:cs typeface="Times New Roman"/>
              </a:rPr>
              <a:t> </a:t>
            </a:r>
            <a:r>
              <a:rPr sz="2600" dirty="0">
                <a:latin typeface="Times New Roman"/>
                <a:cs typeface="Times New Roman"/>
              </a:rPr>
              <a:t>the</a:t>
            </a:r>
            <a:r>
              <a:rPr sz="2600" spc="-15" dirty="0">
                <a:latin typeface="Times New Roman"/>
                <a:cs typeface="Times New Roman"/>
              </a:rPr>
              <a:t> </a:t>
            </a:r>
            <a:r>
              <a:rPr sz="2600" dirty="0">
                <a:latin typeface="Times New Roman"/>
                <a:cs typeface="Times New Roman"/>
              </a:rPr>
              <a:t>impact</a:t>
            </a:r>
            <a:r>
              <a:rPr sz="2600" spc="-20" dirty="0">
                <a:latin typeface="Times New Roman"/>
                <a:cs typeface="Times New Roman"/>
              </a:rPr>
              <a:t> </a:t>
            </a:r>
            <a:r>
              <a:rPr sz="2600" dirty="0">
                <a:latin typeface="Times New Roman"/>
                <a:cs typeface="Times New Roman"/>
              </a:rPr>
              <a:t>of</a:t>
            </a:r>
            <a:r>
              <a:rPr sz="2600" spc="-15" dirty="0">
                <a:latin typeface="Times New Roman"/>
                <a:cs typeface="Times New Roman"/>
              </a:rPr>
              <a:t> </a:t>
            </a:r>
            <a:r>
              <a:rPr sz="2600" dirty="0">
                <a:latin typeface="Times New Roman"/>
                <a:cs typeface="Times New Roman"/>
              </a:rPr>
              <a:t>spyware</a:t>
            </a:r>
            <a:r>
              <a:rPr sz="2600" spc="-55" dirty="0">
                <a:latin typeface="Times New Roman"/>
                <a:cs typeface="Times New Roman"/>
              </a:rPr>
              <a:t> </a:t>
            </a:r>
            <a:r>
              <a:rPr sz="2600" dirty="0">
                <a:latin typeface="Times New Roman"/>
                <a:cs typeface="Times New Roman"/>
              </a:rPr>
              <a:t>are</a:t>
            </a:r>
            <a:r>
              <a:rPr sz="2600" spc="-20" dirty="0">
                <a:latin typeface="Times New Roman"/>
                <a:cs typeface="Times New Roman"/>
              </a:rPr>
              <a:t> </a:t>
            </a:r>
            <a:r>
              <a:rPr sz="2600" dirty="0">
                <a:latin typeface="Times New Roman"/>
                <a:cs typeface="Times New Roman"/>
              </a:rPr>
              <a:t>listed</a:t>
            </a:r>
            <a:r>
              <a:rPr sz="2600" spc="-10" dirty="0">
                <a:latin typeface="Times New Roman"/>
                <a:cs typeface="Times New Roman"/>
              </a:rPr>
              <a:t> below:</a:t>
            </a:r>
            <a:endParaRPr sz="2600">
              <a:latin typeface="Times New Roman"/>
              <a:cs typeface="Times New Roman"/>
            </a:endParaRPr>
          </a:p>
          <a:p>
            <a:pPr marL="241300" marR="482600" indent="-229235">
              <a:lnSpc>
                <a:spcPts val="2810"/>
              </a:lnSpc>
              <a:spcBef>
                <a:spcPts val="1035"/>
              </a:spcBef>
              <a:buFont typeface="Arial MT"/>
              <a:buChar char="•"/>
              <a:tabLst>
                <a:tab pos="241300" algn="l"/>
              </a:tabLst>
            </a:pPr>
            <a:r>
              <a:rPr sz="2600" dirty="0">
                <a:latin typeface="Times New Roman"/>
                <a:cs typeface="Times New Roman"/>
              </a:rPr>
              <a:t>Always</a:t>
            </a:r>
            <a:r>
              <a:rPr sz="2600" spc="-25" dirty="0">
                <a:latin typeface="Times New Roman"/>
                <a:cs typeface="Times New Roman"/>
              </a:rPr>
              <a:t> </a:t>
            </a:r>
            <a:r>
              <a:rPr sz="2600" dirty="0">
                <a:latin typeface="Times New Roman"/>
                <a:cs typeface="Times New Roman"/>
              </a:rPr>
              <a:t>close</a:t>
            </a:r>
            <a:r>
              <a:rPr sz="2600" spc="-10" dirty="0">
                <a:latin typeface="Times New Roman"/>
                <a:cs typeface="Times New Roman"/>
              </a:rPr>
              <a:t> </a:t>
            </a:r>
            <a:r>
              <a:rPr sz="2600" dirty="0">
                <a:latin typeface="Times New Roman"/>
                <a:cs typeface="Times New Roman"/>
              </a:rPr>
              <a:t>the</a:t>
            </a:r>
            <a:r>
              <a:rPr sz="2600" spc="-20" dirty="0">
                <a:latin typeface="Times New Roman"/>
                <a:cs typeface="Times New Roman"/>
              </a:rPr>
              <a:t> </a:t>
            </a:r>
            <a:r>
              <a:rPr sz="2600" dirty="0">
                <a:latin typeface="Times New Roman"/>
                <a:cs typeface="Times New Roman"/>
              </a:rPr>
              <a:t>advertisement</a:t>
            </a:r>
            <a:r>
              <a:rPr sz="2600" spc="-10" dirty="0">
                <a:latin typeface="Times New Roman"/>
                <a:cs typeface="Times New Roman"/>
              </a:rPr>
              <a:t> </a:t>
            </a:r>
            <a:r>
              <a:rPr sz="2600" dirty="0">
                <a:latin typeface="Times New Roman"/>
                <a:cs typeface="Times New Roman"/>
              </a:rPr>
              <a:t>pop-up</a:t>
            </a:r>
            <a:r>
              <a:rPr sz="2600" spc="-35" dirty="0">
                <a:latin typeface="Times New Roman"/>
                <a:cs typeface="Times New Roman"/>
              </a:rPr>
              <a:t> </a:t>
            </a:r>
            <a:r>
              <a:rPr sz="2600" dirty="0">
                <a:latin typeface="Times New Roman"/>
                <a:cs typeface="Times New Roman"/>
              </a:rPr>
              <a:t>windows</a:t>
            </a:r>
            <a:r>
              <a:rPr sz="2600" spc="-50" dirty="0">
                <a:latin typeface="Times New Roman"/>
                <a:cs typeface="Times New Roman"/>
              </a:rPr>
              <a:t> </a:t>
            </a:r>
            <a:r>
              <a:rPr sz="2600" dirty="0">
                <a:latin typeface="Times New Roman"/>
                <a:cs typeface="Times New Roman"/>
              </a:rPr>
              <a:t>by</a:t>
            </a:r>
            <a:r>
              <a:rPr sz="2600" spc="-15" dirty="0">
                <a:latin typeface="Times New Roman"/>
                <a:cs typeface="Times New Roman"/>
              </a:rPr>
              <a:t> </a:t>
            </a:r>
            <a:r>
              <a:rPr sz="2600" dirty="0">
                <a:latin typeface="Times New Roman"/>
                <a:cs typeface="Times New Roman"/>
              </a:rPr>
              <a:t>clicking</a:t>
            </a:r>
            <a:r>
              <a:rPr sz="2600" spc="-15" dirty="0">
                <a:latin typeface="Times New Roman"/>
                <a:cs typeface="Times New Roman"/>
              </a:rPr>
              <a:t> </a:t>
            </a:r>
            <a:r>
              <a:rPr sz="2600" dirty="0">
                <a:latin typeface="Times New Roman"/>
                <a:cs typeface="Times New Roman"/>
              </a:rPr>
              <a:t>on</a:t>
            </a:r>
            <a:r>
              <a:rPr sz="2600" spc="-15" dirty="0">
                <a:latin typeface="Times New Roman"/>
                <a:cs typeface="Times New Roman"/>
              </a:rPr>
              <a:t> </a:t>
            </a:r>
            <a:r>
              <a:rPr sz="2600" dirty="0">
                <a:latin typeface="Times New Roman"/>
                <a:cs typeface="Times New Roman"/>
              </a:rPr>
              <a:t>“X”</a:t>
            </a:r>
            <a:r>
              <a:rPr sz="2600" spc="-25" dirty="0">
                <a:latin typeface="Times New Roman"/>
                <a:cs typeface="Times New Roman"/>
              </a:rPr>
              <a:t> red </a:t>
            </a:r>
            <a:r>
              <a:rPr sz="2600" dirty="0">
                <a:latin typeface="Times New Roman"/>
                <a:cs typeface="Times New Roman"/>
              </a:rPr>
              <a:t>but-ton</a:t>
            </a:r>
            <a:r>
              <a:rPr sz="2600" spc="-45" dirty="0">
                <a:latin typeface="Times New Roman"/>
                <a:cs typeface="Times New Roman"/>
              </a:rPr>
              <a:t> </a:t>
            </a:r>
            <a:r>
              <a:rPr sz="2600" dirty="0">
                <a:latin typeface="Times New Roman"/>
                <a:cs typeface="Times New Roman"/>
              </a:rPr>
              <a:t>or</a:t>
            </a:r>
            <a:r>
              <a:rPr sz="2600" spc="-165" dirty="0">
                <a:latin typeface="Times New Roman"/>
                <a:cs typeface="Times New Roman"/>
              </a:rPr>
              <a:t> </a:t>
            </a:r>
            <a:r>
              <a:rPr sz="2600" spc="-25" dirty="0">
                <a:latin typeface="Times New Roman"/>
                <a:cs typeface="Times New Roman"/>
              </a:rPr>
              <a:t>ALT+F4</a:t>
            </a:r>
            <a:r>
              <a:rPr sz="2600" spc="-55" dirty="0">
                <a:latin typeface="Times New Roman"/>
                <a:cs typeface="Times New Roman"/>
              </a:rPr>
              <a:t> </a:t>
            </a:r>
            <a:r>
              <a:rPr sz="2600" dirty="0">
                <a:latin typeface="Times New Roman"/>
                <a:cs typeface="Times New Roman"/>
              </a:rPr>
              <a:t>shortcut</a:t>
            </a:r>
            <a:r>
              <a:rPr sz="2600" spc="-40" dirty="0">
                <a:latin typeface="Times New Roman"/>
                <a:cs typeface="Times New Roman"/>
              </a:rPr>
              <a:t> </a:t>
            </a:r>
            <a:r>
              <a:rPr sz="2600" spc="-20" dirty="0">
                <a:latin typeface="Times New Roman"/>
                <a:cs typeface="Times New Roman"/>
              </a:rPr>
              <a:t>key.</a:t>
            </a:r>
            <a:endParaRPr sz="2600">
              <a:latin typeface="Times New Roman"/>
              <a:cs typeface="Times New Roman"/>
            </a:endParaRPr>
          </a:p>
          <a:p>
            <a:pPr marL="241300" indent="-228600">
              <a:lnSpc>
                <a:spcPct val="100000"/>
              </a:lnSpc>
              <a:spcBef>
                <a:spcPts val="645"/>
              </a:spcBef>
              <a:buFont typeface="Arial MT"/>
              <a:buChar char="•"/>
              <a:tabLst>
                <a:tab pos="241300" algn="l"/>
              </a:tabLst>
            </a:pPr>
            <a:r>
              <a:rPr sz="2600" dirty="0">
                <a:latin typeface="Times New Roman"/>
                <a:cs typeface="Times New Roman"/>
              </a:rPr>
              <a:t>Do</a:t>
            </a:r>
            <a:r>
              <a:rPr sz="2600" spc="-10" dirty="0">
                <a:latin typeface="Times New Roman"/>
                <a:cs typeface="Times New Roman"/>
              </a:rPr>
              <a:t> </a:t>
            </a:r>
            <a:r>
              <a:rPr sz="2600" dirty="0">
                <a:latin typeface="Times New Roman"/>
                <a:cs typeface="Times New Roman"/>
              </a:rPr>
              <a:t>not</a:t>
            </a:r>
            <a:r>
              <a:rPr sz="2600" spc="-20" dirty="0">
                <a:latin typeface="Times New Roman"/>
                <a:cs typeface="Times New Roman"/>
              </a:rPr>
              <a:t> </a:t>
            </a:r>
            <a:r>
              <a:rPr sz="2600" dirty="0">
                <a:latin typeface="Times New Roman"/>
                <a:cs typeface="Times New Roman"/>
              </a:rPr>
              <a:t>click the OK,</a:t>
            </a:r>
            <a:r>
              <a:rPr sz="2600" spc="-15" dirty="0">
                <a:latin typeface="Times New Roman"/>
                <a:cs typeface="Times New Roman"/>
              </a:rPr>
              <a:t> </a:t>
            </a:r>
            <a:r>
              <a:rPr sz="2600" dirty="0">
                <a:latin typeface="Times New Roman"/>
                <a:cs typeface="Times New Roman"/>
              </a:rPr>
              <a:t>NO,</a:t>
            </a:r>
            <a:r>
              <a:rPr sz="2600" spc="-125" dirty="0">
                <a:latin typeface="Times New Roman"/>
                <a:cs typeface="Times New Roman"/>
              </a:rPr>
              <a:t> </a:t>
            </a:r>
            <a:r>
              <a:rPr sz="2600" dirty="0">
                <a:latin typeface="Times New Roman"/>
                <a:cs typeface="Times New Roman"/>
              </a:rPr>
              <a:t>YES,</a:t>
            </a:r>
            <a:r>
              <a:rPr sz="2600" spc="-15" dirty="0">
                <a:latin typeface="Times New Roman"/>
                <a:cs typeface="Times New Roman"/>
              </a:rPr>
              <a:t> </a:t>
            </a:r>
            <a:r>
              <a:rPr sz="2600" dirty="0">
                <a:latin typeface="Times New Roman"/>
                <a:cs typeface="Times New Roman"/>
              </a:rPr>
              <a:t>or</a:t>
            </a:r>
            <a:r>
              <a:rPr sz="2600" spc="-15" dirty="0">
                <a:latin typeface="Times New Roman"/>
                <a:cs typeface="Times New Roman"/>
              </a:rPr>
              <a:t> </a:t>
            </a:r>
            <a:r>
              <a:rPr sz="2600" dirty="0">
                <a:latin typeface="Times New Roman"/>
                <a:cs typeface="Times New Roman"/>
              </a:rPr>
              <a:t>any</a:t>
            </a:r>
            <a:r>
              <a:rPr sz="2600" spc="-10" dirty="0">
                <a:latin typeface="Times New Roman"/>
                <a:cs typeface="Times New Roman"/>
              </a:rPr>
              <a:t> </a:t>
            </a:r>
            <a:r>
              <a:rPr sz="2600" dirty="0">
                <a:latin typeface="Times New Roman"/>
                <a:cs typeface="Times New Roman"/>
              </a:rPr>
              <a:t>other</a:t>
            </a:r>
            <a:r>
              <a:rPr sz="2600" spc="-25" dirty="0">
                <a:latin typeface="Times New Roman"/>
                <a:cs typeface="Times New Roman"/>
              </a:rPr>
              <a:t> </a:t>
            </a:r>
            <a:r>
              <a:rPr sz="2600" dirty="0">
                <a:latin typeface="Times New Roman"/>
                <a:cs typeface="Times New Roman"/>
              </a:rPr>
              <a:t>link</a:t>
            </a:r>
            <a:r>
              <a:rPr sz="2600" spc="10" dirty="0">
                <a:latin typeface="Times New Roman"/>
                <a:cs typeface="Times New Roman"/>
              </a:rPr>
              <a:t> </a:t>
            </a:r>
            <a:r>
              <a:rPr sz="2600" dirty="0">
                <a:latin typeface="Times New Roman"/>
                <a:cs typeface="Times New Roman"/>
              </a:rPr>
              <a:t>on</a:t>
            </a:r>
            <a:r>
              <a:rPr sz="2600" spc="-10" dirty="0">
                <a:latin typeface="Times New Roman"/>
                <a:cs typeface="Times New Roman"/>
              </a:rPr>
              <a:t> </a:t>
            </a:r>
            <a:r>
              <a:rPr sz="2600" dirty="0">
                <a:latin typeface="Times New Roman"/>
                <a:cs typeface="Times New Roman"/>
              </a:rPr>
              <a:t>the</a:t>
            </a:r>
            <a:r>
              <a:rPr sz="2600" spc="-20" dirty="0">
                <a:latin typeface="Times New Roman"/>
                <a:cs typeface="Times New Roman"/>
              </a:rPr>
              <a:t> </a:t>
            </a:r>
            <a:r>
              <a:rPr sz="2600" dirty="0">
                <a:latin typeface="Times New Roman"/>
                <a:cs typeface="Times New Roman"/>
              </a:rPr>
              <a:t>pop-up</a:t>
            </a:r>
            <a:r>
              <a:rPr sz="2600" spc="-30" dirty="0">
                <a:latin typeface="Times New Roman"/>
                <a:cs typeface="Times New Roman"/>
              </a:rPr>
              <a:t> </a:t>
            </a:r>
            <a:r>
              <a:rPr sz="2600" spc="-10" dirty="0">
                <a:latin typeface="Times New Roman"/>
                <a:cs typeface="Times New Roman"/>
              </a:rPr>
              <a:t>window.</a:t>
            </a:r>
            <a:endParaRPr sz="2600">
              <a:latin typeface="Times New Roman"/>
              <a:cs typeface="Times New Roman"/>
            </a:endParaRPr>
          </a:p>
          <a:p>
            <a:pPr marL="241300" indent="-228600">
              <a:lnSpc>
                <a:spcPct val="100000"/>
              </a:lnSpc>
              <a:spcBef>
                <a:spcPts val="695"/>
              </a:spcBef>
              <a:buFont typeface="Arial MT"/>
              <a:buChar char="•"/>
              <a:tabLst>
                <a:tab pos="241300" algn="l"/>
              </a:tabLst>
            </a:pPr>
            <a:r>
              <a:rPr sz="2600" dirty="0">
                <a:latin typeface="Times New Roman"/>
                <a:cs typeface="Times New Roman"/>
              </a:rPr>
              <a:t>Be</a:t>
            </a:r>
            <a:r>
              <a:rPr sz="2600" spc="-25" dirty="0">
                <a:latin typeface="Times New Roman"/>
                <a:cs typeface="Times New Roman"/>
              </a:rPr>
              <a:t> </a:t>
            </a:r>
            <a:r>
              <a:rPr sz="2600" dirty="0">
                <a:latin typeface="Times New Roman"/>
                <a:cs typeface="Times New Roman"/>
              </a:rPr>
              <a:t>very</a:t>
            </a:r>
            <a:r>
              <a:rPr sz="2600" spc="-40" dirty="0">
                <a:latin typeface="Times New Roman"/>
                <a:cs typeface="Times New Roman"/>
              </a:rPr>
              <a:t> </a:t>
            </a:r>
            <a:r>
              <a:rPr sz="2600" dirty="0">
                <a:latin typeface="Times New Roman"/>
                <a:cs typeface="Times New Roman"/>
              </a:rPr>
              <a:t>careful</a:t>
            </a:r>
            <a:r>
              <a:rPr sz="2600" spc="-15" dirty="0">
                <a:latin typeface="Times New Roman"/>
                <a:cs typeface="Times New Roman"/>
              </a:rPr>
              <a:t> </a:t>
            </a:r>
            <a:r>
              <a:rPr sz="2600" dirty="0">
                <a:latin typeface="Times New Roman"/>
                <a:cs typeface="Times New Roman"/>
              </a:rPr>
              <a:t>while</a:t>
            </a:r>
            <a:r>
              <a:rPr sz="2600" spc="-40" dirty="0">
                <a:latin typeface="Times New Roman"/>
                <a:cs typeface="Times New Roman"/>
              </a:rPr>
              <a:t> </a:t>
            </a:r>
            <a:r>
              <a:rPr sz="2600" dirty="0">
                <a:latin typeface="Times New Roman"/>
                <a:cs typeface="Times New Roman"/>
              </a:rPr>
              <a:t>visiting</a:t>
            </a:r>
            <a:r>
              <a:rPr sz="2600" spc="-10" dirty="0">
                <a:latin typeface="Times New Roman"/>
                <a:cs typeface="Times New Roman"/>
              </a:rPr>
              <a:t> </a:t>
            </a:r>
            <a:r>
              <a:rPr sz="2600" dirty="0">
                <a:latin typeface="Times New Roman"/>
                <a:cs typeface="Times New Roman"/>
              </a:rPr>
              <a:t>new</a:t>
            </a:r>
            <a:r>
              <a:rPr sz="2600" spc="-30" dirty="0">
                <a:latin typeface="Times New Roman"/>
                <a:cs typeface="Times New Roman"/>
              </a:rPr>
              <a:t> </a:t>
            </a:r>
            <a:r>
              <a:rPr sz="2600" dirty="0">
                <a:latin typeface="Times New Roman"/>
                <a:cs typeface="Times New Roman"/>
              </a:rPr>
              <a:t>websites</a:t>
            </a:r>
            <a:r>
              <a:rPr sz="2600" spc="-30" dirty="0">
                <a:latin typeface="Times New Roman"/>
                <a:cs typeface="Times New Roman"/>
              </a:rPr>
              <a:t> </a:t>
            </a:r>
            <a:r>
              <a:rPr sz="2600" dirty="0">
                <a:latin typeface="Times New Roman"/>
                <a:cs typeface="Times New Roman"/>
              </a:rPr>
              <a:t>or</a:t>
            </a:r>
            <a:r>
              <a:rPr sz="2600" spc="-30" dirty="0">
                <a:latin typeface="Times New Roman"/>
                <a:cs typeface="Times New Roman"/>
              </a:rPr>
              <a:t> </a:t>
            </a:r>
            <a:r>
              <a:rPr sz="2600" dirty="0">
                <a:latin typeface="Times New Roman"/>
                <a:cs typeface="Times New Roman"/>
              </a:rPr>
              <a:t>redirected</a:t>
            </a:r>
            <a:r>
              <a:rPr sz="2600" spc="-25" dirty="0">
                <a:latin typeface="Times New Roman"/>
                <a:cs typeface="Times New Roman"/>
              </a:rPr>
              <a:t> </a:t>
            </a:r>
            <a:r>
              <a:rPr sz="2600" spc="-10" dirty="0">
                <a:latin typeface="Times New Roman"/>
                <a:cs typeface="Times New Roman"/>
              </a:rPr>
              <a:t>websites.</a:t>
            </a:r>
            <a:endParaRPr sz="2600">
              <a:latin typeface="Times New Roman"/>
              <a:cs typeface="Times New Roman"/>
            </a:endParaRPr>
          </a:p>
        </p:txBody>
      </p:sp>
    </p:spTree>
    <p:extLst>
      <p:ext uri="{BB962C8B-B14F-4D97-AF65-F5344CB8AC3E}">
        <p14:creationId xmlns:p14="http://schemas.microsoft.com/office/powerpoint/2010/main" val="15865932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35127" rIns="0" bIns="0" rtlCol="0">
            <a:spAutoFit/>
          </a:bodyPr>
          <a:lstStyle/>
          <a:p>
            <a:pPr marL="12700">
              <a:lnSpc>
                <a:spcPct val="100000"/>
              </a:lnSpc>
              <a:spcBef>
                <a:spcPts val="105"/>
              </a:spcBef>
            </a:pPr>
            <a:r>
              <a:rPr spc="-65" dirty="0"/>
              <a:t>SPYWARE</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
        <p:nvSpPr>
          <p:cNvPr id="3" name="object 3"/>
          <p:cNvSpPr txBox="1"/>
          <p:nvPr/>
        </p:nvSpPr>
        <p:spPr>
          <a:xfrm>
            <a:off x="916939" y="1415922"/>
            <a:ext cx="10243820" cy="4610100"/>
          </a:xfrm>
          <a:prstGeom prst="rect">
            <a:avLst/>
          </a:prstGeom>
        </p:spPr>
        <p:txBody>
          <a:bodyPr vert="horz" wrap="square" lIns="0" tIns="92075" rIns="0" bIns="0" rtlCol="0">
            <a:spAutoFit/>
          </a:bodyPr>
          <a:lstStyle/>
          <a:p>
            <a:pPr marL="241300" marR="62230" indent="-229235">
              <a:lnSpc>
                <a:spcPct val="80000"/>
              </a:lnSpc>
              <a:spcBef>
                <a:spcPts val="725"/>
              </a:spcBef>
              <a:buFont typeface="Arial MT"/>
              <a:buChar char="•"/>
              <a:tabLst>
                <a:tab pos="241300" algn="l"/>
              </a:tabLst>
            </a:pPr>
            <a:r>
              <a:rPr sz="2600" dirty="0">
                <a:latin typeface="Times New Roman"/>
                <a:cs typeface="Times New Roman"/>
              </a:rPr>
              <a:t>Do</a:t>
            </a:r>
            <a:r>
              <a:rPr sz="2600" spc="-15" dirty="0">
                <a:latin typeface="Times New Roman"/>
                <a:cs typeface="Times New Roman"/>
              </a:rPr>
              <a:t> </a:t>
            </a:r>
            <a:r>
              <a:rPr sz="2600" dirty="0">
                <a:latin typeface="Times New Roman"/>
                <a:cs typeface="Times New Roman"/>
              </a:rPr>
              <a:t>not</a:t>
            </a:r>
            <a:r>
              <a:rPr sz="2600" spc="-25" dirty="0">
                <a:latin typeface="Times New Roman"/>
                <a:cs typeface="Times New Roman"/>
              </a:rPr>
              <a:t> </a:t>
            </a:r>
            <a:r>
              <a:rPr sz="2600" dirty="0">
                <a:latin typeface="Times New Roman"/>
                <a:cs typeface="Times New Roman"/>
              </a:rPr>
              <a:t>download</a:t>
            </a:r>
            <a:r>
              <a:rPr sz="2600" spc="-50" dirty="0">
                <a:latin typeface="Times New Roman"/>
                <a:cs typeface="Times New Roman"/>
              </a:rPr>
              <a:t> </a:t>
            </a:r>
            <a:r>
              <a:rPr sz="2600" dirty="0">
                <a:latin typeface="Times New Roman"/>
                <a:cs typeface="Times New Roman"/>
              </a:rPr>
              <a:t>free</a:t>
            </a:r>
            <a:r>
              <a:rPr sz="2600" spc="-5" dirty="0">
                <a:latin typeface="Times New Roman"/>
                <a:cs typeface="Times New Roman"/>
              </a:rPr>
              <a:t> </a:t>
            </a:r>
            <a:r>
              <a:rPr sz="2600" dirty="0">
                <a:latin typeface="Times New Roman"/>
                <a:cs typeface="Times New Roman"/>
              </a:rPr>
              <a:t>software</a:t>
            </a:r>
            <a:r>
              <a:rPr sz="2600" spc="-30" dirty="0">
                <a:latin typeface="Times New Roman"/>
                <a:cs typeface="Times New Roman"/>
              </a:rPr>
              <a:t> </a:t>
            </a:r>
            <a:r>
              <a:rPr sz="2600" dirty="0">
                <a:latin typeface="Times New Roman"/>
                <a:cs typeface="Times New Roman"/>
              </a:rPr>
              <a:t>tools</a:t>
            </a:r>
            <a:r>
              <a:rPr sz="2600" spc="-10" dirty="0">
                <a:latin typeface="Times New Roman"/>
                <a:cs typeface="Times New Roman"/>
              </a:rPr>
              <a:t> </a:t>
            </a:r>
            <a:r>
              <a:rPr sz="2600" dirty="0">
                <a:latin typeface="Times New Roman"/>
                <a:cs typeface="Times New Roman"/>
              </a:rPr>
              <a:t>unless</a:t>
            </a:r>
            <a:r>
              <a:rPr sz="2600" spc="-15" dirty="0">
                <a:latin typeface="Times New Roman"/>
                <a:cs typeface="Times New Roman"/>
              </a:rPr>
              <a:t> </a:t>
            </a:r>
            <a:r>
              <a:rPr sz="2600" dirty="0">
                <a:latin typeface="Times New Roman"/>
                <a:cs typeface="Times New Roman"/>
              </a:rPr>
              <a:t>you</a:t>
            </a:r>
            <a:r>
              <a:rPr sz="2600" spc="-20" dirty="0">
                <a:latin typeface="Times New Roman"/>
                <a:cs typeface="Times New Roman"/>
              </a:rPr>
              <a:t> </a:t>
            </a:r>
            <a:r>
              <a:rPr sz="2600" dirty="0">
                <a:latin typeface="Times New Roman"/>
                <a:cs typeface="Times New Roman"/>
              </a:rPr>
              <a:t>are</a:t>
            </a:r>
            <a:r>
              <a:rPr sz="2600" spc="-15" dirty="0">
                <a:latin typeface="Times New Roman"/>
                <a:cs typeface="Times New Roman"/>
              </a:rPr>
              <a:t> </a:t>
            </a:r>
            <a:r>
              <a:rPr sz="2600" dirty="0">
                <a:latin typeface="Times New Roman"/>
                <a:cs typeface="Times New Roman"/>
              </a:rPr>
              <a:t>sure</a:t>
            </a:r>
            <a:r>
              <a:rPr sz="2600" spc="-20" dirty="0">
                <a:latin typeface="Times New Roman"/>
                <a:cs typeface="Times New Roman"/>
              </a:rPr>
              <a:t> </a:t>
            </a:r>
            <a:r>
              <a:rPr sz="2600" dirty="0">
                <a:latin typeface="Times New Roman"/>
                <a:cs typeface="Times New Roman"/>
              </a:rPr>
              <a:t>or confident</a:t>
            </a:r>
            <a:r>
              <a:rPr sz="2600" spc="-50" dirty="0">
                <a:latin typeface="Times New Roman"/>
                <a:cs typeface="Times New Roman"/>
              </a:rPr>
              <a:t> </a:t>
            </a:r>
            <a:r>
              <a:rPr sz="2600" spc="-10" dirty="0">
                <a:latin typeface="Times New Roman"/>
                <a:cs typeface="Times New Roman"/>
              </a:rPr>
              <a:t>about </a:t>
            </a:r>
            <a:r>
              <a:rPr sz="2600" dirty="0">
                <a:latin typeface="Times New Roman"/>
                <a:cs typeface="Times New Roman"/>
              </a:rPr>
              <a:t>the </a:t>
            </a:r>
            <a:r>
              <a:rPr sz="2600" spc="-10" dirty="0">
                <a:latin typeface="Times New Roman"/>
                <a:cs typeface="Times New Roman"/>
              </a:rPr>
              <a:t>source.</a:t>
            </a:r>
            <a:endParaRPr sz="2600">
              <a:latin typeface="Times New Roman"/>
              <a:cs typeface="Times New Roman"/>
            </a:endParaRPr>
          </a:p>
          <a:p>
            <a:pPr marL="241300" indent="-228600">
              <a:lnSpc>
                <a:spcPct val="100000"/>
              </a:lnSpc>
              <a:spcBef>
                <a:spcPts val="385"/>
              </a:spcBef>
              <a:buFont typeface="Arial MT"/>
              <a:buChar char="•"/>
              <a:tabLst>
                <a:tab pos="241300" algn="l"/>
              </a:tabLst>
            </a:pPr>
            <a:r>
              <a:rPr sz="2600" dirty="0">
                <a:latin typeface="Times New Roman"/>
                <a:cs typeface="Times New Roman"/>
              </a:rPr>
              <a:t>Do</a:t>
            </a:r>
            <a:r>
              <a:rPr sz="2600" spc="-20" dirty="0">
                <a:latin typeface="Times New Roman"/>
                <a:cs typeface="Times New Roman"/>
              </a:rPr>
              <a:t> </a:t>
            </a:r>
            <a:r>
              <a:rPr sz="2600" dirty="0">
                <a:latin typeface="Times New Roman"/>
                <a:cs typeface="Times New Roman"/>
              </a:rPr>
              <a:t>not</a:t>
            </a:r>
            <a:r>
              <a:rPr sz="2600" spc="-25" dirty="0">
                <a:latin typeface="Times New Roman"/>
                <a:cs typeface="Times New Roman"/>
              </a:rPr>
              <a:t> </a:t>
            </a:r>
            <a:r>
              <a:rPr sz="2600" dirty="0">
                <a:latin typeface="Times New Roman"/>
                <a:cs typeface="Times New Roman"/>
              </a:rPr>
              <a:t>be</a:t>
            </a:r>
            <a:r>
              <a:rPr sz="2600" spc="-20" dirty="0">
                <a:latin typeface="Times New Roman"/>
                <a:cs typeface="Times New Roman"/>
              </a:rPr>
              <a:t> </a:t>
            </a:r>
            <a:r>
              <a:rPr sz="2600" dirty="0">
                <a:latin typeface="Times New Roman"/>
                <a:cs typeface="Times New Roman"/>
              </a:rPr>
              <a:t>lured</a:t>
            </a:r>
            <a:r>
              <a:rPr sz="2600" spc="-15" dirty="0">
                <a:latin typeface="Times New Roman"/>
                <a:cs typeface="Times New Roman"/>
              </a:rPr>
              <a:t> </a:t>
            </a:r>
            <a:r>
              <a:rPr sz="2600" dirty="0">
                <a:latin typeface="Times New Roman"/>
                <a:cs typeface="Times New Roman"/>
              </a:rPr>
              <a:t>by</a:t>
            </a:r>
            <a:r>
              <a:rPr sz="2600" spc="-20" dirty="0">
                <a:latin typeface="Times New Roman"/>
                <a:cs typeface="Times New Roman"/>
              </a:rPr>
              <a:t> </a:t>
            </a:r>
            <a:r>
              <a:rPr sz="2600" dirty="0">
                <a:latin typeface="Times New Roman"/>
                <a:cs typeface="Times New Roman"/>
              </a:rPr>
              <a:t>the</a:t>
            </a:r>
            <a:r>
              <a:rPr sz="2600" spc="-15" dirty="0">
                <a:latin typeface="Times New Roman"/>
                <a:cs typeface="Times New Roman"/>
              </a:rPr>
              <a:t> </a:t>
            </a:r>
            <a:r>
              <a:rPr sz="2600" dirty="0">
                <a:latin typeface="Times New Roman"/>
                <a:cs typeface="Times New Roman"/>
              </a:rPr>
              <a:t>tempting</a:t>
            </a:r>
            <a:r>
              <a:rPr sz="2600" spc="-5" dirty="0">
                <a:latin typeface="Times New Roman"/>
                <a:cs typeface="Times New Roman"/>
              </a:rPr>
              <a:t> </a:t>
            </a:r>
            <a:r>
              <a:rPr sz="2600" spc="-10" dirty="0">
                <a:latin typeface="Times New Roman"/>
                <a:cs typeface="Times New Roman"/>
              </a:rPr>
              <a:t>offers.</a:t>
            </a:r>
            <a:endParaRPr sz="2600">
              <a:latin typeface="Times New Roman"/>
              <a:cs typeface="Times New Roman"/>
            </a:endParaRPr>
          </a:p>
          <a:p>
            <a:pPr marL="241300" indent="-228600">
              <a:lnSpc>
                <a:spcPct val="100000"/>
              </a:lnSpc>
              <a:spcBef>
                <a:spcPts val="375"/>
              </a:spcBef>
              <a:buFont typeface="Arial MT"/>
              <a:buChar char="•"/>
              <a:tabLst>
                <a:tab pos="241300" algn="l"/>
              </a:tabLst>
            </a:pPr>
            <a:r>
              <a:rPr sz="2600" dirty="0">
                <a:latin typeface="Times New Roman"/>
                <a:cs typeface="Times New Roman"/>
              </a:rPr>
              <a:t>Do</a:t>
            </a:r>
            <a:r>
              <a:rPr sz="2600" spc="-10" dirty="0">
                <a:latin typeface="Times New Roman"/>
                <a:cs typeface="Times New Roman"/>
              </a:rPr>
              <a:t> </a:t>
            </a:r>
            <a:r>
              <a:rPr sz="2600" dirty="0">
                <a:latin typeface="Times New Roman"/>
                <a:cs typeface="Times New Roman"/>
              </a:rPr>
              <a:t>not</a:t>
            </a:r>
            <a:r>
              <a:rPr sz="2600" spc="-25" dirty="0">
                <a:latin typeface="Times New Roman"/>
                <a:cs typeface="Times New Roman"/>
              </a:rPr>
              <a:t> </a:t>
            </a:r>
            <a:r>
              <a:rPr sz="2600" dirty="0">
                <a:latin typeface="Times New Roman"/>
                <a:cs typeface="Times New Roman"/>
              </a:rPr>
              <a:t>open</a:t>
            </a:r>
            <a:r>
              <a:rPr sz="2600" spc="-30" dirty="0">
                <a:latin typeface="Times New Roman"/>
                <a:cs typeface="Times New Roman"/>
              </a:rPr>
              <a:t> </a:t>
            </a:r>
            <a:r>
              <a:rPr sz="2600" dirty="0">
                <a:latin typeface="Times New Roman"/>
                <a:cs typeface="Times New Roman"/>
              </a:rPr>
              <a:t>emails</a:t>
            </a:r>
            <a:r>
              <a:rPr sz="2600" spc="5" dirty="0">
                <a:latin typeface="Times New Roman"/>
                <a:cs typeface="Times New Roman"/>
              </a:rPr>
              <a:t> </a:t>
            </a:r>
            <a:r>
              <a:rPr sz="2600" dirty="0">
                <a:latin typeface="Times New Roman"/>
                <a:cs typeface="Times New Roman"/>
              </a:rPr>
              <a:t>and</a:t>
            </a:r>
            <a:r>
              <a:rPr sz="2600" spc="-25" dirty="0">
                <a:latin typeface="Times New Roman"/>
                <a:cs typeface="Times New Roman"/>
              </a:rPr>
              <a:t> </a:t>
            </a:r>
            <a:r>
              <a:rPr sz="2600" dirty="0">
                <a:latin typeface="Times New Roman"/>
                <a:cs typeface="Times New Roman"/>
              </a:rPr>
              <a:t>their</a:t>
            </a:r>
            <a:r>
              <a:rPr sz="2600" spc="-10" dirty="0">
                <a:latin typeface="Times New Roman"/>
                <a:cs typeface="Times New Roman"/>
              </a:rPr>
              <a:t> </a:t>
            </a:r>
            <a:r>
              <a:rPr sz="2600" dirty="0">
                <a:latin typeface="Times New Roman"/>
                <a:cs typeface="Times New Roman"/>
              </a:rPr>
              <a:t>attachments</a:t>
            </a:r>
            <a:r>
              <a:rPr sz="2600" spc="-15" dirty="0">
                <a:latin typeface="Times New Roman"/>
                <a:cs typeface="Times New Roman"/>
              </a:rPr>
              <a:t> </a:t>
            </a:r>
            <a:r>
              <a:rPr sz="2600" dirty="0">
                <a:latin typeface="Times New Roman"/>
                <a:cs typeface="Times New Roman"/>
              </a:rPr>
              <a:t>form</a:t>
            </a:r>
            <a:r>
              <a:rPr sz="2600" spc="-15" dirty="0">
                <a:latin typeface="Times New Roman"/>
                <a:cs typeface="Times New Roman"/>
              </a:rPr>
              <a:t> </a:t>
            </a:r>
            <a:r>
              <a:rPr sz="2600" dirty="0">
                <a:latin typeface="Times New Roman"/>
                <a:cs typeface="Times New Roman"/>
              </a:rPr>
              <a:t>unknown</a:t>
            </a:r>
            <a:r>
              <a:rPr sz="2600" spc="-55" dirty="0">
                <a:latin typeface="Times New Roman"/>
                <a:cs typeface="Times New Roman"/>
              </a:rPr>
              <a:t> </a:t>
            </a:r>
            <a:r>
              <a:rPr sz="2600" spc="-10" dirty="0">
                <a:latin typeface="Times New Roman"/>
                <a:cs typeface="Times New Roman"/>
              </a:rPr>
              <a:t>senders.</a:t>
            </a:r>
            <a:endParaRPr sz="2600">
              <a:latin typeface="Times New Roman"/>
              <a:cs typeface="Times New Roman"/>
            </a:endParaRPr>
          </a:p>
          <a:p>
            <a:pPr marL="241300" marR="5080" indent="-229235">
              <a:lnSpc>
                <a:spcPct val="80000"/>
              </a:lnSpc>
              <a:spcBef>
                <a:spcPts val="994"/>
              </a:spcBef>
              <a:buFont typeface="Arial MT"/>
              <a:buChar char="•"/>
              <a:tabLst>
                <a:tab pos="241300" algn="l"/>
              </a:tabLst>
            </a:pPr>
            <a:r>
              <a:rPr sz="2600" dirty="0">
                <a:latin typeface="Times New Roman"/>
                <a:cs typeface="Times New Roman"/>
              </a:rPr>
              <a:t>Do</a:t>
            </a:r>
            <a:r>
              <a:rPr sz="2600" spc="-15" dirty="0">
                <a:latin typeface="Times New Roman"/>
                <a:cs typeface="Times New Roman"/>
              </a:rPr>
              <a:t> </a:t>
            </a:r>
            <a:r>
              <a:rPr sz="2600" dirty="0">
                <a:latin typeface="Times New Roman"/>
                <a:cs typeface="Times New Roman"/>
              </a:rPr>
              <a:t>not</a:t>
            </a:r>
            <a:r>
              <a:rPr sz="2600" spc="-25" dirty="0">
                <a:latin typeface="Times New Roman"/>
                <a:cs typeface="Times New Roman"/>
              </a:rPr>
              <a:t> </a:t>
            </a:r>
            <a:r>
              <a:rPr sz="2600" dirty="0">
                <a:latin typeface="Times New Roman"/>
                <a:cs typeface="Times New Roman"/>
              </a:rPr>
              <a:t>rely</a:t>
            </a:r>
            <a:r>
              <a:rPr sz="2600" spc="-5" dirty="0">
                <a:latin typeface="Times New Roman"/>
                <a:cs typeface="Times New Roman"/>
              </a:rPr>
              <a:t> </a:t>
            </a:r>
            <a:r>
              <a:rPr sz="2600" dirty="0">
                <a:latin typeface="Times New Roman"/>
                <a:cs typeface="Times New Roman"/>
              </a:rPr>
              <a:t>on</a:t>
            </a:r>
            <a:r>
              <a:rPr sz="2600" spc="-25" dirty="0">
                <a:latin typeface="Times New Roman"/>
                <a:cs typeface="Times New Roman"/>
              </a:rPr>
              <a:t> </a:t>
            </a:r>
            <a:r>
              <a:rPr sz="2600" dirty="0">
                <a:latin typeface="Times New Roman"/>
                <a:cs typeface="Times New Roman"/>
              </a:rPr>
              <a:t>free</a:t>
            </a:r>
            <a:r>
              <a:rPr sz="2600" spc="-5" dirty="0">
                <a:latin typeface="Times New Roman"/>
                <a:cs typeface="Times New Roman"/>
              </a:rPr>
              <a:t> </a:t>
            </a:r>
            <a:r>
              <a:rPr sz="2600" dirty="0">
                <a:latin typeface="Times New Roman"/>
                <a:cs typeface="Times New Roman"/>
              </a:rPr>
              <a:t>help</a:t>
            </a:r>
            <a:r>
              <a:rPr sz="2600" spc="-15" dirty="0">
                <a:latin typeface="Times New Roman"/>
                <a:cs typeface="Times New Roman"/>
              </a:rPr>
              <a:t> </a:t>
            </a:r>
            <a:r>
              <a:rPr sz="2600" dirty="0">
                <a:latin typeface="Times New Roman"/>
                <a:cs typeface="Times New Roman"/>
              </a:rPr>
              <a:t>for</a:t>
            </a:r>
            <a:r>
              <a:rPr sz="2600" spc="-25" dirty="0">
                <a:latin typeface="Times New Roman"/>
                <a:cs typeface="Times New Roman"/>
              </a:rPr>
              <a:t> </a:t>
            </a:r>
            <a:r>
              <a:rPr sz="2600" dirty="0">
                <a:latin typeface="Times New Roman"/>
                <a:cs typeface="Times New Roman"/>
              </a:rPr>
              <a:t>removing</a:t>
            </a:r>
            <a:r>
              <a:rPr sz="2600" spc="-15" dirty="0">
                <a:latin typeface="Times New Roman"/>
                <a:cs typeface="Times New Roman"/>
              </a:rPr>
              <a:t> </a:t>
            </a:r>
            <a:r>
              <a:rPr sz="2600" dirty="0">
                <a:latin typeface="Times New Roman"/>
                <a:cs typeface="Times New Roman"/>
              </a:rPr>
              <a:t>anti-spyware</a:t>
            </a:r>
            <a:r>
              <a:rPr sz="2600" spc="-45" dirty="0">
                <a:latin typeface="Times New Roman"/>
                <a:cs typeface="Times New Roman"/>
              </a:rPr>
              <a:t> </a:t>
            </a:r>
            <a:r>
              <a:rPr sz="2600" dirty="0">
                <a:latin typeface="Times New Roman"/>
                <a:cs typeface="Times New Roman"/>
              </a:rPr>
              <a:t>links;</a:t>
            </a:r>
            <a:r>
              <a:rPr sz="2600" spc="-15" dirty="0">
                <a:latin typeface="Times New Roman"/>
                <a:cs typeface="Times New Roman"/>
              </a:rPr>
              <a:t> </a:t>
            </a:r>
            <a:r>
              <a:rPr sz="2600" dirty="0">
                <a:latin typeface="Times New Roman"/>
                <a:cs typeface="Times New Roman"/>
              </a:rPr>
              <a:t>they</a:t>
            </a:r>
            <a:r>
              <a:rPr sz="2600" spc="-20" dirty="0">
                <a:latin typeface="Times New Roman"/>
                <a:cs typeface="Times New Roman"/>
              </a:rPr>
              <a:t> </a:t>
            </a:r>
            <a:r>
              <a:rPr sz="2600" dirty="0">
                <a:latin typeface="Times New Roman"/>
                <a:cs typeface="Times New Roman"/>
              </a:rPr>
              <a:t>are</a:t>
            </a:r>
            <a:r>
              <a:rPr sz="2600" spc="-15" dirty="0">
                <a:latin typeface="Times New Roman"/>
                <a:cs typeface="Times New Roman"/>
              </a:rPr>
              <a:t> </a:t>
            </a:r>
            <a:r>
              <a:rPr sz="2600" spc="-10" dirty="0">
                <a:latin typeface="Times New Roman"/>
                <a:cs typeface="Times New Roman"/>
              </a:rPr>
              <a:t>normally </a:t>
            </a:r>
            <a:r>
              <a:rPr sz="2600" dirty="0">
                <a:latin typeface="Times New Roman"/>
                <a:cs typeface="Times New Roman"/>
              </a:rPr>
              <a:t>spyware</a:t>
            </a:r>
            <a:r>
              <a:rPr sz="2600" spc="-55" dirty="0">
                <a:latin typeface="Times New Roman"/>
                <a:cs typeface="Times New Roman"/>
              </a:rPr>
              <a:t> </a:t>
            </a:r>
            <a:r>
              <a:rPr sz="2600" dirty="0">
                <a:latin typeface="Times New Roman"/>
                <a:cs typeface="Times New Roman"/>
              </a:rPr>
              <a:t>themselves</a:t>
            </a:r>
            <a:r>
              <a:rPr sz="2600" spc="-10" dirty="0">
                <a:latin typeface="Times New Roman"/>
                <a:cs typeface="Times New Roman"/>
              </a:rPr>
              <a:t> </a:t>
            </a:r>
            <a:r>
              <a:rPr sz="2600" dirty="0">
                <a:latin typeface="Times New Roman"/>
                <a:cs typeface="Times New Roman"/>
              </a:rPr>
              <a:t>in</a:t>
            </a:r>
            <a:r>
              <a:rPr sz="2600" spc="-10" dirty="0">
                <a:latin typeface="Times New Roman"/>
                <a:cs typeface="Times New Roman"/>
              </a:rPr>
              <a:t> </a:t>
            </a:r>
            <a:r>
              <a:rPr sz="2600" dirty="0">
                <a:latin typeface="Times New Roman"/>
                <a:cs typeface="Times New Roman"/>
              </a:rPr>
              <a:t>many</a:t>
            </a:r>
            <a:r>
              <a:rPr sz="2600" spc="-15" dirty="0">
                <a:latin typeface="Times New Roman"/>
                <a:cs typeface="Times New Roman"/>
              </a:rPr>
              <a:t> </a:t>
            </a:r>
            <a:r>
              <a:rPr sz="2600" spc="-10" dirty="0">
                <a:latin typeface="Times New Roman"/>
                <a:cs typeface="Times New Roman"/>
              </a:rPr>
              <a:t>cases.</a:t>
            </a:r>
            <a:endParaRPr sz="2600">
              <a:latin typeface="Times New Roman"/>
              <a:cs typeface="Times New Roman"/>
            </a:endParaRPr>
          </a:p>
          <a:p>
            <a:pPr marL="241300" indent="-228600">
              <a:lnSpc>
                <a:spcPct val="100000"/>
              </a:lnSpc>
              <a:spcBef>
                <a:spcPts val="390"/>
              </a:spcBef>
              <a:buFont typeface="Arial MT"/>
              <a:buChar char="•"/>
              <a:tabLst>
                <a:tab pos="241300" algn="l"/>
              </a:tabLst>
            </a:pPr>
            <a:r>
              <a:rPr sz="2600" dirty="0">
                <a:latin typeface="Times New Roman"/>
                <a:cs typeface="Times New Roman"/>
              </a:rPr>
              <a:t>Keep</a:t>
            </a:r>
            <a:r>
              <a:rPr sz="2600" spc="-25" dirty="0">
                <a:latin typeface="Times New Roman"/>
                <a:cs typeface="Times New Roman"/>
              </a:rPr>
              <a:t> </a:t>
            </a:r>
            <a:r>
              <a:rPr sz="2600" dirty="0">
                <a:latin typeface="Times New Roman"/>
                <a:cs typeface="Times New Roman"/>
              </a:rPr>
              <a:t>your</a:t>
            </a:r>
            <a:r>
              <a:rPr sz="2600" spc="-25" dirty="0">
                <a:latin typeface="Times New Roman"/>
                <a:cs typeface="Times New Roman"/>
              </a:rPr>
              <a:t> </a:t>
            </a:r>
            <a:r>
              <a:rPr sz="2600" dirty="0">
                <a:latin typeface="Times New Roman"/>
                <a:cs typeface="Times New Roman"/>
              </a:rPr>
              <a:t>OS</a:t>
            </a:r>
            <a:r>
              <a:rPr sz="2600" spc="10" dirty="0">
                <a:latin typeface="Times New Roman"/>
                <a:cs typeface="Times New Roman"/>
              </a:rPr>
              <a:t> </a:t>
            </a:r>
            <a:r>
              <a:rPr sz="2600" dirty="0">
                <a:latin typeface="Times New Roman"/>
                <a:cs typeface="Times New Roman"/>
              </a:rPr>
              <a:t>up</a:t>
            </a:r>
            <a:r>
              <a:rPr sz="2600" spc="-10" dirty="0">
                <a:latin typeface="Times New Roman"/>
                <a:cs typeface="Times New Roman"/>
              </a:rPr>
              <a:t> </a:t>
            </a:r>
            <a:r>
              <a:rPr sz="2600" dirty="0">
                <a:latin typeface="Times New Roman"/>
                <a:cs typeface="Times New Roman"/>
              </a:rPr>
              <a:t>to</a:t>
            </a:r>
            <a:r>
              <a:rPr sz="2600" spc="-10" dirty="0">
                <a:latin typeface="Times New Roman"/>
                <a:cs typeface="Times New Roman"/>
              </a:rPr>
              <a:t> date.</a:t>
            </a:r>
            <a:endParaRPr sz="2600">
              <a:latin typeface="Times New Roman"/>
              <a:cs typeface="Times New Roman"/>
            </a:endParaRPr>
          </a:p>
          <a:p>
            <a:pPr marL="241300" indent="-228600">
              <a:lnSpc>
                <a:spcPct val="100000"/>
              </a:lnSpc>
              <a:spcBef>
                <a:spcPts val="370"/>
              </a:spcBef>
              <a:buFont typeface="Arial MT"/>
              <a:buChar char="•"/>
              <a:tabLst>
                <a:tab pos="241300" algn="l"/>
              </a:tabLst>
            </a:pPr>
            <a:r>
              <a:rPr sz="2600" dirty="0">
                <a:latin typeface="Times New Roman"/>
                <a:cs typeface="Times New Roman"/>
              </a:rPr>
              <a:t>Install</a:t>
            </a:r>
            <a:r>
              <a:rPr sz="2600" spc="-10" dirty="0">
                <a:latin typeface="Times New Roman"/>
                <a:cs typeface="Times New Roman"/>
              </a:rPr>
              <a:t> </a:t>
            </a:r>
            <a:r>
              <a:rPr sz="2600" dirty="0">
                <a:latin typeface="Times New Roman"/>
                <a:cs typeface="Times New Roman"/>
              </a:rPr>
              <a:t>a</a:t>
            </a:r>
            <a:r>
              <a:rPr sz="2600" spc="-5" dirty="0">
                <a:latin typeface="Times New Roman"/>
                <a:cs typeface="Times New Roman"/>
              </a:rPr>
              <a:t> </a:t>
            </a:r>
            <a:r>
              <a:rPr sz="2600" dirty="0">
                <a:latin typeface="Times New Roman"/>
                <a:cs typeface="Times New Roman"/>
              </a:rPr>
              <a:t>genuine</a:t>
            </a:r>
            <a:r>
              <a:rPr sz="2600" spc="-45" dirty="0">
                <a:latin typeface="Times New Roman"/>
                <a:cs typeface="Times New Roman"/>
              </a:rPr>
              <a:t> </a:t>
            </a:r>
            <a:r>
              <a:rPr sz="2600" dirty="0">
                <a:latin typeface="Times New Roman"/>
                <a:cs typeface="Times New Roman"/>
              </a:rPr>
              <a:t>spyware</a:t>
            </a:r>
            <a:r>
              <a:rPr sz="2600" spc="-45" dirty="0">
                <a:latin typeface="Times New Roman"/>
                <a:cs typeface="Times New Roman"/>
              </a:rPr>
              <a:t> </a:t>
            </a:r>
            <a:r>
              <a:rPr sz="2600" dirty="0">
                <a:latin typeface="Times New Roman"/>
                <a:cs typeface="Times New Roman"/>
              </a:rPr>
              <a:t>software</a:t>
            </a:r>
            <a:r>
              <a:rPr sz="2600" spc="-25" dirty="0">
                <a:latin typeface="Times New Roman"/>
                <a:cs typeface="Times New Roman"/>
              </a:rPr>
              <a:t> </a:t>
            </a:r>
            <a:r>
              <a:rPr sz="2600" dirty="0">
                <a:latin typeface="Times New Roman"/>
                <a:cs typeface="Times New Roman"/>
              </a:rPr>
              <a:t>from</a:t>
            </a:r>
            <a:r>
              <a:rPr sz="2600" spc="-15" dirty="0">
                <a:latin typeface="Times New Roman"/>
                <a:cs typeface="Times New Roman"/>
              </a:rPr>
              <a:t> </a:t>
            </a:r>
            <a:r>
              <a:rPr sz="2600" dirty="0">
                <a:latin typeface="Times New Roman"/>
                <a:cs typeface="Times New Roman"/>
              </a:rPr>
              <a:t>renowned</a:t>
            </a:r>
            <a:r>
              <a:rPr sz="2600" spc="-45" dirty="0">
                <a:latin typeface="Times New Roman"/>
                <a:cs typeface="Times New Roman"/>
              </a:rPr>
              <a:t> </a:t>
            </a:r>
            <a:r>
              <a:rPr sz="2600" spc="-10" dirty="0">
                <a:latin typeface="Times New Roman"/>
                <a:cs typeface="Times New Roman"/>
              </a:rPr>
              <a:t>companies.</a:t>
            </a:r>
            <a:endParaRPr sz="2600">
              <a:latin typeface="Times New Roman"/>
              <a:cs typeface="Times New Roman"/>
            </a:endParaRPr>
          </a:p>
          <a:p>
            <a:pPr marL="241300" indent="-228600">
              <a:lnSpc>
                <a:spcPct val="100000"/>
              </a:lnSpc>
              <a:spcBef>
                <a:spcPts val="370"/>
              </a:spcBef>
              <a:buFont typeface="Arial MT"/>
              <a:buChar char="•"/>
              <a:tabLst>
                <a:tab pos="241300" algn="l"/>
              </a:tabLst>
            </a:pPr>
            <a:r>
              <a:rPr sz="2600" dirty="0">
                <a:latin typeface="Times New Roman"/>
                <a:cs typeface="Times New Roman"/>
              </a:rPr>
              <a:t>Keep</a:t>
            </a:r>
            <a:r>
              <a:rPr sz="2600" spc="-25" dirty="0">
                <a:latin typeface="Times New Roman"/>
                <a:cs typeface="Times New Roman"/>
              </a:rPr>
              <a:t> </a:t>
            </a:r>
            <a:r>
              <a:rPr sz="2600" dirty="0">
                <a:latin typeface="Times New Roman"/>
                <a:cs typeface="Times New Roman"/>
              </a:rPr>
              <a:t>your</a:t>
            </a:r>
            <a:r>
              <a:rPr sz="2600" spc="-15" dirty="0">
                <a:latin typeface="Times New Roman"/>
                <a:cs typeface="Times New Roman"/>
              </a:rPr>
              <a:t> </a:t>
            </a:r>
            <a:r>
              <a:rPr sz="2600" spc="-10" dirty="0">
                <a:latin typeface="Times New Roman"/>
                <a:cs typeface="Times New Roman"/>
              </a:rPr>
              <a:t>anti-</a:t>
            </a:r>
            <a:r>
              <a:rPr sz="2600" dirty="0">
                <a:latin typeface="Times New Roman"/>
                <a:cs typeface="Times New Roman"/>
              </a:rPr>
              <a:t>spyware</a:t>
            </a:r>
            <a:r>
              <a:rPr sz="2600" spc="-25" dirty="0">
                <a:latin typeface="Times New Roman"/>
                <a:cs typeface="Times New Roman"/>
              </a:rPr>
              <a:t> </a:t>
            </a:r>
            <a:r>
              <a:rPr sz="2600" dirty="0">
                <a:latin typeface="Times New Roman"/>
                <a:cs typeface="Times New Roman"/>
              </a:rPr>
              <a:t>up</a:t>
            </a:r>
            <a:r>
              <a:rPr sz="2600" spc="5" dirty="0">
                <a:latin typeface="Times New Roman"/>
                <a:cs typeface="Times New Roman"/>
              </a:rPr>
              <a:t> </a:t>
            </a:r>
            <a:r>
              <a:rPr sz="2600" dirty="0">
                <a:latin typeface="Times New Roman"/>
                <a:cs typeface="Times New Roman"/>
              </a:rPr>
              <a:t>to</a:t>
            </a:r>
            <a:r>
              <a:rPr sz="2600" spc="15" dirty="0">
                <a:latin typeface="Times New Roman"/>
                <a:cs typeface="Times New Roman"/>
              </a:rPr>
              <a:t> </a:t>
            </a:r>
            <a:r>
              <a:rPr sz="2600" spc="-10" dirty="0">
                <a:latin typeface="Times New Roman"/>
                <a:cs typeface="Times New Roman"/>
              </a:rPr>
              <a:t>date.</a:t>
            </a:r>
            <a:endParaRPr sz="2600">
              <a:latin typeface="Times New Roman"/>
              <a:cs typeface="Times New Roman"/>
            </a:endParaRPr>
          </a:p>
          <a:p>
            <a:pPr marL="241300" indent="-228600">
              <a:lnSpc>
                <a:spcPct val="100000"/>
              </a:lnSpc>
              <a:spcBef>
                <a:spcPts val="385"/>
              </a:spcBef>
              <a:buFont typeface="Arial MT"/>
              <a:buChar char="•"/>
              <a:tabLst>
                <a:tab pos="241300" algn="l"/>
              </a:tabLst>
            </a:pPr>
            <a:r>
              <a:rPr sz="2600" dirty="0">
                <a:latin typeface="Times New Roman"/>
                <a:cs typeface="Times New Roman"/>
              </a:rPr>
              <a:t>Activate</a:t>
            </a:r>
            <a:r>
              <a:rPr sz="2600" spc="-45" dirty="0">
                <a:latin typeface="Times New Roman"/>
                <a:cs typeface="Times New Roman"/>
              </a:rPr>
              <a:t> </a:t>
            </a:r>
            <a:r>
              <a:rPr sz="2600" dirty="0">
                <a:latin typeface="Times New Roman"/>
                <a:cs typeface="Times New Roman"/>
              </a:rPr>
              <a:t>firewall</a:t>
            </a:r>
            <a:r>
              <a:rPr sz="2600" spc="-30" dirty="0">
                <a:latin typeface="Times New Roman"/>
                <a:cs typeface="Times New Roman"/>
              </a:rPr>
              <a:t> </a:t>
            </a:r>
            <a:r>
              <a:rPr sz="2600" spc="-10" dirty="0">
                <a:latin typeface="Times New Roman"/>
                <a:cs typeface="Times New Roman"/>
              </a:rPr>
              <a:t>settings.</a:t>
            </a:r>
            <a:endParaRPr sz="2600">
              <a:latin typeface="Times New Roman"/>
              <a:cs typeface="Times New Roman"/>
            </a:endParaRPr>
          </a:p>
          <a:p>
            <a:pPr marL="241300" indent="-228600">
              <a:lnSpc>
                <a:spcPct val="100000"/>
              </a:lnSpc>
              <a:spcBef>
                <a:spcPts val="375"/>
              </a:spcBef>
              <a:buFont typeface="Arial MT"/>
              <a:buChar char="•"/>
              <a:tabLst>
                <a:tab pos="241300" algn="l"/>
              </a:tabLst>
            </a:pPr>
            <a:r>
              <a:rPr sz="2600" dirty="0">
                <a:latin typeface="Times New Roman"/>
                <a:cs typeface="Times New Roman"/>
              </a:rPr>
              <a:t>Increase</a:t>
            </a:r>
            <a:r>
              <a:rPr sz="2600" spc="-30" dirty="0">
                <a:latin typeface="Times New Roman"/>
                <a:cs typeface="Times New Roman"/>
              </a:rPr>
              <a:t> </a:t>
            </a:r>
            <a:r>
              <a:rPr sz="2600" dirty="0">
                <a:latin typeface="Times New Roman"/>
                <a:cs typeface="Times New Roman"/>
              </a:rPr>
              <a:t>the</a:t>
            </a:r>
            <a:r>
              <a:rPr sz="2600" spc="-5" dirty="0">
                <a:latin typeface="Times New Roman"/>
                <a:cs typeface="Times New Roman"/>
              </a:rPr>
              <a:t> </a:t>
            </a:r>
            <a:r>
              <a:rPr sz="2600" dirty="0">
                <a:latin typeface="Times New Roman"/>
                <a:cs typeface="Times New Roman"/>
              </a:rPr>
              <a:t>security</a:t>
            </a:r>
            <a:r>
              <a:rPr sz="2600" spc="-20" dirty="0">
                <a:latin typeface="Times New Roman"/>
                <a:cs typeface="Times New Roman"/>
              </a:rPr>
              <a:t> </a:t>
            </a:r>
            <a:r>
              <a:rPr sz="2600" dirty="0">
                <a:latin typeface="Times New Roman"/>
                <a:cs typeface="Times New Roman"/>
              </a:rPr>
              <a:t>level</a:t>
            </a:r>
            <a:r>
              <a:rPr sz="2600" spc="-5" dirty="0">
                <a:latin typeface="Times New Roman"/>
                <a:cs typeface="Times New Roman"/>
              </a:rPr>
              <a:t> </a:t>
            </a:r>
            <a:r>
              <a:rPr sz="2600" dirty="0">
                <a:latin typeface="Times New Roman"/>
                <a:cs typeface="Times New Roman"/>
              </a:rPr>
              <a:t>of</a:t>
            </a:r>
            <a:r>
              <a:rPr sz="2600" spc="-5" dirty="0">
                <a:latin typeface="Times New Roman"/>
                <a:cs typeface="Times New Roman"/>
              </a:rPr>
              <a:t> </a:t>
            </a:r>
            <a:r>
              <a:rPr sz="2600" dirty="0">
                <a:latin typeface="Times New Roman"/>
                <a:cs typeface="Times New Roman"/>
              </a:rPr>
              <a:t>your</a:t>
            </a:r>
            <a:r>
              <a:rPr sz="2600" spc="-40" dirty="0">
                <a:latin typeface="Times New Roman"/>
                <a:cs typeface="Times New Roman"/>
              </a:rPr>
              <a:t> </a:t>
            </a:r>
            <a:r>
              <a:rPr sz="2600" dirty="0">
                <a:latin typeface="Times New Roman"/>
                <a:cs typeface="Times New Roman"/>
              </a:rPr>
              <a:t>browser</a:t>
            </a:r>
            <a:r>
              <a:rPr sz="2600" spc="-40" dirty="0">
                <a:latin typeface="Times New Roman"/>
                <a:cs typeface="Times New Roman"/>
              </a:rPr>
              <a:t> </a:t>
            </a:r>
            <a:r>
              <a:rPr sz="2600" dirty="0">
                <a:latin typeface="Times New Roman"/>
                <a:cs typeface="Times New Roman"/>
              </a:rPr>
              <a:t>to</a:t>
            </a:r>
            <a:r>
              <a:rPr sz="2600" spc="-5" dirty="0">
                <a:latin typeface="Times New Roman"/>
                <a:cs typeface="Times New Roman"/>
              </a:rPr>
              <a:t> </a:t>
            </a:r>
            <a:r>
              <a:rPr sz="2600" spc="-10" dirty="0">
                <a:latin typeface="Times New Roman"/>
                <a:cs typeface="Times New Roman"/>
              </a:rPr>
              <a:t>high.</a:t>
            </a:r>
            <a:endParaRPr sz="2600">
              <a:latin typeface="Times New Roman"/>
              <a:cs typeface="Times New Roman"/>
            </a:endParaRPr>
          </a:p>
        </p:txBody>
      </p:sp>
    </p:spTree>
    <p:extLst>
      <p:ext uri="{BB962C8B-B14F-4D97-AF65-F5344CB8AC3E}">
        <p14:creationId xmlns:p14="http://schemas.microsoft.com/office/powerpoint/2010/main" val="16273787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301239" y="853439"/>
            <a:ext cx="7625715" cy="1899920"/>
            <a:chOff x="2301239" y="853439"/>
            <a:chExt cx="7625715" cy="1899920"/>
          </a:xfrm>
        </p:grpSpPr>
        <p:pic>
          <p:nvPicPr>
            <p:cNvPr id="3" name="object 3"/>
            <p:cNvPicPr/>
            <p:nvPr/>
          </p:nvPicPr>
          <p:blipFill>
            <a:blip r:embed="rId2" cstate="print"/>
            <a:stretch>
              <a:fillRect/>
            </a:stretch>
          </p:blipFill>
          <p:spPr>
            <a:xfrm>
              <a:off x="2301239" y="853439"/>
              <a:ext cx="7625333" cy="1229105"/>
            </a:xfrm>
            <a:prstGeom prst="rect">
              <a:avLst/>
            </a:prstGeom>
          </p:spPr>
        </p:pic>
        <p:pic>
          <p:nvPicPr>
            <p:cNvPr id="4" name="object 4"/>
            <p:cNvPicPr/>
            <p:nvPr/>
          </p:nvPicPr>
          <p:blipFill>
            <a:blip r:embed="rId3" cstate="print"/>
            <a:stretch>
              <a:fillRect/>
            </a:stretch>
          </p:blipFill>
          <p:spPr>
            <a:xfrm>
              <a:off x="4511039" y="1523999"/>
              <a:ext cx="2961893" cy="1229105"/>
            </a:xfrm>
            <a:prstGeom prst="rect">
              <a:avLst/>
            </a:prstGeom>
          </p:spPr>
        </p:pic>
        <p:pic>
          <p:nvPicPr>
            <p:cNvPr id="5" name="object 5"/>
            <p:cNvPicPr/>
            <p:nvPr/>
          </p:nvPicPr>
          <p:blipFill>
            <a:blip r:embed="rId4" cstate="print"/>
            <a:stretch>
              <a:fillRect/>
            </a:stretch>
          </p:blipFill>
          <p:spPr>
            <a:xfrm>
              <a:off x="6746748" y="1523999"/>
              <a:ext cx="968501" cy="1229105"/>
            </a:xfrm>
            <a:prstGeom prst="rect">
              <a:avLst/>
            </a:prstGeom>
          </p:spPr>
        </p:pic>
      </p:grpSp>
      <p:sp>
        <p:nvSpPr>
          <p:cNvPr id="6" name="object 6"/>
          <p:cNvSpPr txBox="1">
            <a:spLocks noGrp="1"/>
          </p:cNvSpPr>
          <p:nvPr>
            <p:ph type="title"/>
          </p:nvPr>
        </p:nvSpPr>
        <p:spPr>
          <a:xfrm>
            <a:off x="2634233" y="996137"/>
            <a:ext cx="6921500" cy="1368425"/>
          </a:xfrm>
          <a:prstGeom prst="rect">
            <a:avLst/>
          </a:prstGeom>
        </p:spPr>
        <p:txBody>
          <a:bodyPr vert="horz" wrap="square" lIns="0" tIns="13335" rIns="0" bIns="0" rtlCol="0">
            <a:spAutoFit/>
          </a:bodyPr>
          <a:lstStyle/>
          <a:p>
            <a:pPr algn="ctr">
              <a:lnSpc>
                <a:spcPct val="100000"/>
              </a:lnSpc>
              <a:spcBef>
                <a:spcPts val="105"/>
              </a:spcBef>
            </a:pPr>
            <a:r>
              <a:rPr spc="-434" dirty="0">
                <a:solidFill>
                  <a:srgbClr val="001F5F"/>
                </a:solidFill>
              </a:rPr>
              <a:t>END</a:t>
            </a:r>
            <a:r>
              <a:rPr spc="-10" dirty="0">
                <a:solidFill>
                  <a:srgbClr val="001F5F"/>
                </a:solidFill>
              </a:rPr>
              <a:t> </a:t>
            </a:r>
            <a:r>
              <a:rPr spc="-495" dirty="0">
                <a:solidFill>
                  <a:srgbClr val="001F5F"/>
                </a:solidFill>
              </a:rPr>
              <a:t>OF</a:t>
            </a:r>
            <a:r>
              <a:rPr spc="-5" dirty="0">
                <a:solidFill>
                  <a:srgbClr val="001F5F"/>
                </a:solidFill>
              </a:rPr>
              <a:t> </a:t>
            </a:r>
            <a:r>
              <a:rPr spc="-355" dirty="0">
                <a:solidFill>
                  <a:srgbClr val="001F5F"/>
                </a:solidFill>
              </a:rPr>
              <a:t>LECTURE,</a:t>
            </a:r>
            <a:r>
              <a:rPr spc="-30" dirty="0">
                <a:solidFill>
                  <a:srgbClr val="001F5F"/>
                </a:solidFill>
              </a:rPr>
              <a:t> </a:t>
            </a:r>
            <a:r>
              <a:rPr spc="-300" dirty="0">
                <a:solidFill>
                  <a:srgbClr val="001F5F"/>
                </a:solidFill>
              </a:rPr>
              <a:t>THANKS!</a:t>
            </a:r>
          </a:p>
          <a:p>
            <a:pPr marL="2540" algn="ctr">
              <a:lnSpc>
                <a:spcPct val="100000"/>
              </a:lnSpc>
              <a:spcBef>
                <a:spcPts val="5"/>
              </a:spcBef>
            </a:pPr>
            <a:r>
              <a:rPr spc="-345" dirty="0">
                <a:solidFill>
                  <a:srgbClr val="001F5F"/>
                </a:solidFill>
              </a:rPr>
              <a:t>QUERIES?</a:t>
            </a:r>
          </a:p>
        </p:txBody>
      </p:sp>
      <p:pic>
        <p:nvPicPr>
          <p:cNvPr id="7" name="object 7"/>
          <p:cNvPicPr/>
          <p:nvPr/>
        </p:nvPicPr>
        <p:blipFill>
          <a:blip r:embed="rId5" cstate="print"/>
          <a:stretch>
            <a:fillRect/>
          </a:stretch>
        </p:blipFill>
        <p:spPr>
          <a:xfrm>
            <a:off x="3630167" y="2648711"/>
            <a:ext cx="4931664" cy="3491484"/>
          </a:xfrm>
          <a:prstGeom prst="rect">
            <a:avLst/>
          </a:prstGeom>
        </p:spPr>
      </p:pic>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MNS</a:t>
            </a:r>
            <a:r>
              <a:rPr spc="-5" dirty="0"/>
              <a:t> </a:t>
            </a:r>
            <a:r>
              <a:rPr spc="-10" dirty="0"/>
              <a:t>University</a:t>
            </a:r>
            <a:r>
              <a:rPr spc="-20" dirty="0"/>
              <a:t> </a:t>
            </a:r>
            <a:r>
              <a:rPr dirty="0"/>
              <a:t>of</a:t>
            </a:r>
            <a:r>
              <a:rPr spc="10" dirty="0"/>
              <a:t> </a:t>
            </a:r>
            <a:r>
              <a:rPr dirty="0"/>
              <a:t>Agriculture</a:t>
            </a:r>
            <a:r>
              <a:rPr spc="-30" dirty="0"/>
              <a:t> </a:t>
            </a:r>
            <a:r>
              <a:rPr spc="-10" dirty="0"/>
              <a:t>Multan</a:t>
            </a:r>
          </a:p>
        </p:txBody>
      </p:sp>
    </p:spTree>
    <p:extLst>
      <p:ext uri="{BB962C8B-B14F-4D97-AF65-F5344CB8AC3E}">
        <p14:creationId xmlns:p14="http://schemas.microsoft.com/office/powerpoint/2010/main" val="1225725279"/>
      </p:ext>
    </p:extLst>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12721</TotalTime>
  <Words>2216</Words>
  <Application>Microsoft Office PowerPoint</Application>
  <PresentationFormat>Custom</PresentationFormat>
  <Paragraphs>321</Paragraphs>
  <Slides>47</Slides>
  <Notes>0</Notes>
  <HiddenSlides>0</HiddenSlides>
  <MMClips>0</MMClip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Theme1</vt:lpstr>
      <vt:lpstr>Cyber Security  IT-601  Lecture 03-04</vt:lpstr>
      <vt:lpstr>Quick Recap – CIA Triad</vt:lpstr>
      <vt:lpstr>Quick Recap</vt:lpstr>
      <vt:lpstr>PowerPoint Presentation</vt:lpstr>
      <vt:lpstr>Authentication</vt:lpstr>
      <vt:lpstr>Authorization </vt:lpstr>
      <vt:lpstr>Accounting</vt:lpstr>
      <vt:lpstr>Who Are the Attackers?</vt:lpstr>
      <vt:lpstr>PowerPoint Presentation</vt:lpstr>
      <vt:lpstr>PowerPoint Presentation</vt:lpstr>
      <vt:lpstr>1- Cybercriminals</vt:lpstr>
      <vt:lpstr>2- Script kiddies</vt:lpstr>
      <vt:lpstr>3- Brokers</vt:lpstr>
      <vt:lpstr>4- Insiders</vt:lpstr>
      <vt:lpstr>5- Cyberterrorists</vt:lpstr>
      <vt:lpstr>6- State-Sponsored Attackers </vt:lpstr>
      <vt:lpstr>PowerPoint Presentation</vt:lpstr>
      <vt:lpstr>Malware attack</vt:lpstr>
      <vt:lpstr>Continued..</vt:lpstr>
      <vt:lpstr>Types of Malware attack </vt:lpstr>
      <vt:lpstr>VIRUSES</vt:lpstr>
      <vt:lpstr>VIRUSES</vt:lpstr>
      <vt:lpstr>VIRUSES</vt:lpstr>
      <vt:lpstr>VIRUSES</vt:lpstr>
      <vt:lpstr>VIRUSES</vt:lpstr>
      <vt:lpstr>VIRUSES</vt:lpstr>
      <vt:lpstr>TROJAN HORSE</vt:lpstr>
      <vt:lpstr>TROJAN HORSE</vt:lpstr>
      <vt:lpstr>TROJAN HORSE</vt:lpstr>
      <vt:lpstr>TROJAN HORSE</vt:lpstr>
      <vt:lpstr>TROJAN HORSE</vt:lpstr>
      <vt:lpstr>How can we recognize that the computer has been infected by the Trojan horse attack?</vt:lpstr>
      <vt:lpstr>ROOTKIT</vt:lpstr>
      <vt:lpstr>ROOTKIT</vt:lpstr>
      <vt:lpstr>ROOTKIT</vt:lpstr>
      <vt:lpstr>ROOTKIT</vt:lpstr>
      <vt:lpstr>ROOTKIT</vt:lpstr>
      <vt:lpstr>ROOTKIT</vt:lpstr>
      <vt:lpstr>ROOTKIT</vt:lpstr>
      <vt:lpstr>ROOTKIT</vt:lpstr>
      <vt:lpstr>SPYWARE</vt:lpstr>
      <vt:lpstr>SPYWARE</vt:lpstr>
      <vt:lpstr>SPYWARE</vt:lpstr>
      <vt:lpstr>SPYWARE</vt:lpstr>
      <vt:lpstr>SPYWARE</vt:lpstr>
      <vt:lpstr>SPYWARE</vt:lpstr>
      <vt:lpstr>END OF LECTURE, THANKS! QUERIES?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Security  IT-601  Lecture-01</dc:title>
  <dc:creator>ASAD COMPUTERS</dc:creator>
  <cp:lastModifiedBy>ASAD COMPUTERS</cp:lastModifiedBy>
  <cp:revision>57</cp:revision>
  <dcterms:created xsi:type="dcterms:W3CDTF">2025-09-16T10:19:05Z</dcterms:created>
  <dcterms:modified xsi:type="dcterms:W3CDTF">2025-10-01T05:47:35Z</dcterms:modified>
</cp:coreProperties>
</file>